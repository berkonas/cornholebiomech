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72" r:id="rId23"/>
    <p:sldId id="269" r:id="rId19"/>
    <p:sldId id="270" r:id="rId20"/>
    <p:sldId id="273" r:id="rId24"/>
    <p:sldId id="271" r:id="rId21"/>
    <p:sldId id="262"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QUert41AcLMUWXoygC1giGlZ9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BBD6A1-547E-441A-B601-4AAEDF4CFED8}">
  <a:tblStyle styleId="{E2BBD6A1-547E-441A-B601-4AAEDF4CFED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customschemas.google.com/relationships/presentationmetadata" Target="metadata"/><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EMILY (0:10). Hi, we're the Cornhole Biomechanics Lab. Our client is the new Vanderbilt cornhole team. We built a Mac app that turns two phone videos of a throw into release physics, an outcome and one sentence of coaching.</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EMILY (0:20). Our talk answers the four questions in the brief. One: the sport and the problem. Two: our solution and why we designed it this way, including the metrics we chose and the real athletes we measured. Three: how the system works, with a live demo. Four: why we're convinced it will improve training. And we'll finish with what we learned. Our answer in one line: measure the throw, explain the miss, and coach only what the data supports.</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EMILY (0:35). Quick background: a regulation board is 24 by 48 inches with a 6-inch hole, 27 feet apart. Hole is 3 points, board 1, off 0, and the standard stat is points per round. The throw is an underhand pendulum swing, and once the bag leaves the hand, its speed, angle and height decide where it goes. The problem for a coach: the differences that matter are invisible (0.1 m/s is about 5 inches), the same miss can come from different causes, and some variation is just noise. So the coach's real question is: which part of this throw caused the miss, and is it real or noise?</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EMILY (0:35). Our solution uses equipment a team already owns: two iPhones on tripods and a Mac. The side phone sits beside the lane and sees the throw plane: arm swing, release speed, angle and height. The front phone sits behind the board and sees left/right and whether the bag went in the hole. The software is a native Mac app with a Python engine, using an open-source, peer-reviewed pose model. Everything runs on the laptop, so athlete video never leaves it. Why not the alternatives? A motion-capture lab is accurate but you can't bring it to practice; wearables see the arm but not the bag; a sensor in the bag isn't allowed; and a scoring sheet only gives the outcome, not the cause. John will now explain what we actually measure and why.</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JOHN (0:35). The brief asks us to link how the movement is done to the outcome, so we chose metrics as a chain. Body: how the athlete moves, like backswing, tempo, trunk lean and wrist speed. Release: how the bag leaves the hand, speed, angle, height and direction. This is the most important link, because once the bag is in the air physics decides the flight. Landing: where the bag first touched and how far it slid, which tells us whether a miss happened in the air or on the board. And outcome: hole, board or off, points per round, the stats coaches already use. A metric made the cut only if physics or the sport says it matters, a phone can measure it above its noise, and a coach can actually train it.</a:t>
            </a:r>
            <a:endParaRPr/>
          </a:p>
        </p:txBody>
      </p:sp>
      <p:sp>
        <p:nvSpPr>
          <p:cNvPr id="118" name="Google Shape;1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JOHN (0:35). Here is how to read the release metrics. This is the app's success map: every speed and angle combination, coloured by where a drag-free bag would land. Green is the hole window. Notice the shape: the band is wide side to side, so angle is forgiving, but thin top to bottom, so speed is not. In numbers, at our athletes' typical release, 0.1 m/s of speed moves the landing about 13 cm, while one degree of angle moves it only about 1 cm. Our athletes already release at 37 to 44 degrees, the forgiving zone. Flatter throwers are six to nine times more sensitive to angle, which is why the app gives each athlete a personal target. (If asked about the dots: they are Player 1's measured throws; they sit below the band because this map is drawn at the regulation 7.7 m, while we filmed at about 5.8 m.)</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JOHN (0:30). We ran a metric review on all 92 throws, and the metrics fall into groups that answer different questions. Per-throw signals like release speed change from throw to throw by more than their noise, so they can explain one miss. Athlete-profile metrics like backswing and trunk lean are very individual but stable, so they describe someone's style, not a mistake, and a coach shouldn't coach them away. Consistency compares each metric's spread with its noise floor: above one means real variation worth training. And outcome comes first: a made throw gets no corrections. Example: Player 4's speed spread is almost three times the noise floor, which alone moves the landing by about plus or minus 58 cm, so the target is speed consistency. Every number in the app is labelled measured, estimated or unavailable, and missing data stays missing. Next: how we collected real data to measure all this.</a:t>
            </a:r>
            <a:endParaRPr/>
          </a:p>
        </p:txBody>
      </p:sp>
      <p:sp>
        <p:nvSpPr>
          <p:cNvPr id="185" name="Google Shape;18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JOHN (0:30). Everything you'll see comes from real people, not simulations. We recorded four athletes, coded Player 1 to 4, in 23 two-camera takes: 92 throws and 46 videos. One take takes about a minute: two tripods, start both phones, the athlete claps once for sync, shows the take number with their fingers, and throws four bags. No markers or sensors. Our set-up also evolved: the hand-held pilot drifted up to 100 pixels and couldn't see left and right; tripods fixed the drift; and the second camera behind the board gave us left/right and automatic scoring. Berk will now show how the app turns these videos into numbers.</a:t>
            </a:r>
            <a:endParaRPr/>
          </a:p>
        </p:txBody>
      </p:sp>
      <p:sp>
        <p:nvSpPr>
          <p:cNvPr id="201" name="Google Shape;2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BERK (0:40). Here's how the app works. The input is one take: a side video and a front video of four throws. The coach drops the folder on the app, and a Python engine runs on the Mac, about two minutes per throw, one at a time. Six steps. One: pair the videos, sync them by sound, which I'll explain next, and find the four throws. Two: track 26 body points with the open-source Sports2D pose model and smooth them with a 6 Hz filter, the standard in biomechanics. Three: find the bag. A gym is full of motion, so we keep only paths that curve down like a real falling bag. That physics check throws out people walking and arms swinging, with no training data needed. Four: turn pixels into metres using the board's known size, checked against gravity: the bag must fall at 9.81 m/s². Five: compute release speed, angle and height from the first 0.12 s of flight, plus where it landed and whether it went in. Six: split each miss into parts and write one sentence, only when the evidence supports it. [Strip below the boxes: this is one real throw, Player 1 Take 6 Throw 1. Sync shifted the front phone 213 ms; the pose model finds the body; 68 bag points follow a drag-free arc; the bag's own fall gives 211 px per metre and 10.0 m/s², close to gravity; release 7.7 m/s at 41°; it landed short and slid in, so the advice is: nothing to change.]</a:t>
            </a:r>
          </a:p>
        </p:txBody>
      </p:sp>
      <p:sp>
        <p:nvSpPr>
          <p:cNvPr id="243" name="Google Shape;2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BERK (0:35). The hardest engineering problem was synchronising two phones that know nothing about each other. We need them on one timeline because the side phone measures speed and slide, while the front phone sees left/right and the hole. Our solution uses sound. The athlete claps once at the start of each take, and every bag also makes an impact sound. Both phones hear those sounds. The app filters both soundtracks above 300 Hz, turns them into loudness curves, and slides one against the other (a cross-correlation) until the clap and impacts line up. It only accepts a clear best match. Then it removes the front phone's small picture delay, about 20 ms, and checks each throw's landing frame against both cameras. Result: all 23 takes synced automatically, to about plus or minus 17.5 ms, half a frame of the front camera, with no extra hardware. Alternatives we rejected: a timecode box (cost and cables), or a person clicking the clap frame (slow, manual).</a:t>
            </a:r>
            <a:endParaRPr/>
          </a:p>
        </p:txBody>
      </p:sp>
      <p:sp>
        <p:nvSpPr>
          <p:cNvPr id="267" name="Google Shape;26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BERK (0:35). This is how the numbers become advice. Every miss is split into measured parts. Short or long equals where this athlete usually lands, plus the carry (how much shorter or longer the flight was than usual), plus the slide. Left or right equals release position, plus aim, plus sideways slide. Here the bag landed shorter than usual and then slid, stopping short of the hole. The coach reads one sentence, like: "Board: 9 in short, 8 in right. Most of the short came from the carry. Next: throw a touch harder." The rules: outcome first, so a made throw gets nothing; a part is named only if it's at least 3 inches and bigger than its noise; a normal-looking miss gets "keep the same throw"; and the wording is associational, one cue at a time. Now let's see it live.</a:t>
            </a:r>
            <a:endParaRPr/>
          </a:p>
        </p:txBody>
      </p:sp>
      <p:sp>
        <p:nvSpPr>
          <p:cNvPr id="301" name="Google Shape;3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BERK (1:40). [Switch to the app.] This is Player 1, a real athlete we filmed. 1. Import: drop the take folder; the two videos are synced and cut into four throws. 2. Replay: the side video with the measured bag path in orange, the drag-free model dashed, and the release, apex and first contact marked. Toggle Front and Both to show the synced views. 3. Throw report: one sentence, for example how far short and which part of the throw it came from, and the miss breakdown with the noise band. 4. Needs Your Eye: the coach confirms only the throws the cameras weren't sure about, one key each. 5. Athlete summary: PPR 6.0, 29 percent in the hole, and the coach focus, which honestly says no release feature has separated makes from misses yet. 6. Launch Lab: drag the speed by 0.1 m/s and watch the landing move. Do not start a new analysis live; only one analysis runs at a time. Backup: screen recording. Hand over to Eliam.</a:t>
            </a:r>
            <a:endParaRPr/>
          </a:p>
        </p:txBody>
      </p:sp>
      <p:sp>
        <p:nvSpPr>
          <p:cNvPr id="334" name="Google Shape;33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ELIAM (0:40). We collected 92 real throws from four athletes in 23 two-camera takes. Three findings. First, all four release at almost the same speed, about 7.5 m/s, but their consistency differs a lot: the blue bars are the throw-to-throw spread, and every one is wider than the gold measurement-noise band, so this is real variation, not measurement error. At 13 cm per 0.1 m/s, that is the biggest source of short and long misses, so the training target is speed control. Second, they already release at 37 to 44 degrees, the forgiving angle, so angle drills would add little. Third, many misses happen after landing: the slide was named about as often as the carry, so board feel deserves practice time, and the coach shouldn't change the arm after a bad slide.</a:t>
            </a:r>
          </a:p>
        </p:txBody>
      </p:sp>
      <p:sp>
        <p:nvSpPr>
          <p:cNvPr id="361" name="Google Shape;3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ELIAM (0:40). Why should you believe this will improve training? Two reasons. First, it follows how athletes learn: it gives numbers the eye can't see, separates causes that look the same so each miss gets the right drill, compares each athlete with their own usual throw because skilled throwers succeed in different ways, and gives one cue at a time only when a miss is outside the normal spread. Second, the measurements hold up where we could check them: release frames within one frame of the video, the bag's end correct on 10 of 10 clips, all 23 takes synced, the 3D flight agreeing with the front camera to under an inch, the flight model predicting Player 1's hole rate at 40 percent against 42 observed, and false advice at about 5 percent or less in our stress test. To be honest, we haven't yet proven it raises scores; this study would.</a:t>
            </a:r>
            <a:endParaRPr/>
          </a:p>
        </p:txBody>
      </p:sp>
      <p:sp>
        <p:nvSpPr>
          <p:cNvPr id="397" name="Google Shape;39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ELIAM (0:40). What does this mean for Vanderbilt Athletics? A practice looks like this: set up two tripods, throw takes of four bags with one clap each, drop the folder on the Mac after practice, spend two to five minutes confirming only the throws the app wasn't sure of, then coach from one sentence per throw and a weekly PDF per athlete. Each insight maps to an action: speed spread above noise means speed-control drills; a slide means practise board feel and leave the throw alone; an aim miss means move the aim point, not the arm; a stable style should be left alone; and "no priority yet" means keep filming. It's cheap, private, light on coach time, and a short filmed session gives recruiters a repeatable profile, used as one input with consent.</a:t>
            </a:r>
            <a:endParaRPr/>
          </a:p>
        </p:txBody>
      </p:sp>
      <p:sp>
        <p:nvSpPr>
          <p:cNvPr id="424" name="Google Shape;42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ELIAM (0:40). What we learned. The hardest part was finding a red bag on a red board in a busy gym; one tracking error spreads into the camera scale and every number after it. What surprised us: all four athletes release at almost the same speed, and 4K video actually tracked worse than 1080p because the bag broke into fragments. What we'd do differently: a contrasting bag colour, a 120 fps side camera, the regulation distance, more throws per athlete and a left-handed athlete. What kept us up at night: giving advice from noise, and not yet having gold-standard validation; that's why we built the evidence gate and wrote a blinded validation plan before looking at the results. Measure the throw, explain the miss, coach only what the data supports. Thank you, questions? Q&amp;A owners: Emily (sport and coaching value), John (metrics and statistics), Berk (app, tracking, sync), Eliam (results and limits).</a:t>
            </a:r>
            <a:endParaRPr/>
          </a:p>
        </p:txBody>
      </p:sp>
      <p:sp>
        <p:nvSpPr>
          <p:cNvPr id="459" name="Google Shape;45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ELIAM (0:35). Here is the whole data set in one picture. Left: where every bag first touched the board. The hole shots, in blue, landed about 18 inches short and slid in, so the slide is part of a good shot. Top: outcomes per athlete. 18 in the hole, 38 on the board, 36 off. All four release at about 7.5 m/s, yet points per round run from 1.4 to 6.0, so it is consistency, not power, that sets the score. Bottom: for the 44 misses the app could explain above noise, which part it named. The carry is the single biggest part, but the slide along and across the board adds up to 31 against 39 for the flight. So practice time should go to board feel as well as release speed.</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ELIAM (0:25). To sum up. We built a two-phone, sensor-free system that links the body to the release, the landing and the score, and turns each throw into one sentence. We found that speed consistency, not angle or power, drives short and long misses, and that the slide on the board matters almost as much as the flight. What comes next is proving it raises scores, with an alternating-weeks study and a blinded validation check. Measure the throw, explain the miss, coach only what the data supports.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AF8F3"/>
        </a:solidFill>
      </p:bgPr>
    </p:bg>
    <p:spTree>
      <p:nvGrpSpPr>
        <p:cNvPr id="12" name="Shape 12"/>
        <p:cNvGrpSpPr/>
        <p:nvPr/>
      </p:nvGrpSpPr>
      <p:grpSpPr>
        <a:xfrm>
          <a:off x="0" y="0"/>
          <a:ext cx="0" cy="0"/>
          <a:chOff x="0" y="0"/>
          <a:chExt cx="0" cy="0"/>
        </a:xfrm>
      </p:grpSpPr>
      <p:sp>
        <p:nvSpPr>
          <p:cNvPr id="13" name="Google Shape;13;p18"/>
          <p:cNvSpPr txBox="1"/>
          <p:nvPr>
            <p:ph type="title"/>
          </p:nvPr>
        </p:nvSpPr>
        <p:spPr>
          <a:xfrm>
            <a:off x="812800" y="1102320"/>
            <a:ext cx="10566400" cy="41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C1A17"/>
              </a:buClr>
              <a:buSzPts val="3000"/>
              <a:buFont typeface="Times New Roman"/>
              <a:buNone/>
              <a:defRPr sz="3000">
                <a:solidFill>
                  <a:srgbClr val="1C1A17"/>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8"/>
          <p:cNvSpPr txBox="1"/>
          <p:nvPr>
            <p:ph idx="1" type="body"/>
          </p:nvPr>
        </p:nvSpPr>
        <p:spPr>
          <a:xfrm>
            <a:off x="812800" y="1826220"/>
            <a:ext cx="10566400" cy="421898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C1A17"/>
              </a:buClr>
              <a:buSzPts val="1600"/>
              <a:buNone/>
              <a:defRPr sz="1600">
                <a:solidFill>
                  <a:srgbClr val="1C1A17"/>
                </a:solidFill>
                <a:latin typeface="Times New Roman"/>
                <a:ea typeface="Times New Roman"/>
                <a:cs typeface="Times New Roman"/>
                <a:sym typeface="Times New Roman"/>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12800" y="1102320"/>
            <a:ext cx="10566400" cy="4191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C1A17"/>
              </a:buClr>
              <a:buSzPts val="3000"/>
              <a:buFont typeface="Times New Roman"/>
              <a:buNone/>
              <a:defRPr b="0" i="0" sz="3000" u="none" cap="none" strike="noStrike">
                <a:solidFill>
                  <a:srgbClr val="1C1A17"/>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12800" y="1826220"/>
            <a:ext cx="10566400" cy="421898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C1A17"/>
              </a:buClr>
              <a:buSzPts val="1600"/>
              <a:buFont typeface="Arial"/>
              <a:buNone/>
              <a:defRPr b="0" i="0" sz="1600" u="none" cap="none" strike="noStrike">
                <a:solidFill>
                  <a:srgbClr val="1C1A17"/>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A17"/>
        </a:solidFill>
      </p:bgPr>
    </p:bg>
    <p:spTree>
      <p:nvGrpSpPr>
        <p:cNvPr id="20" name="Shape 20"/>
        <p:cNvGrpSpPr/>
        <p:nvPr/>
      </p:nvGrpSpPr>
      <p:grpSpPr>
        <a:xfrm>
          <a:off x="0" y="0"/>
          <a:ext cx="0" cy="0"/>
          <a:chOff x="0" y="0"/>
          <a:chExt cx="0" cy="0"/>
        </a:xfrm>
      </p:grpSpPr>
      <p:pic>
        <p:nvPicPr>
          <p:cNvPr descr="A dashed gold arc showing a bag's flight from the release point to the hole of a cornhole board" id="21" name="Google Shape;21;p1"/>
          <p:cNvPicPr preferRelativeResize="0"/>
          <p:nvPr/>
        </p:nvPicPr>
        <p:blipFill rotWithShape="1">
          <a:blip r:embed="rId3">
            <a:alphaModFix/>
          </a:blip>
          <a:srcRect b="0" l="0" r="0" t="0"/>
          <a:stretch/>
        </p:blipFill>
        <p:spPr>
          <a:xfrm>
            <a:off x="6807200" y="2476500"/>
            <a:ext cx="4572000" cy="2032000"/>
          </a:xfrm>
          <a:prstGeom prst="rect">
            <a:avLst/>
          </a:prstGeom>
          <a:noFill/>
          <a:ln>
            <a:noFill/>
          </a:ln>
        </p:spPr>
      </p:pic>
      <p:sp>
        <p:nvSpPr>
          <p:cNvPr id="22" name="Google Shape;22;p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ME 3890 BIOMECHANICS OF HUMAN MOVEMENT · PROJECT 1 · FALL 2026</a:t>
            </a:r>
            <a:endParaRPr b="0" i="0" sz="1200" u="none" cap="none" strike="noStrike">
              <a:solidFill>
                <a:schemeClr val="dk1"/>
              </a:solidFill>
              <a:latin typeface="Times New Roman"/>
              <a:ea typeface="Times New Roman"/>
              <a:cs typeface="Times New Roman"/>
              <a:sym typeface="Times New Roman"/>
            </a:endParaRPr>
          </a:p>
        </p:txBody>
      </p:sp>
      <p:sp>
        <p:nvSpPr>
          <p:cNvPr id="23" name="Google Shape;23;p1"/>
          <p:cNvSpPr txBox="1"/>
          <p:nvPr>
            <p:ph type="title"/>
          </p:nvPr>
        </p:nvSpPr>
        <p:spPr>
          <a:xfrm>
            <a:off x="812800" y="1127720"/>
            <a:ext cx="10883392" cy="7517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3EEE4"/>
              </a:buClr>
              <a:buSzPts val="5200"/>
              <a:buFont typeface="Times New Roman"/>
              <a:buNone/>
            </a:pPr>
            <a:r>
              <a:rPr b="1" i="0" lang="en-US" sz="5200">
                <a:solidFill>
                  <a:srgbClr val="F3EEE4"/>
                </a:solidFill>
                <a:latin typeface="Times New Roman"/>
                <a:ea typeface="Times New Roman"/>
                <a:cs typeface="Times New Roman"/>
                <a:sym typeface="Times New Roman"/>
              </a:rPr>
              <a:t>Cornhole Biomechanics Lab</a:t>
            </a:r>
            <a:endParaRPr sz="5200"/>
          </a:p>
        </p:txBody>
      </p:sp>
      <p:sp>
        <p:nvSpPr>
          <p:cNvPr id="24" name="Google Shape;24;p1"/>
          <p:cNvSpPr/>
          <p:nvPr/>
        </p:nvSpPr>
        <p:spPr>
          <a:xfrm>
            <a:off x="812800" y="1955701"/>
            <a:ext cx="5886450" cy="6197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BC2B3"/>
              </a:buClr>
              <a:buSzPts val="1800"/>
              <a:buFont typeface="Times New Roman"/>
              <a:buNone/>
            </a:pPr>
            <a:r>
              <a:rPr b="0" i="0" lang="en-US" sz="1800" u="none" cap="none" strike="noStrike">
                <a:solidFill>
                  <a:srgbClr val="CBC2B3"/>
                </a:solidFill>
                <a:latin typeface="Times New Roman"/>
                <a:ea typeface="Times New Roman"/>
                <a:cs typeface="Times New Roman"/>
                <a:sym typeface="Times New Roman"/>
              </a:rPr>
              <a:t>Turning two phone videos into evidence-based coaching for Vanderbilt Athletics</a:t>
            </a:r>
            <a:endParaRPr b="0" i="0" sz="1800" u="none" cap="none" strike="noStrike">
              <a:solidFill>
                <a:schemeClr val="dk1"/>
              </a:solidFill>
              <a:latin typeface="Times New Roman"/>
              <a:ea typeface="Times New Roman"/>
              <a:cs typeface="Times New Roman"/>
              <a:sym typeface="Times New Roman"/>
            </a:endParaRPr>
          </a:p>
        </p:txBody>
      </p:sp>
      <p:sp>
        <p:nvSpPr>
          <p:cNvPr id="25" name="Google Shape;25;p1"/>
          <p:cNvSpPr/>
          <p:nvPr/>
        </p:nvSpPr>
        <p:spPr>
          <a:xfrm>
            <a:off x="812800" y="5367139"/>
            <a:ext cx="10566400" cy="12700"/>
          </a:xfrm>
          <a:prstGeom prst="rect">
            <a:avLst/>
          </a:prstGeom>
          <a:solidFill>
            <a:srgbClr val="C9A2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812800" y="5557639"/>
            <a:ext cx="248539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3EEE4"/>
              </a:buClr>
              <a:buSzPts val="1400"/>
              <a:buFont typeface="Times New Roman"/>
              <a:buNone/>
            </a:pPr>
            <a:r>
              <a:rPr b="1" i="0" lang="en-US" sz="1400" u="none" cap="none" strike="noStrike">
                <a:solidFill>
                  <a:srgbClr val="F3EEE4"/>
                </a:solidFill>
                <a:latin typeface="Times New Roman"/>
                <a:ea typeface="Times New Roman"/>
                <a:cs typeface="Times New Roman"/>
                <a:sym typeface="Times New Roman"/>
              </a:rPr>
              <a:t>Emily Park</a:t>
            </a:r>
            <a:endParaRPr b="0" i="0" sz="1400" u="none" cap="none" strike="noStrike">
              <a:solidFill>
                <a:schemeClr val="dk1"/>
              </a:solidFill>
              <a:latin typeface="Times New Roman"/>
              <a:ea typeface="Times New Roman"/>
              <a:cs typeface="Times New Roman"/>
              <a:sym typeface="Times New Roman"/>
            </a:endParaRPr>
          </a:p>
        </p:txBody>
      </p:sp>
      <p:sp>
        <p:nvSpPr>
          <p:cNvPr id="27" name="Google Shape;27;p1"/>
          <p:cNvSpPr/>
          <p:nvPr/>
        </p:nvSpPr>
        <p:spPr>
          <a:xfrm>
            <a:off x="812800" y="5831880"/>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Sport, problem and solution</a:t>
            </a:r>
            <a:endParaRPr b="0" i="0" sz="1200" u="none" cap="none" strike="noStrike">
              <a:solidFill>
                <a:schemeClr val="dk1"/>
              </a:solidFill>
              <a:latin typeface="Times New Roman"/>
              <a:ea typeface="Times New Roman"/>
              <a:cs typeface="Times New Roman"/>
              <a:sym typeface="Times New Roman"/>
            </a:endParaRPr>
          </a:p>
        </p:txBody>
      </p:sp>
      <p:sp>
        <p:nvSpPr>
          <p:cNvPr id="28" name="Google Shape;28;p1"/>
          <p:cNvSpPr/>
          <p:nvPr/>
        </p:nvSpPr>
        <p:spPr>
          <a:xfrm>
            <a:off x="3530600" y="5557639"/>
            <a:ext cx="248539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3EEE4"/>
              </a:buClr>
              <a:buSzPts val="1400"/>
              <a:buFont typeface="Times New Roman"/>
              <a:buNone/>
            </a:pPr>
            <a:r>
              <a:rPr b="1" i="0" lang="en-US" sz="1400" u="none" cap="none" strike="noStrike">
                <a:solidFill>
                  <a:srgbClr val="F3EEE4"/>
                </a:solidFill>
                <a:latin typeface="Times New Roman"/>
                <a:ea typeface="Times New Roman"/>
                <a:cs typeface="Times New Roman"/>
                <a:sym typeface="Times New Roman"/>
              </a:rPr>
              <a:t>John Wilson</a:t>
            </a:r>
            <a:endParaRPr b="0" i="0" sz="1400" u="none" cap="none" strike="noStrike">
              <a:solidFill>
                <a:schemeClr val="dk1"/>
              </a:solidFill>
              <a:latin typeface="Times New Roman"/>
              <a:ea typeface="Times New Roman"/>
              <a:cs typeface="Times New Roman"/>
              <a:sym typeface="Times New Roman"/>
            </a:endParaRPr>
          </a:p>
        </p:txBody>
      </p:sp>
      <p:sp>
        <p:nvSpPr>
          <p:cNvPr id="29" name="Google Shape;29;p1"/>
          <p:cNvSpPr/>
          <p:nvPr/>
        </p:nvSpPr>
        <p:spPr>
          <a:xfrm>
            <a:off x="3530600" y="5831880"/>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Metrics and real data</a:t>
            </a:r>
            <a:endParaRPr b="0" i="0" sz="1200" u="none" cap="none" strike="noStrike">
              <a:solidFill>
                <a:schemeClr val="dk1"/>
              </a:solidFill>
              <a:latin typeface="Times New Roman"/>
              <a:ea typeface="Times New Roman"/>
              <a:cs typeface="Times New Roman"/>
              <a:sym typeface="Times New Roman"/>
            </a:endParaRPr>
          </a:p>
        </p:txBody>
      </p:sp>
      <p:sp>
        <p:nvSpPr>
          <p:cNvPr id="30" name="Google Shape;30;p1"/>
          <p:cNvSpPr/>
          <p:nvPr/>
        </p:nvSpPr>
        <p:spPr>
          <a:xfrm>
            <a:off x="6248400" y="5557639"/>
            <a:ext cx="248539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3EEE4"/>
              </a:buClr>
              <a:buSzPts val="1400"/>
              <a:buFont typeface="Times New Roman"/>
              <a:buNone/>
            </a:pPr>
            <a:r>
              <a:rPr b="1" i="0" lang="en-US" sz="1400" u="none" cap="none" strike="noStrike">
                <a:solidFill>
                  <a:srgbClr val="F3EEE4"/>
                </a:solidFill>
                <a:latin typeface="Times New Roman"/>
                <a:ea typeface="Times New Roman"/>
                <a:cs typeface="Times New Roman"/>
                <a:sym typeface="Times New Roman"/>
              </a:rPr>
              <a:t>Berk Kasimcan</a:t>
            </a:r>
            <a:endParaRPr b="0" i="0" sz="1400" u="none" cap="none" strike="noStrike">
              <a:solidFill>
                <a:schemeClr val="dk1"/>
              </a:solidFill>
              <a:latin typeface="Times New Roman"/>
              <a:ea typeface="Times New Roman"/>
              <a:cs typeface="Times New Roman"/>
              <a:sym typeface="Times New Roman"/>
            </a:endParaRPr>
          </a:p>
        </p:txBody>
      </p:sp>
      <p:sp>
        <p:nvSpPr>
          <p:cNvPr id="31" name="Google Shape;31;p1"/>
          <p:cNvSpPr/>
          <p:nvPr/>
        </p:nvSpPr>
        <p:spPr>
          <a:xfrm>
            <a:off x="6248400" y="5831880"/>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App, pipeline and demo</a:t>
            </a:r>
            <a:endParaRPr b="0" i="0" sz="1200" u="none" cap="none" strike="noStrike">
              <a:solidFill>
                <a:schemeClr val="dk1"/>
              </a:solidFill>
              <a:latin typeface="Times New Roman"/>
              <a:ea typeface="Times New Roman"/>
              <a:cs typeface="Times New Roman"/>
              <a:sym typeface="Times New Roman"/>
            </a:endParaRPr>
          </a:p>
        </p:txBody>
      </p:sp>
      <p:sp>
        <p:nvSpPr>
          <p:cNvPr id="32" name="Google Shape;32;p1"/>
          <p:cNvSpPr/>
          <p:nvPr/>
        </p:nvSpPr>
        <p:spPr>
          <a:xfrm>
            <a:off x="8966200" y="5557639"/>
            <a:ext cx="248539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3EEE4"/>
              </a:buClr>
              <a:buSzPts val="1400"/>
              <a:buFont typeface="Times New Roman"/>
              <a:buNone/>
            </a:pPr>
            <a:r>
              <a:rPr b="1" i="0" lang="en-US" sz="1400" u="none" cap="none" strike="noStrike">
                <a:solidFill>
                  <a:srgbClr val="F3EEE4"/>
                </a:solidFill>
                <a:latin typeface="Times New Roman"/>
                <a:ea typeface="Times New Roman"/>
                <a:cs typeface="Times New Roman"/>
                <a:sym typeface="Times New Roman"/>
              </a:rPr>
              <a:t>Eliam Chang</a:t>
            </a:r>
            <a:endParaRPr b="0" i="0" sz="1400" u="none" cap="none" strike="noStrike">
              <a:solidFill>
                <a:schemeClr val="dk1"/>
              </a:solidFill>
              <a:latin typeface="Times New Roman"/>
              <a:ea typeface="Times New Roman"/>
              <a:cs typeface="Times New Roman"/>
              <a:sym typeface="Times New Roman"/>
            </a:endParaRPr>
          </a:p>
        </p:txBody>
      </p:sp>
      <p:sp>
        <p:nvSpPr>
          <p:cNvPr id="33" name="Google Shape;33;p1"/>
          <p:cNvSpPr/>
          <p:nvPr/>
        </p:nvSpPr>
        <p:spPr>
          <a:xfrm>
            <a:off x="8966200" y="5831880"/>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Insights, value and lessons</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8" name="Shape 38"/>
        <p:cNvGrpSpPr/>
        <p:nvPr/>
      </p:nvGrpSpPr>
      <p:grpSpPr>
        <a:xfrm>
          <a:off x="0" y="0"/>
          <a:ext cx="0" cy="0"/>
          <a:chOff x="0" y="0"/>
          <a:chExt cx="0" cy="0"/>
        </a:xfrm>
      </p:grpSpPr>
      <p:sp>
        <p:nvSpPr>
          <p:cNvPr id="39" name="Google Shape;39;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OUR TALK</a:t>
            </a:r>
            <a:endParaRPr b="0" i="0" sz="1200" u="none" cap="none" strike="noStrike">
              <a:solidFill>
                <a:schemeClr val="dk1"/>
              </a:solidFill>
              <a:latin typeface="Times New Roman"/>
              <a:ea typeface="Times New Roman"/>
              <a:cs typeface="Times New Roman"/>
              <a:sym typeface="Times New Roman"/>
            </a:endParaRPr>
          </a:p>
        </p:txBody>
      </p:sp>
      <p:sp>
        <p:nvSpPr>
          <p:cNvPr id="40" name="Google Shape;40;p2"/>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2700"/>
              <a:buFont typeface="Times New Roman"/>
              <a:buNone/>
            </a:pPr>
            <a:r>
              <a:rPr b="1" lang="en-US" sz="1700">
                <a:solidFill>
                  <a:srgbClr val="000000"/>
                </a:solidFill>
              </a:rPr>
              <a:t>Two cornhole throws can look the same and land a foot apart, yet nothing exists on the market to solve this issue.</a:t>
            </a:r>
            <a:endParaRPr sz="2600"/>
          </a:p>
        </p:txBody>
      </p:sp>
      <p:sp>
        <p:nvSpPr>
          <p:cNvPr id="41" name="Google Shape;41;p2"/>
          <p:cNvSpPr/>
          <p:nvPr/>
        </p:nvSpPr>
        <p:spPr>
          <a:xfrm>
            <a:off x="812800" y="1597620"/>
            <a:ext cx="10566400" cy="601960"/>
          </a:xfrm>
          <a:prstGeom prst="roundRect">
            <a:avLst>
              <a:gd fmla="val 12659"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041400" y="1791891"/>
            <a:ext cx="121513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OUR ANSWER</a:t>
            </a:r>
            <a:endParaRPr b="0" i="0" sz="1200" u="none" cap="none" strike="noStrike">
              <a:solidFill>
                <a:schemeClr val="dk1"/>
              </a:solidFill>
              <a:latin typeface="Times New Roman"/>
              <a:ea typeface="Times New Roman"/>
              <a:cs typeface="Times New Roman"/>
              <a:sym typeface="Times New Roman"/>
            </a:endParaRPr>
          </a:p>
        </p:txBody>
      </p:sp>
      <p:sp>
        <p:nvSpPr>
          <p:cNvPr id="43" name="Google Shape;43;p2"/>
          <p:cNvSpPr/>
          <p:nvPr/>
        </p:nvSpPr>
        <p:spPr>
          <a:xfrm>
            <a:off x="2408932" y="1750020"/>
            <a:ext cx="9003918" cy="322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3EEE4"/>
              </a:buClr>
              <a:buSzPts val="1800"/>
              <a:buFont typeface="Times New Roman"/>
              <a:buNone/>
            </a:pPr>
            <a:r>
              <a:rPr b="0" i="0" lang="en-US" sz="1800" u="none" cap="none" strike="noStrike">
                <a:solidFill>
                  <a:srgbClr val="F3EEE4"/>
                </a:solidFill>
                <a:latin typeface="Times New Roman"/>
                <a:ea typeface="Times New Roman"/>
                <a:cs typeface="Times New Roman"/>
                <a:sym typeface="Times New Roman"/>
              </a:rPr>
              <a:t>Measure the throw, explain the miss, and coach only what the data supports.</a:t>
            </a:r>
            <a:endParaRPr b="0" i="0" sz="1800" u="none" cap="none" strike="noStrike">
              <a:solidFill>
                <a:schemeClr val="dk1"/>
              </a:solidFill>
              <a:latin typeface="Times New Roman"/>
              <a:ea typeface="Times New Roman"/>
              <a:cs typeface="Times New Roman"/>
              <a:sym typeface="Times New Roman"/>
            </a:endParaRPr>
          </a:p>
        </p:txBody>
      </p:sp>
      <p:sp>
        <p:nvSpPr>
          <p:cNvPr id="44" name="Google Shape;44;p2"/>
          <p:cNvSpPr/>
          <p:nvPr/>
        </p:nvSpPr>
        <p:spPr>
          <a:xfrm>
            <a:off x="819150" y="2282130"/>
            <a:ext cx="2514600" cy="2228552"/>
          </a:xfrm>
          <a:prstGeom prst="roundRect">
            <a:avLst>
              <a:gd fmla="val 313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003300" y="246628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8A6A2B"/>
              </a:buClr>
              <a:buSzPts val="3000"/>
              <a:buFont typeface="Times New Roman"/>
              <a:buNone/>
            </a:pPr>
            <a:r>
              <a:rPr b="1" i="0" lang="en-US" sz="3000" u="none" cap="none" strike="noStrike">
                <a:solidFill>
                  <a:srgbClr val="8A6A2B"/>
                </a:solidFill>
                <a:latin typeface="Times New Roman"/>
                <a:ea typeface="Times New Roman"/>
                <a:cs typeface="Times New Roman"/>
                <a:sym typeface="Times New Roman"/>
              </a:rPr>
              <a:t>1</a:t>
            </a:r>
            <a:endParaRPr b="0" i="0" sz="3000" u="none" cap="none" strike="noStrike">
              <a:solidFill>
                <a:schemeClr val="dk1"/>
              </a:solidFill>
              <a:latin typeface="Times New Roman"/>
              <a:ea typeface="Times New Roman"/>
              <a:cs typeface="Times New Roman"/>
              <a:sym typeface="Times New Roman"/>
            </a:endParaRPr>
          </a:p>
        </p:txBody>
      </p:sp>
      <p:sp>
        <p:nvSpPr>
          <p:cNvPr id="46" name="Google Shape;46;p2"/>
          <p:cNvSpPr/>
          <p:nvPr/>
        </p:nvSpPr>
        <p:spPr>
          <a:xfrm>
            <a:off x="1003300" y="29171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The sport and the problem</a:t>
            </a:r>
            <a:endParaRPr b="0" i="0" sz="1400" u="none" cap="none" strike="noStrike">
              <a:solidFill>
                <a:schemeClr val="dk1"/>
              </a:solidFill>
              <a:latin typeface="Times New Roman"/>
              <a:ea typeface="Times New Roman"/>
              <a:cs typeface="Times New Roman"/>
              <a:sym typeface="Times New Roman"/>
            </a:endParaRPr>
          </a:p>
        </p:txBody>
      </p:sp>
      <p:sp>
        <p:nvSpPr>
          <p:cNvPr id="47" name="Google Shape;47;p2"/>
          <p:cNvSpPr/>
          <p:nvPr/>
        </p:nvSpPr>
        <p:spPr>
          <a:xfrm>
            <a:off x="1003300" y="3181251"/>
            <a:ext cx="2210689"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Why can't a coach see what caused a miss?</a:t>
            </a:r>
            <a:endParaRPr b="0" i="0" sz="1200" u="none" cap="none" strike="noStrike">
              <a:solidFill>
                <a:schemeClr val="dk1"/>
              </a:solidFill>
              <a:latin typeface="Times New Roman"/>
              <a:ea typeface="Times New Roman"/>
              <a:cs typeface="Times New Roman"/>
              <a:sym typeface="Times New Roman"/>
            </a:endParaRPr>
          </a:p>
        </p:txBody>
      </p:sp>
      <p:sp>
        <p:nvSpPr>
          <p:cNvPr id="48" name="Google Shape;48;p2"/>
          <p:cNvSpPr/>
          <p:nvPr/>
        </p:nvSpPr>
        <p:spPr>
          <a:xfrm>
            <a:off x="1003300" y="4113213"/>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1" lang="en-US" sz="1200" u="none" cap="none" strike="noStrike">
                <a:solidFill>
                  <a:srgbClr val="6E665C"/>
                </a:solidFill>
                <a:latin typeface="Times New Roman"/>
                <a:ea typeface="Times New Roman"/>
                <a:cs typeface="Times New Roman"/>
                <a:sym typeface="Times New Roman"/>
              </a:rPr>
              <a:t>Emily</a:t>
            </a:r>
            <a:endParaRPr b="0" i="0" sz="1200" u="none" cap="none" strike="noStrike">
              <a:solidFill>
                <a:schemeClr val="dk1"/>
              </a:solidFill>
              <a:latin typeface="Times New Roman"/>
              <a:ea typeface="Times New Roman"/>
              <a:cs typeface="Times New Roman"/>
              <a:sym typeface="Times New Roman"/>
            </a:endParaRPr>
          </a:p>
        </p:txBody>
      </p:sp>
      <p:sp>
        <p:nvSpPr>
          <p:cNvPr id="49" name="Google Shape;49;p2"/>
          <p:cNvSpPr/>
          <p:nvPr/>
        </p:nvSpPr>
        <p:spPr>
          <a:xfrm>
            <a:off x="3498850" y="2282130"/>
            <a:ext cx="2514600" cy="2228552"/>
          </a:xfrm>
          <a:prstGeom prst="roundRect">
            <a:avLst>
              <a:gd fmla="val 313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683000" y="246628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8A6A2B"/>
              </a:buClr>
              <a:buSzPts val="3000"/>
              <a:buFont typeface="Times New Roman"/>
              <a:buNone/>
            </a:pPr>
            <a:r>
              <a:rPr b="1" i="0" lang="en-US" sz="3000" u="none" cap="none" strike="noStrike">
                <a:solidFill>
                  <a:srgbClr val="8A6A2B"/>
                </a:solidFill>
                <a:latin typeface="Times New Roman"/>
                <a:ea typeface="Times New Roman"/>
                <a:cs typeface="Times New Roman"/>
                <a:sym typeface="Times New Roman"/>
              </a:rPr>
              <a:t>2</a:t>
            </a:r>
            <a:endParaRPr b="0" i="0" sz="3000" u="none" cap="none" strike="noStrike">
              <a:solidFill>
                <a:schemeClr val="dk1"/>
              </a:solidFill>
              <a:latin typeface="Times New Roman"/>
              <a:ea typeface="Times New Roman"/>
              <a:cs typeface="Times New Roman"/>
              <a:sym typeface="Times New Roman"/>
            </a:endParaRPr>
          </a:p>
        </p:txBody>
      </p:sp>
      <p:sp>
        <p:nvSpPr>
          <p:cNvPr id="51" name="Google Shape;51;p2"/>
          <p:cNvSpPr/>
          <p:nvPr/>
        </p:nvSpPr>
        <p:spPr>
          <a:xfrm>
            <a:off x="3683000" y="29171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Our solution and why</a:t>
            </a:r>
            <a:endParaRPr b="0" i="0" sz="1400" u="none" cap="none" strike="noStrike">
              <a:solidFill>
                <a:schemeClr val="dk1"/>
              </a:solidFill>
              <a:latin typeface="Times New Roman"/>
              <a:ea typeface="Times New Roman"/>
              <a:cs typeface="Times New Roman"/>
              <a:sym typeface="Times New Roman"/>
            </a:endParaRPr>
          </a:p>
        </p:txBody>
      </p:sp>
      <p:sp>
        <p:nvSpPr>
          <p:cNvPr id="52" name="Google Shape;52;p2"/>
          <p:cNvSpPr/>
          <p:nvPr/>
        </p:nvSpPr>
        <p:spPr>
          <a:xfrm>
            <a:off x="3683000" y="3181251"/>
            <a:ext cx="2210689"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Two phones, the metrics we chose, and real athletes measured</a:t>
            </a:r>
            <a:endParaRPr b="0" i="0" sz="1200" u="none" cap="none" strike="noStrike">
              <a:solidFill>
                <a:schemeClr val="dk1"/>
              </a:solidFill>
              <a:latin typeface="Times New Roman"/>
              <a:ea typeface="Times New Roman"/>
              <a:cs typeface="Times New Roman"/>
              <a:sym typeface="Times New Roman"/>
            </a:endParaRPr>
          </a:p>
        </p:txBody>
      </p:sp>
      <p:sp>
        <p:nvSpPr>
          <p:cNvPr id="53" name="Google Shape;53;p2"/>
          <p:cNvSpPr/>
          <p:nvPr/>
        </p:nvSpPr>
        <p:spPr>
          <a:xfrm>
            <a:off x="3683000" y="4113213"/>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1" lang="en-US" sz="1200" u="none" cap="none" strike="noStrike">
                <a:solidFill>
                  <a:srgbClr val="6E665C"/>
                </a:solidFill>
                <a:latin typeface="Times New Roman"/>
                <a:ea typeface="Times New Roman"/>
                <a:cs typeface="Times New Roman"/>
                <a:sym typeface="Times New Roman"/>
              </a:rPr>
              <a:t>Emily and John</a:t>
            </a:r>
            <a:endParaRPr b="0" i="0" sz="1200" u="none" cap="none" strike="noStrike">
              <a:solidFill>
                <a:schemeClr val="dk1"/>
              </a:solidFill>
              <a:latin typeface="Times New Roman"/>
              <a:ea typeface="Times New Roman"/>
              <a:cs typeface="Times New Roman"/>
              <a:sym typeface="Times New Roman"/>
            </a:endParaRPr>
          </a:p>
        </p:txBody>
      </p:sp>
      <p:sp>
        <p:nvSpPr>
          <p:cNvPr id="54" name="Google Shape;54;p2"/>
          <p:cNvSpPr/>
          <p:nvPr/>
        </p:nvSpPr>
        <p:spPr>
          <a:xfrm>
            <a:off x="6178550" y="2282130"/>
            <a:ext cx="2514600" cy="2228552"/>
          </a:xfrm>
          <a:prstGeom prst="roundRect">
            <a:avLst>
              <a:gd fmla="val 313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362700" y="246628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8A6A2B"/>
              </a:buClr>
              <a:buSzPts val="3000"/>
              <a:buFont typeface="Times New Roman"/>
              <a:buNone/>
            </a:pPr>
            <a:r>
              <a:rPr b="1" i="0" lang="en-US" sz="3000" u="none" cap="none" strike="noStrike">
                <a:solidFill>
                  <a:srgbClr val="8A6A2B"/>
                </a:solidFill>
                <a:latin typeface="Times New Roman"/>
                <a:ea typeface="Times New Roman"/>
                <a:cs typeface="Times New Roman"/>
                <a:sym typeface="Times New Roman"/>
              </a:rPr>
              <a:t>3</a:t>
            </a:r>
            <a:endParaRPr b="0" i="0" sz="3000" u="none" cap="none" strike="noStrike">
              <a:solidFill>
                <a:schemeClr val="dk1"/>
              </a:solidFill>
              <a:latin typeface="Times New Roman"/>
              <a:ea typeface="Times New Roman"/>
              <a:cs typeface="Times New Roman"/>
              <a:sym typeface="Times New Roman"/>
            </a:endParaRPr>
          </a:p>
        </p:txBody>
      </p:sp>
      <p:sp>
        <p:nvSpPr>
          <p:cNvPr id="56" name="Google Shape;56;p2"/>
          <p:cNvSpPr/>
          <p:nvPr/>
        </p:nvSpPr>
        <p:spPr>
          <a:xfrm>
            <a:off x="6362700" y="29171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How it works: live demo</a:t>
            </a:r>
            <a:endParaRPr b="0" i="0" sz="1400" u="none" cap="none" strike="noStrike">
              <a:solidFill>
                <a:schemeClr val="dk1"/>
              </a:solidFill>
              <a:latin typeface="Times New Roman"/>
              <a:ea typeface="Times New Roman"/>
              <a:cs typeface="Times New Roman"/>
              <a:sym typeface="Times New Roman"/>
            </a:endParaRPr>
          </a:p>
        </p:txBody>
      </p:sp>
      <p:sp>
        <p:nvSpPr>
          <p:cNvPr id="57" name="Google Shape;57;p2"/>
          <p:cNvSpPr/>
          <p:nvPr/>
        </p:nvSpPr>
        <p:spPr>
          <a:xfrm>
            <a:off x="6362700" y="3181251"/>
            <a:ext cx="2210689"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The app pipeline, two-camera sync, and a real throw measured</a:t>
            </a:r>
            <a:endParaRPr b="0" i="0" sz="1200" u="none" cap="none" strike="noStrike">
              <a:solidFill>
                <a:schemeClr val="dk1"/>
              </a:solidFill>
              <a:latin typeface="Times New Roman"/>
              <a:ea typeface="Times New Roman"/>
              <a:cs typeface="Times New Roman"/>
              <a:sym typeface="Times New Roman"/>
            </a:endParaRPr>
          </a:p>
        </p:txBody>
      </p:sp>
      <p:sp>
        <p:nvSpPr>
          <p:cNvPr id="58" name="Google Shape;58;p2"/>
          <p:cNvSpPr/>
          <p:nvPr/>
        </p:nvSpPr>
        <p:spPr>
          <a:xfrm>
            <a:off x="6362700" y="4113213"/>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1" lang="en-US" sz="1200" u="none" cap="none" strike="noStrike">
                <a:solidFill>
                  <a:srgbClr val="6E665C"/>
                </a:solidFill>
                <a:latin typeface="Times New Roman"/>
                <a:ea typeface="Times New Roman"/>
                <a:cs typeface="Times New Roman"/>
                <a:sym typeface="Times New Roman"/>
              </a:rPr>
              <a:t>Berk</a:t>
            </a:r>
            <a:endParaRPr b="0" i="0" sz="1200" u="none" cap="none" strike="noStrike">
              <a:solidFill>
                <a:schemeClr val="dk1"/>
              </a:solidFill>
              <a:latin typeface="Times New Roman"/>
              <a:ea typeface="Times New Roman"/>
              <a:cs typeface="Times New Roman"/>
              <a:sym typeface="Times New Roman"/>
            </a:endParaRPr>
          </a:p>
        </p:txBody>
      </p:sp>
      <p:sp>
        <p:nvSpPr>
          <p:cNvPr id="59" name="Google Shape;59;p2"/>
          <p:cNvSpPr/>
          <p:nvPr/>
        </p:nvSpPr>
        <p:spPr>
          <a:xfrm>
            <a:off x="8858250" y="2282130"/>
            <a:ext cx="2514600" cy="2228552"/>
          </a:xfrm>
          <a:prstGeom prst="roundRect">
            <a:avLst>
              <a:gd fmla="val 313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9042400" y="246628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8A6A2B"/>
              </a:buClr>
              <a:buSzPts val="3000"/>
              <a:buFont typeface="Times New Roman"/>
              <a:buNone/>
            </a:pPr>
            <a:r>
              <a:rPr b="1" i="0" lang="en-US" sz="3000" u="none" cap="none" strike="noStrike">
                <a:solidFill>
                  <a:srgbClr val="8A6A2B"/>
                </a:solidFill>
                <a:latin typeface="Times New Roman"/>
                <a:ea typeface="Times New Roman"/>
                <a:cs typeface="Times New Roman"/>
                <a:sym typeface="Times New Roman"/>
              </a:rPr>
              <a:t>4</a:t>
            </a:r>
            <a:endParaRPr b="0" i="0" sz="3000" u="none" cap="none" strike="noStrike">
              <a:solidFill>
                <a:schemeClr val="dk1"/>
              </a:solidFill>
              <a:latin typeface="Times New Roman"/>
              <a:ea typeface="Times New Roman"/>
              <a:cs typeface="Times New Roman"/>
              <a:sym typeface="Times New Roman"/>
            </a:endParaRPr>
          </a:p>
        </p:txBody>
      </p:sp>
      <p:sp>
        <p:nvSpPr>
          <p:cNvPr id="61" name="Google Shape;61;p2"/>
          <p:cNvSpPr/>
          <p:nvPr/>
        </p:nvSpPr>
        <p:spPr>
          <a:xfrm>
            <a:off x="9042400" y="2917130"/>
            <a:ext cx="2210689" cy="4520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Why it will improve training</a:t>
            </a:r>
            <a:endParaRPr b="0" i="0" sz="1400" u="none" cap="none" strike="noStrike">
              <a:solidFill>
                <a:schemeClr val="dk1"/>
              </a:solidFill>
              <a:latin typeface="Times New Roman"/>
              <a:ea typeface="Times New Roman"/>
              <a:cs typeface="Times New Roman"/>
              <a:sym typeface="Times New Roman"/>
            </a:endParaRPr>
          </a:p>
        </p:txBody>
      </p:sp>
      <p:sp>
        <p:nvSpPr>
          <p:cNvPr id="62" name="Google Shape;62;p2"/>
          <p:cNvSpPr/>
          <p:nvPr/>
        </p:nvSpPr>
        <p:spPr>
          <a:xfrm>
            <a:off x="9042400" y="3394571"/>
            <a:ext cx="2210689" cy="642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What the data revealed, the evidence, and the benefit to Vanderbilt</a:t>
            </a:r>
            <a:endParaRPr b="0" i="0" sz="1200" u="none" cap="none" strike="noStrike">
              <a:solidFill>
                <a:schemeClr val="dk1"/>
              </a:solidFill>
              <a:latin typeface="Times New Roman"/>
              <a:ea typeface="Times New Roman"/>
              <a:cs typeface="Times New Roman"/>
              <a:sym typeface="Times New Roman"/>
            </a:endParaRPr>
          </a:p>
        </p:txBody>
      </p:sp>
      <p:sp>
        <p:nvSpPr>
          <p:cNvPr id="63" name="Google Shape;63;p2"/>
          <p:cNvSpPr/>
          <p:nvPr/>
        </p:nvSpPr>
        <p:spPr>
          <a:xfrm>
            <a:off x="9042400" y="4113213"/>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1" lang="en-US" sz="1200" u="none" cap="none" strike="noStrike">
                <a:solidFill>
                  <a:srgbClr val="6E665C"/>
                </a:solidFill>
                <a:latin typeface="Times New Roman"/>
                <a:ea typeface="Times New Roman"/>
                <a:cs typeface="Times New Roman"/>
                <a:sym typeface="Times New Roman"/>
              </a:rPr>
              <a:t>Eliam</a:t>
            </a:r>
            <a:endParaRPr b="0" i="0" sz="1200" u="none" cap="none" strike="noStrike">
              <a:solidFill>
                <a:schemeClr val="dk1"/>
              </a:solidFill>
              <a:latin typeface="Times New Roman"/>
              <a:ea typeface="Times New Roman"/>
              <a:cs typeface="Times New Roman"/>
              <a:sym typeface="Times New Roman"/>
            </a:endParaRPr>
          </a:p>
        </p:txBody>
      </p:sp>
      <p:sp>
        <p:nvSpPr>
          <p:cNvPr id="64" name="Google Shape;64;p2"/>
          <p:cNvSpPr/>
          <p:nvPr/>
        </p:nvSpPr>
        <p:spPr>
          <a:xfrm>
            <a:off x="819150" y="4599583"/>
            <a:ext cx="10553700" cy="515541"/>
          </a:xfrm>
          <a:prstGeom prst="roundRect">
            <a:avLst>
              <a:gd fmla="val 13549" name="adj"/>
            </a:avLst>
          </a:prstGeom>
          <a:noFill/>
          <a:ln cap="flat" cmpd="sng" w="12700">
            <a:solidFill>
              <a:srgbClr val="B8913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003300" y="4732933"/>
            <a:ext cx="1725017"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400"/>
              <a:buFont typeface="Times New Roman"/>
              <a:buNone/>
            </a:pPr>
            <a:r>
              <a:rPr b="1" i="0" lang="en-US" sz="1400" u="none" cap="none" strike="noStrike">
                <a:solidFill>
                  <a:srgbClr val="8A6A2B"/>
                </a:solidFill>
                <a:latin typeface="Times New Roman"/>
                <a:ea typeface="Times New Roman"/>
                <a:cs typeface="Times New Roman"/>
                <a:sym typeface="Times New Roman"/>
              </a:rPr>
              <a:t>Plus: what we learned</a:t>
            </a:r>
            <a:endParaRPr b="0" i="0" sz="1400" u="none" cap="none" strike="noStrike">
              <a:solidFill>
                <a:schemeClr val="dk1"/>
              </a:solidFill>
              <a:latin typeface="Times New Roman"/>
              <a:ea typeface="Times New Roman"/>
              <a:cs typeface="Times New Roman"/>
              <a:sym typeface="Times New Roman"/>
            </a:endParaRPr>
          </a:p>
        </p:txBody>
      </p:sp>
      <p:sp>
        <p:nvSpPr>
          <p:cNvPr id="66" name="Google Shape;66;p2"/>
          <p:cNvSpPr/>
          <p:nvPr/>
        </p:nvSpPr>
        <p:spPr>
          <a:xfrm>
            <a:off x="2829917" y="4754463"/>
            <a:ext cx="860954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The hardest part, what surprised us, what we would do differently, and what kept us up at night.</a:t>
            </a:r>
            <a:endParaRPr b="0" i="0" sz="1200" u="none" cap="none" strike="noStrike">
              <a:solidFill>
                <a:schemeClr val="dk1"/>
              </a:solidFill>
              <a:latin typeface="Times New Roman"/>
              <a:ea typeface="Times New Roman"/>
              <a:cs typeface="Times New Roman"/>
              <a:sym typeface="Times New Roman"/>
            </a:endParaRPr>
          </a:p>
        </p:txBody>
      </p:sp>
      <p:sp>
        <p:nvSpPr>
          <p:cNvPr id="67" name="Google Shape;67;p2"/>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68" name="Google Shape;68;p2"/>
          <p:cNvSpPr/>
          <p:nvPr/>
        </p:nvSpPr>
        <p:spPr>
          <a:xfrm>
            <a:off x="9982240" y="6238280"/>
            <a:ext cx="139696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Emily Park · 2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73" name="Shape 73"/>
        <p:cNvGrpSpPr/>
        <p:nvPr/>
      </p:nvGrpSpPr>
      <p:grpSpPr>
        <a:xfrm>
          <a:off x="0" y="0"/>
          <a:ext cx="0" cy="0"/>
          <a:chOff x="0" y="0"/>
          <a:chExt cx="0" cy="0"/>
        </a:xfrm>
      </p:grpSpPr>
      <p:sp>
        <p:nvSpPr>
          <p:cNvPr id="74" name="Google Shape;74;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1 · THE SPORT AND THE PROBLEM</a:t>
            </a:r>
            <a:endParaRPr b="0" i="0" sz="1200" u="none" cap="none" strike="noStrike">
              <a:solidFill>
                <a:schemeClr val="dk1"/>
              </a:solidFill>
              <a:latin typeface="Times New Roman"/>
              <a:ea typeface="Times New Roman"/>
              <a:cs typeface="Times New Roman"/>
              <a:sym typeface="Times New Roman"/>
            </a:endParaRPr>
          </a:p>
        </p:txBody>
      </p:sp>
      <p:sp>
        <p:nvSpPr>
          <p:cNvPr id="75" name="Google Shape;75;p3"/>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A coach sees where the bag lands, not why</a:t>
            </a:r>
            <a:endParaRPr sz="3000"/>
          </a:p>
        </p:txBody>
      </p:sp>
      <p:sp>
        <p:nvSpPr>
          <p:cNvPr id="76" name="Google Shape;76;p3"/>
          <p:cNvSpPr/>
          <p:nvPr/>
        </p:nvSpPr>
        <p:spPr>
          <a:xfrm>
            <a:off x="819150" y="1603970"/>
            <a:ext cx="3797300" cy="3472061"/>
          </a:xfrm>
          <a:prstGeom prst="roundRect">
            <a:avLst>
              <a:gd fmla="val 2012"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028700" y="1813520"/>
            <a:ext cx="3479546"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Cornhole in 20 seconds</a:t>
            </a:r>
            <a:endParaRPr b="0" i="0" sz="1400" u="none" cap="none" strike="noStrike">
              <a:solidFill>
                <a:schemeClr val="dk1"/>
              </a:solidFill>
              <a:latin typeface="Times New Roman"/>
              <a:ea typeface="Times New Roman"/>
              <a:cs typeface="Times New Roman"/>
              <a:sym typeface="Times New Roman"/>
            </a:endParaRPr>
          </a:p>
        </p:txBody>
      </p:sp>
      <p:pic>
        <p:nvPicPr>
          <p:cNvPr descr="Top-down view of a cornhole board with the hole near the far end and a bag resting on the board" id="78" name="Google Shape;78;p3"/>
          <p:cNvPicPr preferRelativeResize="0"/>
          <p:nvPr/>
        </p:nvPicPr>
        <p:blipFill rotWithShape="1">
          <a:blip r:embed="rId3">
            <a:alphaModFix/>
          </a:blip>
          <a:srcRect b="0" l="0" r="0" t="0"/>
          <a:stretch/>
        </p:blipFill>
        <p:spPr>
          <a:xfrm>
            <a:off x="1028700" y="2153841"/>
            <a:ext cx="1270000" cy="2159000"/>
          </a:xfrm>
          <a:prstGeom prst="rect">
            <a:avLst/>
          </a:prstGeom>
          <a:noFill/>
          <a:ln>
            <a:noFill/>
          </a:ln>
        </p:spPr>
      </p:pic>
      <p:sp>
        <p:nvSpPr>
          <p:cNvPr id="79" name="Google Shape;79;p3"/>
          <p:cNvSpPr/>
          <p:nvPr/>
        </p:nvSpPr>
        <p:spPr>
          <a:xfrm>
            <a:off x="2588006" y="2459930"/>
            <a:ext cx="1869694" cy="1572121"/>
          </a:xfrm>
          <a:prstGeom prst="rect">
            <a:avLst/>
          </a:prstGeom>
          <a:noFill/>
          <a:ln>
            <a:noFill/>
          </a:ln>
        </p:spPr>
        <p:txBody>
          <a:bodyPr anchorCtr="0" anchor="t" bIns="0" lIns="0" spcFirstLastPara="1" rIns="0" wrap="square" tIns="0">
            <a:normAutofit/>
          </a:bodyPr>
          <a:lstStyle/>
          <a:p>
            <a:pPr indent="-142494" lvl="0" marL="142494" marR="0" rtl="0" algn="l">
              <a:lnSpc>
                <a:spcPct val="145000"/>
              </a:lnSpc>
              <a:spcBef>
                <a:spcPts val="0"/>
              </a:spcBef>
              <a:spcAft>
                <a:spcPts val="0"/>
              </a:spcAft>
              <a:buClr>
                <a:srgbClr val="57514A"/>
              </a:buClr>
              <a:buSzPts val="1200"/>
              <a:buFont typeface="Times New Roman"/>
              <a:buChar char="•"/>
            </a:pPr>
            <a:r>
              <a:rPr b="0" i="0" lang="en-US" sz="1200" u="none" cap="none" strike="noStrike">
                <a:solidFill>
                  <a:srgbClr val="57514A"/>
                </a:solidFill>
                <a:latin typeface="Times New Roman"/>
                <a:ea typeface="Times New Roman"/>
                <a:cs typeface="Times New Roman"/>
                <a:sym typeface="Times New Roman"/>
              </a:rPr>
              <a:t>Board 24 × 48 in, 6 in hole</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5000"/>
              </a:lnSpc>
              <a:spcBef>
                <a:spcPts val="0"/>
              </a:spcBef>
              <a:spcAft>
                <a:spcPts val="0"/>
              </a:spcAft>
              <a:buClr>
                <a:srgbClr val="57514A"/>
              </a:buClr>
              <a:buSzPts val="1200"/>
              <a:buFont typeface="Times New Roman"/>
              <a:buChar char="•"/>
            </a:pPr>
            <a:r>
              <a:rPr b="0" i="0" lang="en-US" sz="1200" u="none" cap="none" strike="noStrike">
                <a:solidFill>
                  <a:srgbClr val="57514A"/>
                </a:solidFill>
                <a:latin typeface="Times New Roman"/>
                <a:ea typeface="Times New Roman"/>
                <a:cs typeface="Times New Roman"/>
                <a:sym typeface="Times New Roman"/>
              </a:rPr>
              <a:t>Boards 27 ft apart</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5000"/>
              </a:lnSpc>
              <a:spcBef>
                <a:spcPts val="0"/>
              </a:spcBef>
              <a:spcAft>
                <a:spcPts val="0"/>
              </a:spcAft>
              <a:buClr>
                <a:srgbClr val="57514A"/>
              </a:buClr>
              <a:buSzPts val="1200"/>
              <a:buFont typeface="Times New Roman"/>
              <a:buChar char="•"/>
            </a:pPr>
            <a:r>
              <a:rPr b="0" i="0" lang="en-US" sz="1200" u="none" cap="none" strike="noStrike">
                <a:solidFill>
                  <a:srgbClr val="57514A"/>
                </a:solidFill>
                <a:latin typeface="Times New Roman"/>
                <a:ea typeface="Times New Roman"/>
                <a:cs typeface="Times New Roman"/>
                <a:sym typeface="Times New Roman"/>
              </a:rPr>
              <a:t>Hole 3, board 1, off 0</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5000"/>
              </a:lnSpc>
              <a:spcBef>
                <a:spcPts val="0"/>
              </a:spcBef>
              <a:spcAft>
                <a:spcPts val="0"/>
              </a:spcAft>
              <a:buClr>
                <a:srgbClr val="57514A"/>
              </a:buClr>
              <a:buSzPts val="1200"/>
              <a:buFont typeface="Times New Roman"/>
              <a:buChar char="•"/>
            </a:pPr>
            <a:r>
              <a:rPr b="0" i="0" lang="en-US" sz="1200" u="none" cap="none" strike="noStrike">
                <a:solidFill>
                  <a:srgbClr val="57514A"/>
                </a:solidFill>
                <a:latin typeface="Times New Roman"/>
                <a:ea typeface="Times New Roman"/>
                <a:cs typeface="Times New Roman"/>
                <a:sym typeface="Times New Roman"/>
              </a:rPr>
              <a:t>PPR = points per 4-bag round</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5000"/>
              </a:lnSpc>
              <a:spcBef>
                <a:spcPts val="0"/>
              </a:spcBef>
              <a:spcAft>
                <a:spcPts val="0"/>
              </a:spcAft>
              <a:buClr>
                <a:srgbClr val="57514A"/>
              </a:buClr>
              <a:buSzPts val="1200"/>
              <a:buFont typeface="Times New Roman"/>
              <a:buChar char="•"/>
            </a:pPr>
            <a:r>
              <a:rPr b="0" i="0" lang="en-US" sz="1200" u="none" cap="none" strike="noStrike">
                <a:solidFill>
                  <a:srgbClr val="57514A"/>
                </a:solidFill>
                <a:latin typeface="Times New Roman"/>
                <a:ea typeface="Times New Roman"/>
                <a:cs typeface="Times New Roman"/>
                <a:sym typeface="Times New Roman"/>
              </a:rPr>
              <a:t>Underhand pendulum throw</a:t>
            </a:r>
            <a:endParaRPr b="0" i="0" sz="1200" u="none" cap="none" strike="noStrike">
              <a:solidFill>
                <a:schemeClr val="dk1"/>
              </a:solidFill>
              <a:latin typeface="Times New Roman"/>
              <a:ea typeface="Times New Roman"/>
              <a:cs typeface="Times New Roman"/>
              <a:sym typeface="Times New Roman"/>
            </a:endParaRPr>
          </a:p>
        </p:txBody>
      </p:sp>
      <p:sp>
        <p:nvSpPr>
          <p:cNvPr id="80" name="Google Shape;80;p3"/>
          <p:cNvSpPr/>
          <p:nvPr/>
        </p:nvSpPr>
        <p:spPr>
          <a:xfrm>
            <a:off x="1028700" y="4439841"/>
            <a:ext cx="3479546"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Once the bag leaves the hand, its </a:t>
            </a:r>
            <a:r>
              <a:rPr b="1" i="0" lang="en-US" sz="1200" u="none" cap="none" strike="noStrike">
                <a:solidFill>
                  <a:srgbClr val="1C1A17"/>
                </a:solidFill>
                <a:latin typeface="Times New Roman"/>
                <a:ea typeface="Times New Roman"/>
                <a:cs typeface="Times New Roman"/>
                <a:sym typeface="Times New Roman"/>
              </a:rPr>
              <a:t>release speed, angle and height</a:t>
            </a:r>
            <a:r>
              <a:rPr b="0" i="0" lang="en-US" sz="1200" u="none" cap="none" strike="noStrike">
                <a:solidFill>
                  <a:srgbClr val="57514A"/>
                </a:solidFill>
                <a:latin typeface="Times New Roman"/>
                <a:ea typeface="Times New Roman"/>
                <a:cs typeface="Times New Roman"/>
                <a:sym typeface="Times New Roman"/>
              </a:rPr>
              <a:t> decide the flight.</a:t>
            </a:r>
            <a:endParaRPr b="0" i="0" sz="1200" u="none" cap="none" strike="noStrike">
              <a:solidFill>
                <a:schemeClr val="dk1"/>
              </a:solidFill>
              <a:latin typeface="Times New Roman"/>
              <a:ea typeface="Times New Roman"/>
              <a:cs typeface="Times New Roman"/>
              <a:sym typeface="Times New Roman"/>
            </a:endParaRPr>
          </a:p>
        </p:txBody>
      </p:sp>
      <p:cxnSp>
        <p:nvCxnSpPr>
          <p:cNvPr id="81" name="Google Shape;81;p3"/>
          <p:cNvCxnSpPr/>
          <p:nvPr/>
        </p:nvCxnSpPr>
        <p:spPr>
          <a:xfrm>
            <a:off x="4940300" y="1597620"/>
            <a:ext cx="0" cy="452041"/>
          </a:xfrm>
          <a:prstGeom prst="straightConnector1">
            <a:avLst/>
          </a:prstGeom>
          <a:noFill/>
          <a:ln cap="flat" cmpd="sng" w="25400">
            <a:solidFill>
              <a:srgbClr val="B8913F"/>
            </a:solidFill>
            <a:prstDash val="solid"/>
            <a:round/>
            <a:headEnd len="sm" w="sm" type="none"/>
            <a:tailEnd len="sm" w="sm" type="none"/>
          </a:ln>
        </p:spPr>
      </p:cxnSp>
      <p:sp>
        <p:nvSpPr>
          <p:cNvPr id="82" name="Google Shape;82;p3"/>
          <p:cNvSpPr/>
          <p:nvPr/>
        </p:nvSpPr>
        <p:spPr>
          <a:xfrm>
            <a:off x="5105400" y="1597620"/>
            <a:ext cx="646201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Small differences are invisible</a:t>
            </a:r>
            <a:endParaRPr b="0" i="0" sz="1400" u="none" cap="none" strike="noStrike">
              <a:solidFill>
                <a:schemeClr val="dk1"/>
              </a:solidFill>
              <a:latin typeface="Times New Roman"/>
              <a:ea typeface="Times New Roman"/>
              <a:cs typeface="Times New Roman"/>
              <a:sym typeface="Times New Roman"/>
            </a:endParaRPr>
          </a:p>
        </p:txBody>
      </p:sp>
      <p:sp>
        <p:nvSpPr>
          <p:cNvPr id="83" name="Google Shape;83;p3"/>
          <p:cNvSpPr/>
          <p:nvPr/>
        </p:nvSpPr>
        <p:spPr>
          <a:xfrm>
            <a:off x="5105400" y="1836341"/>
            <a:ext cx="646201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A release just 0.1 m/s faster lands about 13 cm (5 in) farther. No one can see 0.1 m/s.</a:t>
            </a:r>
            <a:endParaRPr b="0" i="0" sz="1200" u="none" cap="none" strike="noStrike">
              <a:solidFill>
                <a:schemeClr val="dk1"/>
              </a:solidFill>
              <a:latin typeface="Times New Roman"/>
              <a:ea typeface="Times New Roman"/>
              <a:cs typeface="Times New Roman"/>
              <a:sym typeface="Times New Roman"/>
            </a:endParaRPr>
          </a:p>
        </p:txBody>
      </p:sp>
      <p:cxnSp>
        <p:nvCxnSpPr>
          <p:cNvPr id="84" name="Google Shape;84;p3"/>
          <p:cNvCxnSpPr/>
          <p:nvPr/>
        </p:nvCxnSpPr>
        <p:spPr>
          <a:xfrm>
            <a:off x="4940300" y="2202061"/>
            <a:ext cx="0" cy="452041"/>
          </a:xfrm>
          <a:prstGeom prst="straightConnector1">
            <a:avLst/>
          </a:prstGeom>
          <a:noFill/>
          <a:ln cap="flat" cmpd="sng" w="25400">
            <a:solidFill>
              <a:srgbClr val="B8913F"/>
            </a:solidFill>
            <a:prstDash val="solid"/>
            <a:round/>
            <a:headEnd len="sm" w="sm" type="none"/>
            <a:tailEnd len="sm" w="sm" type="none"/>
          </a:ln>
        </p:spPr>
      </p:cxnSp>
      <p:sp>
        <p:nvSpPr>
          <p:cNvPr id="85" name="Google Shape;85;p3"/>
          <p:cNvSpPr/>
          <p:nvPr/>
        </p:nvSpPr>
        <p:spPr>
          <a:xfrm>
            <a:off x="5105400" y="2202061"/>
            <a:ext cx="646201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The same miss can have different causes</a:t>
            </a:r>
            <a:endParaRPr b="0" i="0" sz="1400" u="none" cap="none" strike="noStrike">
              <a:solidFill>
                <a:schemeClr val="dk1"/>
              </a:solidFill>
              <a:latin typeface="Times New Roman"/>
              <a:ea typeface="Times New Roman"/>
              <a:cs typeface="Times New Roman"/>
              <a:sym typeface="Times New Roman"/>
            </a:endParaRPr>
          </a:p>
        </p:txBody>
      </p:sp>
      <p:sp>
        <p:nvSpPr>
          <p:cNvPr id="86" name="Google Shape;86;p3"/>
          <p:cNvSpPr/>
          <p:nvPr/>
        </p:nvSpPr>
        <p:spPr>
          <a:xfrm>
            <a:off x="5105400" y="2440781"/>
            <a:ext cx="646201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Short can mean a soft release or a short slide. Each needs a different fix.</a:t>
            </a:r>
            <a:endParaRPr b="0" i="0" sz="1200" u="none" cap="none" strike="noStrike">
              <a:solidFill>
                <a:schemeClr val="dk1"/>
              </a:solidFill>
              <a:latin typeface="Times New Roman"/>
              <a:ea typeface="Times New Roman"/>
              <a:cs typeface="Times New Roman"/>
              <a:sym typeface="Times New Roman"/>
            </a:endParaRPr>
          </a:p>
        </p:txBody>
      </p:sp>
      <p:cxnSp>
        <p:nvCxnSpPr>
          <p:cNvPr id="87" name="Google Shape;87;p3"/>
          <p:cNvCxnSpPr/>
          <p:nvPr/>
        </p:nvCxnSpPr>
        <p:spPr>
          <a:xfrm>
            <a:off x="4940300" y="2806502"/>
            <a:ext cx="0" cy="452041"/>
          </a:xfrm>
          <a:prstGeom prst="straightConnector1">
            <a:avLst/>
          </a:prstGeom>
          <a:noFill/>
          <a:ln cap="flat" cmpd="sng" w="25400">
            <a:solidFill>
              <a:srgbClr val="B8913F"/>
            </a:solidFill>
            <a:prstDash val="solid"/>
            <a:round/>
            <a:headEnd len="sm" w="sm" type="none"/>
            <a:tailEnd len="sm" w="sm" type="none"/>
          </a:ln>
        </p:spPr>
      </p:cxnSp>
      <p:sp>
        <p:nvSpPr>
          <p:cNvPr id="88" name="Google Shape;88;p3"/>
          <p:cNvSpPr/>
          <p:nvPr/>
        </p:nvSpPr>
        <p:spPr>
          <a:xfrm>
            <a:off x="5105400" y="2806502"/>
            <a:ext cx="646201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Noise looks like signal</a:t>
            </a:r>
            <a:endParaRPr b="0" i="0" sz="1400" u="none" cap="none" strike="noStrike">
              <a:solidFill>
                <a:schemeClr val="dk1"/>
              </a:solidFill>
              <a:latin typeface="Times New Roman"/>
              <a:ea typeface="Times New Roman"/>
              <a:cs typeface="Times New Roman"/>
              <a:sym typeface="Times New Roman"/>
            </a:endParaRPr>
          </a:p>
        </p:txBody>
      </p:sp>
      <p:sp>
        <p:nvSpPr>
          <p:cNvPr id="89" name="Google Shape;89;p3"/>
          <p:cNvSpPr/>
          <p:nvPr/>
        </p:nvSpPr>
        <p:spPr>
          <a:xfrm>
            <a:off x="5105400" y="3045222"/>
            <a:ext cx="646201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Every throw varies a little. Reacting to random variation leads to over-coaching.</a:t>
            </a:r>
            <a:endParaRPr b="0" i="0" sz="1200" u="none" cap="none" strike="noStrike">
              <a:solidFill>
                <a:schemeClr val="dk1"/>
              </a:solidFill>
              <a:latin typeface="Times New Roman"/>
              <a:ea typeface="Times New Roman"/>
              <a:cs typeface="Times New Roman"/>
              <a:sym typeface="Times New Roman"/>
            </a:endParaRPr>
          </a:p>
        </p:txBody>
      </p:sp>
      <p:sp>
        <p:nvSpPr>
          <p:cNvPr id="90" name="Google Shape;90;p3"/>
          <p:cNvSpPr/>
          <p:nvPr/>
        </p:nvSpPr>
        <p:spPr>
          <a:xfrm>
            <a:off x="4927600" y="3919141"/>
            <a:ext cx="6451600" cy="1163241"/>
          </a:xfrm>
          <a:prstGeom prst="roundRect">
            <a:avLst>
              <a:gd fmla="val 6551"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5156200" y="4096941"/>
            <a:ext cx="617423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THE COACH'S QUESTION</a:t>
            </a:r>
            <a:endParaRPr b="0" i="0" sz="1200" u="none" cap="none" strike="noStrike">
              <a:solidFill>
                <a:schemeClr val="dk1"/>
              </a:solidFill>
              <a:latin typeface="Times New Roman"/>
              <a:ea typeface="Times New Roman"/>
              <a:cs typeface="Times New Roman"/>
              <a:sym typeface="Times New Roman"/>
            </a:endParaRPr>
          </a:p>
        </p:txBody>
      </p:sp>
      <p:sp>
        <p:nvSpPr>
          <p:cNvPr id="92" name="Google Shape;92;p3"/>
          <p:cNvSpPr/>
          <p:nvPr/>
        </p:nvSpPr>
        <p:spPr>
          <a:xfrm>
            <a:off x="5156200" y="4310261"/>
            <a:ext cx="6174232" cy="6197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3EEE4"/>
              </a:buClr>
              <a:buSzPts val="1800"/>
              <a:buFont typeface="Times New Roman"/>
              <a:buNone/>
            </a:pPr>
            <a:r>
              <a:rPr b="0" i="0" lang="en-US" sz="1800" u="none" cap="none" strike="noStrike">
                <a:solidFill>
                  <a:srgbClr val="F3EEE4"/>
                </a:solidFill>
                <a:latin typeface="Times New Roman"/>
                <a:ea typeface="Times New Roman"/>
                <a:cs typeface="Times New Roman"/>
                <a:sym typeface="Times New Roman"/>
              </a:rPr>
              <a:t>Which part of the throw caused this miss, and is the difference real or just noise?</a:t>
            </a:r>
            <a:endParaRPr b="0" i="0" sz="1800" u="none" cap="none" strike="noStrike">
              <a:solidFill>
                <a:schemeClr val="dk1"/>
              </a:solidFill>
              <a:latin typeface="Times New Roman"/>
              <a:ea typeface="Times New Roman"/>
              <a:cs typeface="Times New Roman"/>
              <a:sym typeface="Times New Roman"/>
            </a:endParaRPr>
          </a:p>
        </p:txBody>
      </p:sp>
      <p:sp>
        <p:nvSpPr>
          <p:cNvPr id="93" name="Google Shape;93;p3"/>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94" name="Google Shape;94;p3"/>
          <p:cNvSpPr/>
          <p:nvPr/>
        </p:nvSpPr>
        <p:spPr>
          <a:xfrm>
            <a:off x="9982240" y="6238280"/>
            <a:ext cx="139696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Emily Park · 3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99" name="Shape 99"/>
        <p:cNvGrpSpPr/>
        <p:nvPr/>
      </p:nvGrpSpPr>
      <p:grpSpPr>
        <a:xfrm>
          <a:off x="0" y="0"/>
          <a:ext cx="0" cy="0"/>
          <a:chOff x="0" y="0"/>
          <a:chExt cx="0" cy="0"/>
        </a:xfrm>
      </p:grpSpPr>
      <p:sp>
        <p:nvSpPr>
          <p:cNvPr id="100" name="Google Shape;100;p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2 · OUR SOLUTION AND WHY</a:t>
            </a:r>
            <a:endParaRPr b="0" i="0" sz="1200" u="none" cap="none" strike="noStrike">
              <a:solidFill>
                <a:schemeClr val="dk1"/>
              </a:solidFill>
              <a:latin typeface="Times New Roman"/>
              <a:ea typeface="Times New Roman"/>
              <a:cs typeface="Times New Roman"/>
              <a:sym typeface="Times New Roman"/>
            </a:endParaRPr>
          </a:p>
        </p:txBody>
      </p:sp>
      <p:sp>
        <p:nvSpPr>
          <p:cNvPr id="101" name="Google Shape;101;p4"/>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Two phones, one Mac app, no sensors on the bag</a:t>
            </a:r>
            <a:endParaRPr sz="3000"/>
          </a:p>
        </p:txBody>
      </p:sp>
      <p:pic>
        <p:nvPicPr>
          <p:cNvPr descr="Top-down set-up: athlete in the pitcher's box throwing toward the board; a side phone beside the lane films the throw plane; a front phone behind the board films back toward the athlete; a laptop runs the app" id="102" name="Google Shape;102;p4"/>
          <p:cNvPicPr preferRelativeResize="0"/>
          <p:nvPr/>
        </p:nvPicPr>
        <p:blipFill rotWithShape="1">
          <a:blip r:embed="rId3">
            <a:alphaModFix/>
          </a:blip>
          <a:srcRect b="0" l="0" r="0" t="0"/>
          <a:stretch/>
        </p:blipFill>
        <p:spPr>
          <a:xfrm>
            <a:off x="812800" y="1597620"/>
            <a:ext cx="4826000" cy="3556000"/>
          </a:xfrm>
          <a:prstGeom prst="rect">
            <a:avLst/>
          </a:prstGeom>
          <a:noFill/>
          <a:ln>
            <a:noFill/>
          </a:ln>
        </p:spPr>
      </p:pic>
      <p:sp>
        <p:nvSpPr>
          <p:cNvPr id="103" name="Google Shape;103;p4"/>
          <p:cNvSpPr/>
          <p:nvPr/>
        </p:nvSpPr>
        <p:spPr>
          <a:xfrm>
            <a:off x="1219200" y="2727920"/>
            <a:ext cx="812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Athlete</a:t>
            </a:r>
            <a:endParaRPr b="0" i="0" sz="1200" u="none" cap="none" strike="noStrike">
              <a:solidFill>
                <a:schemeClr val="dk1"/>
              </a:solidFill>
              <a:latin typeface="Times New Roman"/>
              <a:ea typeface="Times New Roman"/>
              <a:cs typeface="Times New Roman"/>
              <a:sym typeface="Times New Roman"/>
            </a:endParaRPr>
          </a:p>
        </p:txBody>
      </p:sp>
      <p:sp>
        <p:nvSpPr>
          <p:cNvPr id="104" name="Google Shape;104;p4"/>
          <p:cNvSpPr/>
          <p:nvPr/>
        </p:nvSpPr>
        <p:spPr>
          <a:xfrm>
            <a:off x="3302000" y="4531320"/>
            <a:ext cx="1574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z="1200" u="none" cap="none" strike="noStrike">
                <a:solidFill>
                  <a:srgbClr val="2F5D8A"/>
                </a:solidFill>
                <a:latin typeface="Times New Roman"/>
                <a:ea typeface="Times New Roman"/>
                <a:cs typeface="Times New Roman"/>
                <a:sym typeface="Times New Roman"/>
              </a:rPr>
              <a:t>Side phone (60 fps)</a:t>
            </a:r>
            <a:endParaRPr b="0" i="0" sz="1200" u="none" cap="none" strike="noStrike">
              <a:solidFill>
                <a:schemeClr val="dk1"/>
              </a:solidFill>
              <a:latin typeface="Times New Roman"/>
              <a:ea typeface="Times New Roman"/>
              <a:cs typeface="Times New Roman"/>
              <a:sym typeface="Times New Roman"/>
            </a:endParaRPr>
          </a:p>
        </p:txBody>
      </p:sp>
      <p:sp>
        <p:nvSpPr>
          <p:cNvPr id="105" name="Google Shape;105;p4"/>
          <p:cNvSpPr/>
          <p:nvPr/>
        </p:nvSpPr>
        <p:spPr>
          <a:xfrm>
            <a:off x="4368800" y="3693120"/>
            <a:ext cx="1257300"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Front phone (30 fps)</a:t>
            </a:r>
            <a:endParaRPr b="0" i="0" sz="1200" u="none" cap="none" strike="noStrike">
              <a:solidFill>
                <a:schemeClr val="dk1"/>
              </a:solidFill>
              <a:latin typeface="Times New Roman"/>
              <a:ea typeface="Times New Roman"/>
              <a:cs typeface="Times New Roman"/>
              <a:sym typeface="Times New Roman"/>
            </a:endParaRPr>
          </a:p>
        </p:txBody>
      </p:sp>
      <p:sp>
        <p:nvSpPr>
          <p:cNvPr id="106" name="Google Shape;106;p4"/>
          <p:cNvSpPr/>
          <p:nvPr/>
        </p:nvSpPr>
        <p:spPr>
          <a:xfrm>
            <a:off x="2146300" y="4391620"/>
            <a:ext cx="812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Mac app</a:t>
            </a:r>
            <a:endParaRPr b="0" i="0" sz="1200" u="none" cap="none" strike="noStrike">
              <a:solidFill>
                <a:schemeClr val="dk1"/>
              </a:solidFill>
              <a:latin typeface="Times New Roman"/>
              <a:ea typeface="Times New Roman"/>
              <a:cs typeface="Times New Roman"/>
              <a:sym typeface="Times New Roman"/>
            </a:endParaRPr>
          </a:p>
        </p:txBody>
      </p:sp>
      <p:graphicFrame>
        <p:nvGraphicFramePr>
          <p:cNvPr id="107" name="Google Shape;107;p4"/>
          <p:cNvGraphicFramePr/>
          <p:nvPr/>
        </p:nvGraphicFramePr>
        <p:xfrm>
          <a:off x="5956300" y="1610320"/>
          <a:ext cx="3000000" cy="3000000"/>
        </p:xfrm>
        <a:graphic>
          <a:graphicData uri="http://schemas.openxmlformats.org/drawingml/2006/table">
            <a:tbl>
              <a:tblPr>
                <a:noFill/>
                <a:tableStyleId>{E2BBD6A1-547E-441A-B601-4AAEDF4CFED8}</a:tableStyleId>
              </a:tblPr>
              <a:tblGrid>
                <a:gridCol w="1518400"/>
                <a:gridCol w="3904500"/>
              </a:tblGrid>
              <a:tr h="332575">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What we use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Details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1A1916"/>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Cameras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2 iPhones on tripods: side (60 fps) and front (30 fps)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App</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Native macOS app (SwiftUI) with a Python analysis engine; runs fully on the Mac</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Body model</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Open-source Sports2D / RTMPose, 26 body points per frame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Coach gets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One sentence per throw, automatic hole / board / off, athlete report</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bl>
          </a:graphicData>
        </a:graphic>
      </p:graphicFrame>
      <p:sp>
        <p:nvSpPr>
          <p:cNvPr id="108" name="Google Shape;108;p4"/>
          <p:cNvSpPr/>
          <p:nvPr/>
        </p:nvSpPr>
        <p:spPr>
          <a:xfrm>
            <a:off x="5943600" y="4065588"/>
            <a:ext cx="559866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Why not the alternatives?</a:t>
            </a:r>
            <a:endParaRPr b="0" i="0" sz="1400" u="none" cap="none" strike="noStrike">
              <a:solidFill>
                <a:schemeClr val="dk1"/>
              </a:solidFill>
              <a:latin typeface="Times New Roman"/>
              <a:ea typeface="Times New Roman"/>
              <a:cs typeface="Times New Roman"/>
              <a:sym typeface="Times New Roman"/>
            </a:endParaRPr>
          </a:p>
        </p:txBody>
      </p:sp>
      <p:sp>
        <p:nvSpPr>
          <p:cNvPr id="109" name="Google Shape;109;p4"/>
          <p:cNvSpPr/>
          <p:nvPr/>
        </p:nvSpPr>
        <p:spPr>
          <a:xfrm>
            <a:off x="5949950" y="4437658"/>
            <a:ext cx="2667000" cy="601861"/>
          </a:xfrm>
          <a:prstGeom prst="roundRect">
            <a:avLst>
              <a:gd fmla="val 9496" name="adj"/>
            </a:avLst>
          </a:prstGeom>
          <a:solidFill>
            <a:srgbClr val="FFFEFB"/>
          </a:solidFill>
          <a:ln cap="flat" cmpd="sng" w="12700">
            <a:solidFill>
              <a:srgbClr val="E3DCCF"/>
            </a:solidFill>
            <a:prstDash val="solid"/>
            <a:round/>
            <a:headEnd len="sm" w="sm" type="none"/>
            <a:tailEnd len="sm" w="sm" type="none"/>
          </a:ln>
        </p:spPr>
        <p:txBody>
          <a:bodyPr anchorCtr="0" anchor="t" bIns="53100" lIns="103900" spcFirstLastPara="1" rIns="31125" wrap="square" tIns="785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Motion-capture lab:</a:t>
            </a:r>
            <a:r>
              <a:rPr b="0" i="0" lang="en-US" sz="1200" u="none" cap="none" strike="noStrike">
                <a:solidFill>
                  <a:srgbClr val="57514A"/>
                </a:solidFill>
                <a:latin typeface="Times New Roman"/>
                <a:ea typeface="Times New Roman"/>
                <a:cs typeface="Times New Roman"/>
                <a:sym typeface="Times New Roman"/>
              </a:rPr>
              <a:t> accurate, but not at practice</a:t>
            </a:r>
            <a:endParaRPr b="0" i="0" sz="1200" u="none" cap="none" strike="noStrike">
              <a:solidFill>
                <a:schemeClr val="dk1"/>
              </a:solidFill>
              <a:latin typeface="Times New Roman"/>
              <a:ea typeface="Times New Roman"/>
              <a:cs typeface="Times New Roman"/>
              <a:sym typeface="Times New Roman"/>
            </a:endParaRPr>
          </a:p>
        </p:txBody>
      </p:sp>
      <p:sp>
        <p:nvSpPr>
          <p:cNvPr id="110" name="Google Shape;110;p4"/>
          <p:cNvSpPr/>
          <p:nvPr/>
        </p:nvSpPr>
        <p:spPr>
          <a:xfrm>
            <a:off x="8705850" y="4437658"/>
            <a:ext cx="2667000" cy="601861"/>
          </a:xfrm>
          <a:prstGeom prst="roundRect">
            <a:avLst>
              <a:gd fmla="val 9496" name="adj"/>
            </a:avLst>
          </a:prstGeom>
          <a:solidFill>
            <a:srgbClr val="FFFEFB"/>
          </a:solidFill>
          <a:ln cap="flat" cmpd="sng" w="12700">
            <a:solidFill>
              <a:srgbClr val="E3DCCF"/>
            </a:solidFill>
            <a:prstDash val="solid"/>
            <a:round/>
            <a:headEnd len="sm" w="sm" type="none"/>
            <a:tailEnd len="sm" w="sm" type="none"/>
          </a:ln>
        </p:spPr>
        <p:txBody>
          <a:bodyPr anchorCtr="0" anchor="t" bIns="53100" lIns="103900" spcFirstLastPara="1" rIns="31125" wrap="square" tIns="785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Wearable sensors:</a:t>
            </a:r>
            <a:r>
              <a:rPr b="0" i="0" lang="en-US" sz="1200" u="none" cap="none" strike="noStrike">
                <a:solidFill>
                  <a:srgbClr val="57514A"/>
                </a:solidFill>
                <a:latin typeface="Times New Roman"/>
                <a:ea typeface="Times New Roman"/>
                <a:cs typeface="Times New Roman"/>
                <a:sym typeface="Times New Roman"/>
              </a:rPr>
              <a:t> see the arm, not the bag</a:t>
            </a:r>
            <a:endParaRPr b="0" i="0" sz="1200" u="none" cap="none" strike="noStrike">
              <a:solidFill>
                <a:schemeClr val="dk1"/>
              </a:solidFill>
              <a:latin typeface="Times New Roman"/>
              <a:ea typeface="Times New Roman"/>
              <a:cs typeface="Times New Roman"/>
              <a:sym typeface="Times New Roman"/>
            </a:endParaRPr>
          </a:p>
        </p:txBody>
      </p:sp>
      <p:sp>
        <p:nvSpPr>
          <p:cNvPr id="111" name="Google Shape;111;p4"/>
          <p:cNvSpPr/>
          <p:nvPr/>
        </p:nvSpPr>
        <p:spPr>
          <a:xfrm>
            <a:off x="5949950" y="5128419"/>
            <a:ext cx="2667000" cy="601861"/>
          </a:xfrm>
          <a:prstGeom prst="roundRect">
            <a:avLst>
              <a:gd fmla="val 9496" name="adj"/>
            </a:avLst>
          </a:prstGeom>
          <a:solidFill>
            <a:srgbClr val="FFFEFB"/>
          </a:solidFill>
          <a:ln cap="flat" cmpd="sng" w="12700">
            <a:solidFill>
              <a:srgbClr val="E3DCCF"/>
            </a:solidFill>
            <a:prstDash val="solid"/>
            <a:round/>
            <a:headEnd len="sm" w="sm" type="none"/>
            <a:tailEnd len="sm" w="sm" type="none"/>
          </a:ln>
        </p:spPr>
        <p:txBody>
          <a:bodyPr anchorCtr="0" anchor="t" bIns="53100" lIns="103900" spcFirstLastPara="1" rIns="31125" wrap="square" tIns="785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Sensor in the bag:</a:t>
            </a:r>
            <a:r>
              <a:rPr b="0" i="0" lang="en-US" sz="1200" u="none" cap="none" strike="noStrike">
                <a:solidFill>
                  <a:srgbClr val="57514A"/>
                </a:solidFill>
                <a:latin typeface="Times New Roman"/>
                <a:ea typeface="Times New Roman"/>
                <a:cs typeface="Times New Roman"/>
                <a:sym typeface="Times New Roman"/>
              </a:rPr>
              <a:t> not allowed by the brief</a:t>
            </a:r>
            <a:endParaRPr b="0" i="0" sz="1200" u="none" cap="none" strike="noStrike">
              <a:solidFill>
                <a:schemeClr val="dk1"/>
              </a:solidFill>
              <a:latin typeface="Times New Roman"/>
              <a:ea typeface="Times New Roman"/>
              <a:cs typeface="Times New Roman"/>
              <a:sym typeface="Times New Roman"/>
            </a:endParaRPr>
          </a:p>
        </p:txBody>
      </p:sp>
      <p:sp>
        <p:nvSpPr>
          <p:cNvPr id="112" name="Google Shape;112;p4"/>
          <p:cNvSpPr/>
          <p:nvPr/>
        </p:nvSpPr>
        <p:spPr>
          <a:xfrm>
            <a:off x="8705850" y="5128419"/>
            <a:ext cx="2667000" cy="601861"/>
          </a:xfrm>
          <a:prstGeom prst="roundRect">
            <a:avLst>
              <a:gd fmla="val 9496" name="adj"/>
            </a:avLst>
          </a:prstGeom>
          <a:solidFill>
            <a:srgbClr val="FFFEFB"/>
          </a:solidFill>
          <a:ln cap="flat" cmpd="sng" w="12700">
            <a:solidFill>
              <a:srgbClr val="E3DCCF"/>
            </a:solidFill>
            <a:prstDash val="solid"/>
            <a:round/>
            <a:headEnd len="sm" w="sm" type="none"/>
            <a:tailEnd len="sm" w="sm" type="none"/>
          </a:ln>
        </p:spPr>
        <p:txBody>
          <a:bodyPr anchorCtr="0" anchor="t" bIns="53100" lIns="103900" spcFirstLastPara="1" rIns="31125" wrap="square" tIns="785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Scoring sheet:</a:t>
            </a:r>
            <a:r>
              <a:rPr b="0" i="0" lang="en-US" sz="1200" u="none" cap="none" strike="noStrike">
                <a:solidFill>
                  <a:srgbClr val="57514A"/>
                </a:solidFill>
                <a:latin typeface="Times New Roman"/>
                <a:ea typeface="Times New Roman"/>
                <a:cs typeface="Times New Roman"/>
                <a:sym typeface="Times New Roman"/>
              </a:rPr>
              <a:t> outcome only, no cause</a:t>
            </a:r>
            <a:endParaRPr b="0" i="0" sz="1200" u="none" cap="none" strike="noStrike">
              <a:solidFill>
                <a:schemeClr val="dk1"/>
              </a:solidFill>
              <a:latin typeface="Times New Roman"/>
              <a:ea typeface="Times New Roman"/>
              <a:cs typeface="Times New Roman"/>
              <a:sym typeface="Times New Roman"/>
            </a:endParaRPr>
          </a:p>
        </p:txBody>
      </p:sp>
      <p:sp>
        <p:nvSpPr>
          <p:cNvPr id="113" name="Google Shape;113;p4"/>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114" name="Google Shape;114;p4"/>
          <p:cNvSpPr/>
          <p:nvPr/>
        </p:nvSpPr>
        <p:spPr>
          <a:xfrm>
            <a:off x="9982240" y="6238280"/>
            <a:ext cx="139696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Emily Park · 4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19" name="Shape 119"/>
        <p:cNvGrpSpPr/>
        <p:nvPr/>
      </p:nvGrpSpPr>
      <p:grpSpPr>
        <a:xfrm>
          <a:off x="0" y="0"/>
          <a:ext cx="0" cy="0"/>
          <a:chOff x="0" y="0"/>
          <a:chExt cx="0" cy="0"/>
        </a:xfrm>
      </p:grpSpPr>
      <p:sp>
        <p:nvSpPr>
          <p:cNvPr id="120" name="Google Shape;120;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2 · THE METRICS WE CHOSE</a:t>
            </a:r>
            <a:endParaRPr b="0" i="0" sz="1200" u="none" cap="none" strike="noStrike">
              <a:solidFill>
                <a:schemeClr val="dk1"/>
              </a:solidFill>
              <a:latin typeface="Times New Roman"/>
              <a:ea typeface="Times New Roman"/>
              <a:cs typeface="Times New Roman"/>
              <a:sym typeface="Times New Roman"/>
            </a:endParaRPr>
          </a:p>
        </p:txBody>
      </p:sp>
      <p:sp>
        <p:nvSpPr>
          <p:cNvPr id="121" name="Google Shape;121;p5"/>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Every metric is a link from the body to the score</a:t>
            </a:r>
            <a:endParaRPr sz="3000"/>
          </a:p>
        </p:txBody>
      </p:sp>
      <p:sp>
        <p:nvSpPr>
          <p:cNvPr id="122" name="Google Shape;122;p5"/>
          <p:cNvSpPr/>
          <p:nvPr/>
        </p:nvSpPr>
        <p:spPr>
          <a:xfrm>
            <a:off x="819150" y="1603970"/>
            <a:ext cx="2381250" cy="2815134"/>
          </a:xfrm>
          <a:prstGeom prst="roundRect">
            <a:avLst>
              <a:gd fmla="val 2933"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1003300" y="1762720"/>
            <a:ext cx="207333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1" i="0" lang="en-US" spc="100" sz="1200" u="none" cap="none" strike="noStrike">
                <a:solidFill>
                  <a:srgbClr val="57514A"/>
                </a:solidFill>
                <a:latin typeface="Times New Roman"/>
                <a:ea typeface="Times New Roman"/>
                <a:cs typeface="Times New Roman"/>
                <a:sym typeface="Times New Roman"/>
              </a:rPr>
              <a:t>1 · BODY</a:t>
            </a:r>
            <a:endParaRPr b="0" i="0" sz="1200" u="none" cap="none" strike="noStrike">
              <a:solidFill>
                <a:schemeClr val="dk1"/>
              </a:solidFill>
              <a:latin typeface="Times New Roman"/>
              <a:ea typeface="Times New Roman"/>
              <a:cs typeface="Times New Roman"/>
              <a:sym typeface="Times New Roman"/>
            </a:endParaRPr>
          </a:p>
        </p:txBody>
      </p:sp>
      <p:sp>
        <p:nvSpPr>
          <p:cNvPr id="124" name="Google Shape;124;p5"/>
          <p:cNvSpPr/>
          <p:nvPr/>
        </p:nvSpPr>
        <p:spPr>
          <a:xfrm>
            <a:off x="1003300" y="2052241"/>
            <a:ext cx="207333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How the athlete moves</a:t>
            </a:r>
            <a:endParaRPr b="0" i="0" sz="1400" u="none" cap="none" strike="noStrike">
              <a:solidFill>
                <a:schemeClr val="dk1"/>
              </a:solidFill>
              <a:latin typeface="Times New Roman"/>
              <a:ea typeface="Times New Roman"/>
              <a:cs typeface="Times New Roman"/>
              <a:sym typeface="Times New Roman"/>
            </a:endParaRPr>
          </a:p>
        </p:txBody>
      </p:sp>
      <p:sp>
        <p:nvSpPr>
          <p:cNvPr id="125" name="Google Shape;125;p5"/>
          <p:cNvSpPr/>
          <p:nvPr/>
        </p:nvSpPr>
        <p:spPr>
          <a:xfrm>
            <a:off x="1114806" y="2341761"/>
            <a:ext cx="1954213" cy="1092002"/>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Backswing angle</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Forward-swing time, tempo</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Trunk lean at release</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Peak wrist speed</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Hand path sideways</a:t>
            </a:r>
            <a:endParaRPr b="0" i="0" sz="1200" u="none" cap="none" strike="noStrike">
              <a:solidFill>
                <a:schemeClr val="dk1"/>
              </a:solidFill>
              <a:latin typeface="Times New Roman"/>
              <a:ea typeface="Times New Roman"/>
              <a:cs typeface="Times New Roman"/>
              <a:sym typeface="Times New Roman"/>
            </a:endParaRPr>
          </a:p>
        </p:txBody>
      </p:sp>
      <p:cxnSp>
        <p:nvCxnSpPr>
          <p:cNvPr id="126" name="Google Shape;126;p5"/>
          <p:cNvCxnSpPr/>
          <p:nvPr/>
        </p:nvCxnSpPr>
        <p:spPr>
          <a:xfrm>
            <a:off x="1003300" y="3563938"/>
            <a:ext cx="2012950" cy="0"/>
          </a:xfrm>
          <a:prstGeom prst="straightConnector1">
            <a:avLst/>
          </a:prstGeom>
          <a:noFill/>
          <a:ln cap="flat" cmpd="sng" w="9525">
            <a:solidFill>
              <a:srgbClr val="E3DCCF"/>
            </a:solidFill>
            <a:prstDash val="solid"/>
            <a:round/>
            <a:headEnd len="sm" w="sm" type="none"/>
            <a:tailEnd len="sm" w="sm" type="none"/>
          </a:ln>
        </p:spPr>
      </p:cxnSp>
      <p:sp>
        <p:nvSpPr>
          <p:cNvPr id="127" name="Google Shape;127;p5"/>
          <p:cNvSpPr/>
          <p:nvPr/>
        </p:nvSpPr>
        <p:spPr>
          <a:xfrm>
            <a:off x="1003300" y="3643313"/>
            <a:ext cx="2073338" cy="642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Why:</a:t>
            </a:r>
            <a:r>
              <a:rPr b="0" i="0" lang="en-US" sz="1200" u="none" cap="none" strike="noStrike">
                <a:solidFill>
                  <a:srgbClr val="57514A"/>
                </a:solidFill>
                <a:latin typeface="Times New Roman"/>
                <a:ea typeface="Times New Roman"/>
                <a:cs typeface="Times New Roman"/>
                <a:sym typeface="Times New Roman"/>
              </a:rPr>
              <a:t> the body produces the release. Compared only with the athlete's own usual.</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128" name="Google Shape;128;p5"/>
          <p:cNvPicPr preferRelativeResize="0"/>
          <p:nvPr/>
        </p:nvPicPr>
        <p:blipFill rotWithShape="1">
          <a:blip r:embed="rId3">
            <a:alphaModFix/>
          </a:blip>
          <a:srcRect b="0" l="0" r="0" t="0"/>
          <a:stretch/>
        </p:blipFill>
        <p:spPr>
          <a:xfrm>
            <a:off x="3282950" y="2954338"/>
            <a:ext cx="177800" cy="114300"/>
          </a:xfrm>
          <a:prstGeom prst="rect">
            <a:avLst/>
          </a:prstGeom>
          <a:noFill/>
          <a:ln>
            <a:noFill/>
          </a:ln>
        </p:spPr>
      </p:pic>
      <p:sp>
        <p:nvSpPr>
          <p:cNvPr id="129" name="Google Shape;129;p5"/>
          <p:cNvSpPr/>
          <p:nvPr/>
        </p:nvSpPr>
        <p:spPr>
          <a:xfrm>
            <a:off x="3543300" y="1603970"/>
            <a:ext cx="2381250" cy="2815134"/>
          </a:xfrm>
          <a:prstGeom prst="roundRect">
            <a:avLst>
              <a:gd fmla="val 2933"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3727450" y="1762720"/>
            <a:ext cx="207333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pc="100" sz="1200" u="none" cap="none" strike="noStrike">
                <a:solidFill>
                  <a:srgbClr val="2F5D8A"/>
                </a:solidFill>
                <a:latin typeface="Times New Roman"/>
                <a:ea typeface="Times New Roman"/>
                <a:cs typeface="Times New Roman"/>
                <a:sym typeface="Times New Roman"/>
              </a:rPr>
              <a:t>2 · RELEASE</a:t>
            </a:r>
            <a:endParaRPr b="0" i="0" sz="1200" u="none" cap="none" strike="noStrike">
              <a:solidFill>
                <a:schemeClr val="dk1"/>
              </a:solidFill>
              <a:latin typeface="Times New Roman"/>
              <a:ea typeface="Times New Roman"/>
              <a:cs typeface="Times New Roman"/>
              <a:sym typeface="Times New Roman"/>
            </a:endParaRPr>
          </a:p>
        </p:txBody>
      </p:sp>
      <p:sp>
        <p:nvSpPr>
          <p:cNvPr id="131" name="Google Shape;131;p5"/>
          <p:cNvSpPr/>
          <p:nvPr/>
        </p:nvSpPr>
        <p:spPr>
          <a:xfrm>
            <a:off x="3727450" y="2052241"/>
            <a:ext cx="2073338" cy="4520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How the bag leaves the hand</a:t>
            </a:r>
            <a:endParaRPr b="0" i="0" sz="1400" u="none" cap="none" strike="noStrike">
              <a:solidFill>
                <a:schemeClr val="dk1"/>
              </a:solidFill>
              <a:latin typeface="Times New Roman"/>
              <a:ea typeface="Times New Roman"/>
              <a:cs typeface="Times New Roman"/>
              <a:sym typeface="Times New Roman"/>
            </a:endParaRPr>
          </a:p>
        </p:txBody>
      </p:sp>
      <p:sp>
        <p:nvSpPr>
          <p:cNvPr id="132" name="Google Shape;132;p5"/>
          <p:cNvSpPr/>
          <p:nvPr/>
        </p:nvSpPr>
        <p:spPr>
          <a:xfrm>
            <a:off x="3838956" y="2555081"/>
            <a:ext cx="1954213" cy="878681"/>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Release speed</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Release angle</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Release height</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Sideways launch direction</a:t>
            </a:r>
            <a:endParaRPr b="0" i="0" sz="1200" u="none" cap="none" strike="noStrike">
              <a:solidFill>
                <a:schemeClr val="dk1"/>
              </a:solidFill>
              <a:latin typeface="Times New Roman"/>
              <a:ea typeface="Times New Roman"/>
              <a:cs typeface="Times New Roman"/>
              <a:sym typeface="Times New Roman"/>
            </a:endParaRPr>
          </a:p>
        </p:txBody>
      </p:sp>
      <p:cxnSp>
        <p:nvCxnSpPr>
          <p:cNvPr id="133" name="Google Shape;133;p5"/>
          <p:cNvCxnSpPr/>
          <p:nvPr/>
        </p:nvCxnSpPr>
        <p:spPr>
          <a:xfrm>
            <a:off x="3727450" y="3563938"/>
            <a:ext cx="2012950" cy="0"/>
          </a:xfrm>
          <a:prstGeom prst="straightConnector1">
            <a:avLst/>
          </a:prstGeom>
          <a:noFill/>
          <a:ln cap="flat" cmpd="sng" w="9525">
            <a:solidFill>
              <a:srgbClr val="E3DCCF"/>
            </a:solidFill>
            <a:prstDash val="solid"/>
            <a:round/>
            <a:headEnd len="sm" w="sm" type="none"/>
            <a:tailEnd len="sm" w="sm" type="none"/>
          </a:ln>
        </p:spPr>
      </p:cxnSp>
      <p:sp>
        <p:nvSpPr>
          <p:cNvPr id="134" name="Google Shape;134;p5"/>
          <p:cNvSpPr/>
          <p:nvPr/>
        </p:nvSpPr>
        <p:spPr>
          <a:xfrm>
            <a:off x="3727450" y="3643313"/>
            <a:ext cx="2073338" cy="642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Why:</a:t>
            </a:r>
            <a:r>
              <a:rPr b="0" i="0" lang="en-US" sz="1200" u="none" cap="none" strike="noStrike">
                <a:solidFill>
                  <a:srgbClr val="57514A"/>
                </a:solidFill>
                <a:latin typeface="Times New Roman"/>
                <a:ea typeface="Times New Roman"/>
                <a:cs typeface="Times New Roman"/>
                <a:sym typeface="Times New Roman"/>
              </a:rPr>
              <a:t> physics. Once the bag is released, these four decide the flight.</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135" name="Google Shape;135;p5"/>
          <p:cNvPicPr preferRelativeResize="0"/>
          <p:nvPr/>
        </p:nvPicPr>
        <p:blipFill rotWithShape="1">
          <a:blip r:embed="rId3">
            <a:alphaModFix/>
          </a:blip>
          <a:srcRect b="0" l="0" r="0" t="0"/>
          <a:stretch/>
        </p:blipFill>
        <p:spPr>
          <a:xfrm>
            <a:off x="6007100" y="2954338"/>
            <a:ext cx="177800" cy="114300"/>
          </a:xfrm>
          <a:prstGeom prst="rect">
            <a:avLst/>
          </a:prstGeom>
          <a:noFill/>
          <a:ln>
            <a:noFill/>
          </a:ln>
        </p:spPr>
      </p:pic>
      <p:sp>
        <p:nvSpPr>
          <p:cNvPr id="136" name="Google Shape;136;p5"/>
          <p:cNvSpPr/>
          <p:nvPr/>
        </p:nvSpPr>
        <p:spPr>
          <a:xfrm>
            <a:off x="6267450" y="1603970"/>
            <a:ext cx="2381250" cy="2815134"/>
          </a:xfrm>
          <a:prstGeom prst="roundRect">
            <a:avLst>
              <a:gd fmla="val 2933"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6451600" y="1762720"/>
            <a:ext cx="207333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3 · LANDING</a:t>
            </a:r>
            <a:endParaRPr b="0" i="0" sz="1200" u="none" cap="none" strike="noStrike">
              <a:solidFill>
                <a:schemeClr val="dk1"/>
              </a:solidFill>
              <a:latin typeface="Times New Roman"/>
              <a:ea typeface="Times New Roman"/>
              <a:cs typeface="Times New Roman"/>
              <a:sym typeface="Times New Roman"/>
            </a:endParaRPr>
          </a:p>
        </p:txBody>
      </p:sp>
      <p:sp>
        <p:nvSpPr>
          <p:cNvPr id="138" name="Google Shape;138;p5"/>
          <p:cNvSpPr/>
          <p:nvPr/>
        </p:nvSpPr>
        <p:spPr>
          <a:xfrm>
            <a:off x="6451600" y="2052241"/>
            <a:ext cx="2073338" cy="4520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What the bag does on the board</a:t>
            </a:r>
            <a:endParaRPr b="0" i="0" sz="1400" u="none" cap="none" strike="noStrike">
              <a:solidFill>
                <a:schemeClr val="dk1"/>
              </a:solidFill>
              <a:latin typeface="Times New Roman"/>
              <a:ea typeface="Times New Roman"/>
              <a:cs typeface="Times New Roman"/>
              <a:sym typeface="Times New Roman"/>
            </a:endParaRPr>
          </a:p>
        </p:txBody>
      </p:sp>
      <p:sp>
        <p:nvSpPr>
          <p:cNvPr id="139" name="Google Shape;139;p5"/>
          <p:cNvSpPr/>
          <p:nvPr/>
        </p:nvSpPr>
        <p:spPr>
          <a:xfrm>
            <a:off x="6563106" y="2555081"/>
            <a:ext cx="1954213" cy="878681"/>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First contact: short / long</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First contact: left / right</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Slide length</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Where it stopped</a:t>
            </a:r>
            <a:endParaRPr b="0" i="0" sz="1200" u="none" cap="none" strike="noStrike">
              <a:solidFill>
                <a:schemeClr val="dk1"/>
              </a:solidFill>
              <a:latin typeface="Times New Roman"/>
              <a:ea typeface="Times New Roman"/>
              <a:cs typeface="Times New Roman"/>
              <a:sym typeface="Times New Roman"/>
            </a:endParaRPr>
          </a:p>
        </p:txBody>
      </p:sp>
      <p:cxnSp>
        <p:nvCxnSpPr>
          <p:cNvPr id="140" name="Google Shape;140;p5"/>
          <p:cNvCxnSpPr/>
          <p:nvPr/>
        </p:nvCxnSpPr>
        <p:spPr>
          <a:xfrm>
            <a:off x="6451600" y="3563938"/>
            <a:ext cx="2012950" cy="0"/>
          </a:xfrm>
          <a:prstGeom prst="straightConnector1">
            <a:avLst/>
          </a:prstGeom>
          <a:noFill/>
          <a:ln cap="flat" cmpd="sng" w="9525">
            <a:solidFill>
              <a:srgbClr val="E3DCCF"/>
            </a:solidFill>
            <a:prstDash val="solid"/>
            <a:round/>
            <a:headEnd len="sm" w="sm" type="none"/>
            <a:tailEnd len="sm" w="sm" type="none"/>
          </a:ln>
        </p:spPr>
      </p:cxnSp>
      <p:sp>
        <p:nvSpPr>
          <p:cNvPr id="141" name="Google Shape;141;p5"/>
          <p:cNvSpPr/>
          <p:nvPr/>
        </p:nvSpPr>
        <p:spPr>
          <a:xfrm>
            <a:off x="6451600" y="3643313"/>
            <a:ext cx="2073338" cy="642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Why:</a:t>
            </a:r>
            <a:r>
              <a:rPr b="0" i="0" lang="en-US" sz="1200" u="none" cap="none" strike="noStrike">
                <a:solidFill>
                  <a:srgbClr val="57514A"/>
                </a:solidFill>
                <a:latin typeface="Times New Roman"/>
                <a:ea typeface="Times New Roman"/>
                <a:cs typeface="Times New Roman"/>
                <a:sym typeface="Times New Roman"/>
              </a:rPr>
              <a:t> separates a miss made in the air from one made on the board.</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142" name="Google Shape;142;p5"/>
          <p:cNvPicPr preferRelativeResize="0"/>
          <p:nvPr/>
        </p:nvPicPr>
        <p:blipFill rotWithShape="1">
          <a:blip r:embed="rId3">
            <a:alphaModFix/>
          </a:blip>
          <a:srcRect b="0" l="0" r="0" t="0"/>
          <a:stretch/>
        </p:blipFill>
        <p:spPr>
          <a:xfrm>
            <a:off x="8731250" y="2954338"/>
            <a:ext cx="177800" cy="114300"/>
          </a:xfrm>
          <a:prstGeom prst="rect">
            <a:avLst/>
          </a:prstGeom>
          <a:noFill/>
          <a:ln>
            <a:noFill/>
          </a:ln>
        </p:spPr>
      </p:pic>
      <p:sp>
        <p:nvSpPr>
          <p:cNvPr id="143" name="Google Shape;143;p5"/>
          <p:cNvSpPr/>
          <p:nvPr/>
        </p:nvSpPr>
        <p:spPr>
          <a:xfrm>
            <a:off x="8991600" y="1603970"/>
            <a:ext cx="2381250" cy="2815134"/>
          </a:xfrm>
          <a:prstGeom prst="roundRect">
            <a:avLst>
              <a:gd fmla="val 2933"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9175750" y="1762720"/>
            <a:ext cx="207333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32A"/>
              </a:buClr>
              <a:buSzPts val="1200"/>
              <a:buFont typeface="Times New Roman"/>
              <a:buNone/>
            </a:pPr>
            <a:r>
              <a:rPr b="1" i="0" lang="en-US" spc="100" sz="1200" u="none" cap="none" strike="noStrike">
                <a:solidFill>
                  <a:srgbClr val="A8432A"/>
                </a:solidFill>
                <a:latin typeface="Times New Roman"/>
                <a:ea typeface="Times New Roman"/>
                <a:cs typeface="Times New Roman"/>
                <a:sym typeface="Times New Roman"/>
              </a:rPr>
              <a:t>4 · OUTCOME</a:t>
            </a:r>
            <a:endParaRPr b="0" i="0" sz="1200" u="none" cap="none" strike="noStrike">
              <a:solidFill>
                <a:schemeClr val="dk1"/>
              </a:solidFill>
              <a:latin typeface="Times New Roman"/>
              <a:ea typeface="Times New Roman"/>
              <a:cs typeface="Times New Roman"/>
              <a:sym typeface="Times New Roman"/>
            </a:endParaRPr>
          </a:p>
        </p:txBody>
      </p:sp>
      <p:sp>
        <p:nvSpPr>
          <p:cNvPr id="145" name="Google Shape;145;p5"/>
          <p:cNvSpPr/>
          <p:nvPr/>
        </p:nvSpPr>
        <p:spPr>
          <a:xfrm>
            <a:off x="9175750" y="2052241"/>
            <a:ext cx="207333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The score</a:t>
            </a:r>
            <a:endParaRPr b="0" i="0" sz="1400" u="none" cap="none" strike="noStrike">
              <a:solidFill>
                <a:schemeClr val="dk1"/>
              </a:solidFill>
              <a:latin typeface="Times New Roman"/>
              <a:ea typeface="Times New Roman"/>
              <a:cs typeface="Times New Roman"/>
              <a:sym typeface="Times New Roman"/>
            </a:endParaRPr>
          </a:p>
        </p:txBody>
      </p:sp>
      <p:sp>
        <p:nvSpPr>
          <p:cNvPr id="146" name="Google Shape;146;p5"/>
          <p:cNvSpPr/>
          <p:nvPr/>
        </p:nvSpPr>
        <p:spPr>
          <a:xfrm>
            <a:off x="9287256" y="2341761"/>
            <a:ext cx="1954213" cy="665361"/>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Hole / board / off</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Points per round (PPR)</a:t>
            </a:r>
            <a:endParaRPr b="0" i="0" sz="1200" u="none" cap="none" strike="noStrike">
              <a:solidFill>
                <a:schemeClr val="dk1"/>
              </a:solidFill>
              <a:latin typeface="Times New Roman"/>
              <a:ea typeface="Times New Roman"/>
              <a:cs typeface="Times New Roman"/>
              <a:sym typeface="Times New Roman"/>
            </a:endParaRPr>
          </a:p>
          <a:p>
            <a:pPr indent="-142494" lvl="0" marL="142494" marR="0" rtl="0" algn="l">
              <a:lnSpc>
                <a:spcPct val="140000"/>
              </a:lnSpc>
              <a:spcBef>
                <a:spcPts val="0"/>
              </a:spcBef>
              <a:spcAft>
                <a:spcPts val="0"/>
              </a:spcAft>
              <a:buClr>
                <a:srgbClr val="1C1A17"/>
              </a:buClr>
              <a:buSzPts val="1200"/>
              <a:buFont typeface="Times New Roman"/>
              <a:buChar char="•"/>
            </a:pPr>
            <a:r>
              <a:rPr b="0" i="0" lang="en-US" sz="1200" u="none" cap="none" strike="noStrike">
                <a:solidFill>
                  <a:srgbClr val="1C1A17"/>
                </a:solidFill>
                <a:latin typeface="Times New Roman"/>
                <a:ea typeface="Times New Roman"/>
                <a:cs typeface="Times New Roman"/>
                <a:sym typeface="Times New Roman"/>
              </a:rPr>
              <a:t>In / On / Off %</a:t>
            </a:r>
            <a:endParaRPr b="0" i="0" sz="1200" u="none" cap="none" strike="noStrike">
              <a:solidFill>
                <a:schemeClr val="dk1"/>
              </a:solidFill>
              <a:latin typeface="Times New Roman"/>
              <a:ea typeface="Times New Roman"/>
              <a:cs typeface="Times New Roman"/>
              <a:sym typeface="Times New Roman"/>
            </a:endParaRPr>
          </a:p>
        </p:txBody>
      </p:sp>
      <p:cxnSp>
        <p:nvCxnSpPr>
          <p:cNvPr id="147" name="Google Shape;147;p5"/>
          <p:cNvCxnSpPr/>
          <p:nvPr/>
        </p:nvCxnSpPr>
        <p:spPr>
          <a:xfrm>
            <a:off x="9175750" y="3769618"/>
            <a:ext cx="2012950" cy="0"/>
          </a:xfrm>
          <a:prstGeom prst="straightConnector1">
            <a:avLst/>
          </a:prstGeom>
          <a:noFill/>
          <a:ln cap="flat" cmpd="sng" w="9525">
            <a:solidFill>
              <a:srgbClr val="E3DCCF"/>
            </a:solidFill>
            <a:prstDash val="solid"/>
            <a:round/>
            <a:headEnd len="sm" w="sm" type="none"/>
            <a:tailEnd len="sm" w="sm" type="none"/>
          </a:ln>
        </p:spPr>
      </p:cxnSp>
      <p:sp>
        <p:nvSpPr>
          <p:cNvPr id="148" name="Google Shape;148;p5"/>
          <p:cNvSpPr/>
          <p:nvPr/>
        </p:nvSpPr>
        <p:spPr>
          <a:xfrm>
            <a:off x="9175750" y="3848993"/>
            <a:ext cx="2073338"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Why:</a:t>
            </a:r>
            <a:r>
              <a:rPr b="0" i="0" lang="en-US" sz="1200" u="none" cap="none" strike="noStrike">
                <a:solidFill>
                  <a:srgbClr val="57514A"/>
                </a:solidFill>
                <a:latin typeface="Times New Roman"/>
                <a:ea typeface="Times New Roman"/>
                <a:cs typeface="Times New Roman"/>
                <a:sym typeface="Times New Roman"/>
              </a:rPr>
              <a:t> the standard stats coaches already use: the ground truth.</a:t>
            </a:r>
            <a:endParaRPr b="0" i="0" sz="1200" u="none" cap="none" strike="noStrike">
              <a:solidFill>
                <a:schemeClr val="dk1"/>
              </a:solidFill>
              <a:latin typeface="Times New Roman"/>
              <a:ea typeface="Times New Roman"/>
              <a:cs typeface="Times New Roman"/>
              <a:sym typeface="Times New Roman"/>
            </a:endParaRPr>
          </a:p>
        </p:txBody>
      </p:sp>
      <p:sp>
        <p:nvSpPr>
          <p:cNvPr id="149" name="Google Shape;149;p5"/>
          <p:cNvSpPr/>
          <p:nvPr/>
        </p:nvSpPr>
        <p:spPr>
          <a:xfrm>
            <a:off x="812800" y="4501654"/>
            <a:ext cx="10566400" cy="553641"/>
          </a:xfrm>
          <a:prstGeom prst="roundRect">
            <a:avLst>
              <a:gd fmla="val 13763"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1016000" y="4654054"/>
            <a:ext cx="2329338"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400"/>
              <a:buFont typeface="Times New Roman"/>
              <a:buNone/>
            </a:pPr>
            <a:r>
              <a:rPr b="1" i="0" lang="en-US" sz="1400" u="none" cap="none" strike="noStrike">
                <a:solidFill>
                  <a:srgbClr val="C9A24E"/>
                </a:solidFill>
                <a:latin typeface="Times New Roman"/>
                <a:ea typeface="Times New Roman"/>
                <a:cs typeface="Times New Roman"/>
                <a:sym typeface="Times New Roman"/>
              </a:rPr>
              <a:t>A metric made the cut only if:</a:t>
            </a:r>
            <a:endParaRPr b="0" i="0" sz="1400" u="none" cap="none" strike="noStrike">
              <a:solidFill>
                <a:schemeClr val="dk1"/>
              </a:solidFill>
              <a:latin typeface="Times New Roman"/>
              <a:ea typeface="Times New Roman"/>
              <a:cs typeface="Times New Roman"/>
              <a:sym typeface="Times New Roman"/>
            </a:endParaRPr>
          </a:p>
        </p:txBody>
      </p:sp>
      <p:sp>
        <p:nvSpPr>
          <p:cNvPr id="151" name="Google Shape;151;p5"/>
          <p:cNvSpPr/>
          <p:nvPr/>
        </p:nvSpPr>
        <p:spPr>
          <a:xfrm>
            <a:off x="3480693" y="4675584"/>
            <a:ext cx="792616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A24E"/>
              </a:buClr>
              <a:buSzPts val="1200"/>
              <a:buFont typeface="Times New Roman"/>
              <a:buNone/>
            </a:pPr>
            <a:r>
              <a:rPr b="1" i="0" lang="en-US" sz="1200" u="none" cap="none" strike="noStrike">
                <a:solidFill>
                  <a:srgbClr val="C9A24E"/>
                </a:solidFill>
                <a:latin typeface="Times New Roman"/>
                <a:ea typeface="Times New Roman"/>
                <a:cs typeface="Times New Roman"/>
                <a:sym typeface="Times New Roman"/>
              </a:rPr>
              <a:t>1</a:t>
            </a:r>
            <a:r>
              <a:rPr b="0" i="0" lang="en-US" sz="1200" u="none" cap="none" strike="noStrike">
                <a:solidFill>
                  <a:srgbClr val="F3EEE4"/>
                </a:solidFill>
                <a:latin typeface="Times New Roman"/>
                <a:ea typeface="Times New Roman"/>
                <a:cs typeface="Times New Roman"/>
                <a:sym typeface="Times New Roman"/>
              </a:rPr>
              <a:t> physics or the sport says it affects the score · </a:t>
            </a:r>
            <a:r>
              <a:rPr b="1" i="0" lang="en-US" sz="1200" u="none" cap="none" strike="noStrike">
                <a:solidFill>
                  <a:srgbClr val="C9A24E"/>
                </a:solidFill>
                <a:latin typeface="Times New Roman"/>
                <a:ea typeface="Times New Roman"/>
                <a:cs typeface="Times New Roman"/>
                <a:sym typeface="Times New Roman"/>
              </a:rPr>
              <a:t>2</a:t>
            </a:r>
            <a:r>
              <a:rPr b="0" i="0" lang="en-US" sz="1200" u="none" cap="none" strike="noStrike">
                <a:solidFill>
                  <a:srgbClr val="F3EEE4"/>
                </a:solidFill>
                <a:latin typeface="Times New Roman"/>
                <a:ea typeface="Times New Roman"/>
                <a:cs typeface="Times New Roman"/>
                <a:sym typeface="Times New Roman"/>
              </a:rPr>
              <a:t> a phone can measure it above its noise · </a:t>
            </a:r>
            <a:r>
              <a:rPr b="1" i="0" lang="en-US" sz="1200" u="none" cap="none" strike="noStrike">
                <a:solidFill>
                  <a:srgbClr val="C9A24E"/>
                </a:solidFill>
                <a:latin typeface="Times New Roman"/>
                <a:ea typeface="Times New Roman"/>
                <a:cs typeface="Times New Roman"/>
                <a:sym typeface="Times New Roman"/>
              </a:rPr>
              <a:t>3</a:t>
            </a:r>
            <a:r>
              <a:rPr b="0" i="0" lang="en-US" sz="1200" u="none" cap="none" strike="noStrike">
                <a:solidFill>
                  <a:srgbClr val="F3EEE4"/>
                </a:solidFill>
                <a:latin typeface="Times New Roman"/>
                <a:ea typeface="Times New Roman"/>
                <a:cs typeface="Times New Roman"/>
                <a:sym typeface="Times New Roman"/>
              </a:rPr>
              <a:t> a coach can train it</a:t>
            </a:r>
            <a:endParaRPr b="0" i="0" sz="1200" u="none" cap="none" strike="noStrike">
              <a:solidFill>
                <a:schemeClr val="dk1"/>
              </a:solidFill>
              <a:latin typeface="Times New Roman"/>
              <a:ea typeface="Times New Roman"/>
              <a:cs typeface="Times New Roman"/>
              <a:sym typeface="Times New Roman"/>
            </a:endParaRPr>
          </a:p>
        </p:txBody>
      </p:sp>
      <p:sp>
        <p:nvSpPr>
          <p:cNvPr id="152" name="Google Shape;152;p5"/>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153" name="Google Shape;153;p5"/>
          <p:cNvSpPr/>
          <p:nvPr/>
        </p:nvSpPr>
        <p:spPr>
          <a:xfrm>
            <a:off x="9901396" y="6238280"/>
            <a:ext cx="147780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John Wilson · 5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58" name="Shape 158"/>
        <p:cNvGrpSpPr/>
        <p:nvPr/>
      </p:nvGrpSpPr>
      <p:grpSpPr>
        <a:xfrm>
          <a:off x="0" y="0"/>
          <a:ext cx="0" cy="0"/>
          <a:chOff x="0" y="0"/>
          <a:chExt cx="0" cy="0"/>
        </a:xfrm>
      </p:grpSpPr>
      <p:sp>
        <p:nvSpPr>
          <p:cNvPr id="159" name="Google Shape;159;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2 · HOW TO READ THE RELEASE METRICS</a:t>
            </a:r>
            <a:endParaRPr b="0" i="0" sz="1200" u="none" cap="none" strike="noStrike">
              <a:solidFill>
                <a:schemeClr val="dk1"/>
              </a:solidFill>
              <a:latin typeface="Times New Roman"/>
              <a:ea typeface="Times New Roman"/>
              <a:cs typeface="Times New Roman"/>
              <a:sym typeface="Times New Roman"/>
            </a:endParaRPr>
          </a:p>
        </p:txBody>
      </p:sp>
      <p:sp>
        <p:nvSpPr>
          <p:cNvPr id="160" name="Google Shape;160;p6"/>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Release speed is the lever; angle is forgiving</a:t>
            </a:r>
            <a:endParaRPr sz="3000"/>
          </a:p>
        </p:txBody>
      </p:sp>
      <p:sp>
        <p:nvSpPr>
          <p:cNvPr id="161" name="Google Shape;161;p6"/>
          <p:cNvSpPr/>
          <p:nvPr/>
        </p:nvSpPr>
        <p:spPr>
          <a:xfrm>
            <a:off x="812800" y="1597620"/>
            <a:ext cx="5969000" cy="2692400"/>
          </a:xfrm>
          <a:prstGeom prst="roundRect">
            <a:avLst>
              <a:gd fmla="val 2830" name="adj"/>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aunch Lab success map from the app: release speed on the vertical axis, release angle on the horizontal axis; a green hole-window band curves across, flat and wide between about 35 and 50 degrees but thin in speed" id="162" name="Google Shape;162;p6"/>
          <p:cNvPicPr preferRelativeResize="0"/>
          <p:nvPr/>
        </p:nvPicPr>
        <p:blipFill rotWithShape="1">
          <a:blip r:embed="rId3">
            <a:alphaModFix/>
          </a:blip>
          <a:srcRect b="-14" l="0" r="0" t="-14"/>
          <a:stretch/>
        </p:blipFill>
        <p:spPr>
          <a:xfrm>
            <a:off x="812800" y="1597620"/>
            <a:ext cx="5969000" cy="2692400"/>
          </a:xfrm>
          <a:prstGeom prst="roundRect">
            <a:avLst>
              <a:gd fmla="val 2830" name="adj"/>
            </a:avLst>
          </a:prstGeom>
          <a:noFill/>
          <a:ln>
            <a:noFill/>
          </a:ln>
        </p:spPr>
      </p:pic>
      <p:sp>
        <p:nvSpPr>
          <p:cNvPr id="163" name="Google Shape;163;p6"/>
          <p:cNvSpPr/>
          <p:nvPr/>
        </p:nvSpPr>
        <p:spPr>
          <a:xfrm>
            <a:off x="812800" y="4366220"/>
            <a:ext cx="614807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Launch Lab success map.</a:t>
            </a:r>
            <a:r>
              <a:rPr b="0" i="0" lang="en-US" sz="1200" u="none" cap="none" strike="noStrike">
                <a:solidFill>
                  <a:srgbClr val="57514A"/>
                </a:solidFill>
                <a:latin typeface="Times New Roman"/>
                <a:ea typeface="Times New Roman"/>
                <a:cs typeface="Times New Roman"/>
                <a:sym typeface="Times New Roman"/>
              </a:rPr>
              <a:t> Green = speed and angle pairs that land in the hole window; amber = on the board. The band is wide in angle but thin in speed. Drawn at regulation distance (7.7 m).</a:t>
            </a:r>
            <a:endParaRPr b="0" i="0" sz="1200" u="none" cap="none" strike="noStrike">
              <a:solidFill>
                <a:schemeClr val="dk1"/>
              </a:solidFill>
              <a:latin typeface="Times New Roman"/>
              <a:ea typeface="Times New Roman"/>
              <a:cs typeface="Times New Roman"/>
              <a:sym typeface="Times New Roman"/>
            </a:endParaRPr>
          </a:p>
        </p:txBody>
      </p:sp>
      <p:sp>
        <p:nvSpPr>
          <p:cNvPr id="164" name="Google Shape;164;p6"/>
          <p:cNvSpPr/>
          <p:nvPr/>
        </p:nvSpPr>
        <p:spPr>
          <a:xfrm>
            <a:off x="7092950" y="1603970"/>
            <a:ext cx="4279900" cy="916781"/>
          </a:xfrm>
          <a:prstGeom prst="roundRect">
            <a:avLst>
              <a:gd fmla="val 7619"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7251700" y="1755676"/>
            <a:ext cx="1130300"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2F5D8A"/>
              </a:buClr>
              <a:buSzPts val="3000"/>
              <a:buFont typeface="Times New Roman"/>
              <a:buNone/>
            </a:pPr>
            <a:r>
              <a:rPr b="1" i="0" lang="en-US" sz="3000" u="none" cap="none" strike="noStrike">
                <a:solidFill>
                  <a:srgbClr val="2F5D8A"/>
                </a:solidFill>
                <a:latin typeface="Times New Roman"/>
                <a:ea typeface="Times New Roman"/>
                <a:cs typeface="Times New Roman"/>
                <a:sym typeface="Times New Roman"/>
              </a:rPr>
              <a:t>13 cm</a:t>
            </a:r>
            <a:endParaRPr b="0" i="0" sz="3000" u="none" cap="none" strike="noStrike">
              <a:solidFill>
                <a:schemeClr val="dk1"/>
              </a:solidFill>
              <a:latin typeface="Times New Roman"/>
              <a:ea typeface="Times New Roman"/>
              <a:cs typeface="Times New Roman"/>
              <a:sym typeface="Times New Roman"/>
            </a:endParaRPr>
          </a:p>
        </p:txBody>
      </p:sp>
      <p:sp>
        <p:nvSpPr>
          <p:cNvPr id="166" name="Google Shape;166;p6"/>
          <p:cNvSpPr/>
          <p:nvPr/>
        </p:nvSpPr>
        <p:spPr>
          <a:xfrm>
            <a:off x="7251700" y="2155726"/>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per 0.1 m/s</a:t>
            </a:r>
            <a:endParaRPr b="0" i="0" sz="1200" u="none" cap="none" strike="noStrike">
              <a:solidFill>
                <a:schemeClr val="dk1"/>
              </a:solidFill>
              <a:latin typeface="Times New Roman"/>
              <a:ea typeface="Times New Roman"/>
              <a:cs typeface="Times New Roman"/>
              <a:sym typeface="Times New Roman"/>
            </a:endParaRPr>
          </a:p>
        </p:txBody>
      </p:sp>
      <p:sp>
        <p:nvSpPr>
          <p:cNvPr id="167" name="Google Shape;167;p6"/>
          <p:cNvSpPr/>
          <p:nvPr/>
        </p:nvSpPr>
        <p:spPr>
          <a:xfrm>
            <a:off x="8483600" y="1737320"/>
            <a:ext cx="2812415"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Speed: the main lever</a:t>
            </a:r>
            <a:endParaRPr b="0" i="0" sz="1400" u="none" cap="none" strike="noStrike">
              <a:solidFill>
                <a:schemeClr val="dk1"/>
              </a:solidFill>
              <a:latin typeface="Times New Roman"/>
              <a:ea typeface="Times New Roman"/>
              <a:cs typeface="Times New Roman"/>
              <a:sym typeface="Times New Roman"/>
            </a:endParaRPr>
          </a:p>
        </p:txBody>
      </p:sp>
      <p:sp>
        <p:nvSpPr>
          <p:cNvPr id="168" name="Google Shape;168;p6"/>
          <p:cNvSpPr/>
          <p:nvPr/>
        </p:nvSpPr>
        <p:spPr>
          <a:xfrm>
            <a:off x="8483600" y="1976041"/>
            <a:ext cx="2812415"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Faster than usual lands long, slower lands short. Too small to see by eye.</a:t>
            </a:r>
            <a:endParaRPr b="0" i="0" sz="1200" u="none" cap="none" strike="noStrike">
              <a:solidFill>
                <a:schemeClr val="dk1"/>
              </a:solidFill>
              <a:latin typeface="Times New Roman"/>
              <a:ea typeface="Times New Roman"/>
              <a:cs typeface="Times New Roman"/>
              <a:sym typeface="Times New Roman"/>
            </a:endParaRPr>
          </a:p>
        </p:txBody>
      </p:sp>
      <p:sp>
        <p:nvSpPr>
          <p:cNvPr id="169" name="Google Shape;169;p6"/>
          <p:cNvSpPr/>
          <p:nvPr/>
        </p:nvSpPr>
        <p:spPr>
          <a:xfrm>
            <a:off x="7092950" y="2635052"/>
            <a:ext cx="4279900" cy="916781"/>
          </a:xfrm>
          <a:prstGeom prst="roundRect">
            <a:avLst>
              <a:gd fmla="val 7619"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7251700" y="2786757"/>
            <a:ext cx="1130300"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8A6A2B"/>
              </a:buClr>
              <a:buSzPts val="3000"/>
              <a:buFont typeface="Times New Roman"/>
              <a:buNone/>
            </a:pPr>
            <a:r>
              <a:rPr b="1" i="0" lang="en-US" sz="3000" u="none" cap="none" strike="noStrike">
                <a:solidFill>
                  <a:srgbClr val="8A6A2B"/>
                </a:solidFill>
                <a:latin typeface="Times New Roman"/>
                <a:ea typeface="Times New Roman"/>
                <a:cs typeface="Times New Roman"/>
                <a:sym typeface="Times New Roman"/>
              </a:rPr>
              <a:t>1 cm</a:t>
            </a:r>
            <a:endParaRPr b="0" i="0" sz="3000" u="none" cap="none" strike="noStrike">
              <a:solidFill>
                <a:schemeClr val="dk1"/>
              </a:solidFill>
              <a:latin typeface="Times New Roman"/>
              <a:ea typeface="Times New Roman"/>
              <a:cs typeface="Times New Roman"/>
              <a:sym typeface="Times New Roman"/>
            </a:endParaRPr>
          </a:p>
        </p:txBody>
      </p:sp>
      <p:sp>
        <p:nvSpPr>
          <p:cNvPr id="171" name="Google Shape;171;p6"/>
          <p:cNvSpPr/>
          <p:nvPr/>
        </p:nvSpPr>
        <p:spPr>
          <a:xfrm>
            <a:off x="7251700" y="3186807"/>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per 1° near 40°</a:t>
            </a:r>
            <a:endParaRPr b="0" i="0" sz="1200" u="none" cap="none" strike="noStrike">
              <a:solidFill>
                <a:schemeClr val="dk1"/>
              </a:solidFill>
              <a:latin typeface="Times New Roman"/>
              <a:ea typeface="Times New Roman"/>
              <a:cs typeface="Times New Roman"/>
              <a:sym typeface="Times New Roman"/>
            </a:endParaRPr>
          </a:p>
        </p:txBody>
      </p:sp>
      <p:sp>
        <p:nvSpPr>
          <p:cNvPr id="172" name="Google Shape;172;p6"/>
          <p:cNvSpPr/>
          <p:nvPr/>
        </p:nvSpPr>
        <p:spPr>
          <a:xfrm>
            <a:off x="8483600" y="2768402"/>
            <a:ext cx="2812415"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Angle: forgiving</a:t>
            </a:r>
            <a:endParaRPr b="0" i="0" sz="1400" u="none" cap="none" strike="noStrike">
              <a:solidFill>
                <a:schemeClr val="dk1"/>
              </a:solidFill>
              <a:latin typeface="Times New Roman"/>
              <a:ea typeface="Times New Roman"/>
              <a:cs typeface="Times New Roman"/>
              <a:sym typeface="Times New Roman"/>
            </a:endParaRPr>
          </a:p>
        </p:txBody>
      </p:sp>
      <p:sp>
        <p:nvSpPr>
          <p:cNvPr id="173" name="Google Shape;173;p6"/>
          <p:cNvSpPr/>
          <p:nvPr/>
        </p:nvSpPr>
        <p:spPr>
          <a:xfrm>
            <a:off x="8483600" y="3007122"/>
            <a:ext cx="2812415"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Our athletes release at 37–44°. Flat throwers (25–30°) are 6–9× more sensitive.</a:t>
            </a:r>
            <a:endParaRPr b="0" i="0" sz="1200" u="none" cap="none" strike="noStrike">
              <a:solidFill>
                <a:schemeClr val="dk1"/>
              </a:solidFill>
              <a:latin typeface="Times New Roman"/>
              <a:ea typeface="Times New Roman"/>
              <a:cs typeface="Times New Roman"/>
              <a:sym typeface="Times New Roman"/>
            </a:endParaRPr>
          </a:p>
        </p:txBody>
      </p:sp>
      <p:sp>
        <p:nvSpPr>
          <p:cNvPr id="174" name="Google Shape;174;p6"/>
          <p:cNvSpPr/>
          <p:nvPr/>
        </p:nvSpPr>
        <p:spPr>
          <a:xfrm>
            <a:off x="7092950" y="3666133"/>
            <a:ext cx="4279900" cy="916781"/>
          </a:xfrm>
          <a:prstGeom prst="roundRect">
            <a:avLst>
              <a:gd fmla="val 7619"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7251700" y="3817838"/>
            <a:ext cx="1130300"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57514A"/>
              </a:buClr>
              <a:buSzPts val="3000"/>
              <a:buFont typeface="Times New Roman"/>
              <a:buNone/>
            </a:pPr>
            <a:r>
              <a:rPr b="1" i="0" lang="en-US" sz="3000" u="none" cap="none" strike="noStrike">
                <a:solidFill>
                  <a:srgbClr val="57514A"/>
                </a:solidFill>
                <a:latin typeface="Times New Roman"/>
                <a:ea typeface="Times New Roman"/>
                <a:cs typeface="Times New Roman"/>
                <a:sym typeface="Times New Roman"/>
              </a:rPr>
              <a:t>1 cm</a:t>
            </a:r>
            <a:endParaRPr b="0" i="0" sz="3000" u="none" cap="none" strike="noStrike">
              <a:solidFill>
                <a:schemeClr val="dk1"/>
              </a:solidFill>
              <a:latin typeface="Times New Roman"/>
              <a:ea typeface="Times New Roman"/>
              <a:cs typeface="Times New Roman"/>
              <a:sym typeface="Times New Roman"/>
            </a:endParaRPr>
          </a:p>
        </p:txBody>
      </p:sp>
      <p:sp>
        <p:nvSpPr>
          <p:cNvPr id="176" name="Google Shape;176;p6"/>
          <p:cNvSpPr/>
          <p:nvPr/>
        </p:nvSpPr>
        <p:spPr>
          <a:xfrm>
            <a:off x="7251700" y="4217888"/>
            <a:ext cx="1130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per 1 cm</a:t>
            </a:r>
            <a:endParaRPr b="0" i="0" sz="1200" u="none" cap="none" strike="noStrike">
              <a:solidFill>
                <a:schemeClr val="dk1"/>
              </a:solidFill>
              <a:latin typeface="Times New Roman"/>
              <a:ea typeface="Times New Roman"/>
              <a:cs typeface="Times New Roman"/>
              <a:sym typeface="Times New Roman"/>
            </a:endParaRPr>
          </a:p>
        </p:txBody>
      </p:sp>
      <p:sp>
        <p:nvSpPr>
          <p:cNvPr id="177" name="Google Shape;177;p6"/>
          <p:cNvSpPr/>
          <p:nvPr/>
        </p:nvSpPr>
        <p:spPr>
          <a:xfrm>
            <a:off x="8483600" y="3799483"/>
            <a:ext cx="2812415"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Height: small effect</a:t>
            </a:r>
            <a:endParaRPr b="0" i="0" sz="1400" u="none" cap="none" strike="noStrike">
              <a:solidFill>
                <a:schemeClr val="dk1"/>
              </a:solidFill>
              <a:latin typeface="Times New Roman"/>
              <a:ea typeface="Times New Roman"/>
              <a:cs typeface="Times New Roman"/>
              <a:sym typeface="Times New Roman"/>
            </a:endParaRPr>
          </a:p>
        </p:txBody>
      </p:sp>
      <p:sp>
        <p:nvSpPr>
          <p:cNvPr id="178" name="Google Shape;178;p6"/>
          <p:cNvSpPr/>
          <p:nvPr/>
        </p:nvSpPr>
        <p:spPr>
          <a:xfrm>
            <a:off x="8483600" y="4038203"/>
            <a:ext cx="2812415"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Matters only when posture changes a lot between throws.</a:t>
            </a:r>
            <a:endParaRPr b="0" i="0" sz="1200" u="none" cap="none" strike="noStrike">
              <a:solidFill>
                <a:schemeClr val="dk1"/>
              </a:solidFill>
              <a:latin typeface="Times New Roman"/>
              <a:ea typeface="Times New Roman"/>
              <a:cs typeface="Times New Roman"/>
              <a:sym typeface="Times New Roman"/>
            </a:endParaRPr>
          </a:p>
        </p:txBody>
      </p:sp>
      <p:sp>
        <p:nvSpPr>
          <p:cNvPr id="179" name="Google Shape;179;p6"/>
          <p:cNvSpPr/>
          <p:nvPr/>
        </p:nvSpPr>
        <p:spPr>
          <a:xfrm>
            <a:off x="7086600" y="4690864"/>
            <a:ext cx="4421378"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Drag-free flight model at our typical release: 7.5 m/s, 40°, 1.0 m high, 5.7 m to the board.</a:t>
            </a:r>
            <a:endParaRPr b="0" i="0" sz="1200" u="none" cap="none" strike="noStrike">
              <a:solidFill>
                <a:schemeClr val="dk1"/>
              </a:solidFill>
              <a:latin typeface="Times New Roman"/>
              <a:ea typeface="Times New Roman"/>
              <a:cs typeface="Times New Roman"/>
              <a:sym typeface="Times New Roman"/>
            </a:endParaRPr>
          </a:p>
        </p:txBody>
      </p:sp>
      <p:sp>
        <p:nvSpPr>
          <p:cNvPr id="180" name="Google Shape;180;p6"/>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181" name="Google Shape;181;p6"/>
          <p:cNvSpPr/>
          <p:nvPr/>
        </p:nvSpPr>
        <p:spPr>
          <a:xfrm>
            <a:off x="9901396" y="6238280"/>
            <a:ext cx="147780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John Wilson · 6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86" name="Shape 186"/>
        <p:cNvGrpSpPr/>
        <p:nvPr/>
      </p:nvGrpSpPr>
      <p:grpSpPr>
        <a:xfrm>
          <a:off x="0" y="0"/>
          <a:ext cx="0" cy="0"/>
          <a:chOff x="0" y="0"/>
          <a:chExt cx="0" cy="0"/>
        </a:xfrm>
      </p:grpSpPr>
      <p:sp>
        <p:nvSpPr>
          <p:cNvPr id="187" name="Google Shape;187;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BACKUP · INTERPRETING THE NUMBERS</a:t>
            </a:r>
            <a:endParaRPr b="0" i="0" sz="1200" u="none" cap="none" strike="noStrike">
              <a:solidFill>
                <a:schemeClr val="dk1"/>
              </a:solidFill>
              <a:latin typeface="Times New Roman"/>
              <a:ea typeface="Times New Roman"/>
              <a:cs typeface="Times New Roman"/>
              <a:sym typeface="Times New Roman"/>
            </a:endParaRPr>
          </a:p>
        </p:txBody>
      </p:sp>
      <p:sp>
        <p:nvSpPr>
          <p:cNvPr id="188" name="Google Shape;188;p7"/>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Each metric answers a different coaching question</a:t>
            </a:r>
            <a:endParaRPr sz="3000"/>
          </a:p>
        </p:txBody>
      </p:sp>
      <p:graphicFrame>
        <p:nvGraphicFramePr>
          <p:cNvPr id="189" name="Google Shape;189;p7"/>
          <p:cNvGraphicFramePr/>
          <p:nvPr/>
        </p:nvGraphicFramePr>
        <p:xfrm>
          <a:off x="825500" y="1610320"/>
          <a:ext cx="3000000" cy="3000000"/>
        </p:xfrm>
        <a:graphic>
          <a:graphicData uri="http://schemas.openxmlformats.org/drawingml/2006/table">
            <a:tbl>
              <a:tblPr>
                <a:noFill/>
                <a:tableStyleId>{E2BBD6A1-547E-441A-B601-4AAEDF4CFED8}</a:tableStyleId>
              </a:tblPr>
              <a:tblGrid>
                <a:gridCol w="1899675"/>
                <a:gridCol w="2849500"/>
                <a:gridCol w="2321825"/>
                <a:gridCol w="3482725"/>
              </a:tblGrid>
              <a:tr h="332575">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Metric group</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Examples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1A1916"/>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Question it answers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1A1916"/>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How to read it</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1A1916"/>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Per-throw signals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Release speed, angle, height; tempo</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Why did this throw miss?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Varies more than its noise (speed: 2.1×), so it can explain a single miss.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Athlete profile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Backswing, trunk lean, peak wrist speed</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How does this athlete throw?</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Very individual and stable (ICC 0.75–0.96): a style, not an error.</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Consistency</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Spread (SD) of each metric vs its noise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What should we train?</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SD ÷ noise above 1 means real variation worth training.</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Landing and outcome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Short / long, left / right, slide; PPR</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Did it work?</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Outcome first: a made throw gets no corrections.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bl>
          </a:graphicData>
        </a:graphic>
      </p:graphicFrame>
      <p:sp>
        <p:nvSpPr>
          <p:cNvPr id="190" name="Google Shape;190;p7"/>
          <p:cNvSpPr/>
          <p:nvPr/>
        </p:nvSpPr>
        <p:spPr>
          <a:xfrm>
            <a:off x="819150" y="4498658"/>
            <a:ext cx="6174780" cy="1288951"/>
          </a:xfrm>
          <a:prstGeom prst="roundRect">
            <a:avLst>
              <a:gd fmla="val 5419"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1003300" y="4657408"/>
            <a:ext cx="598067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pc="100" sz="1200" u="none" cap="none" strike="noStrike">
                <a:solidFill>
                  <a:srgbClr val="2F5D8A"/>
                </a:solidFill>
                <a:latin typeface="Times New Roman"/>
                <a:ea typeface="Times New Roman"/>
                <a:cs typeface="Times New Roman"/>
                <a:sym typeface="Times New Roman"/>
              </a:rPr>
              <a:t>WORKED EXAMPLE</a:t>
            </a:r>
            <a:endParaRPr b="0" i="0" sz="1200" u="none" cap="none" strike="noStrike">
              <a:solidFill>
                <a:schemeClr val="dk1"/>
              </a:solidFill>
              <a:latin typeface="Times New Roman"/>
              <a:ea typeface="Times New Roman"/>
              <a:cs typeface="Times New Roman"/>
              <a:sym typeface="Times New Roman"/>
            </a:endParaRPr>
          </a:p>
        </p:txBody>
      </p:sp>
      <p:sp>
        <p:nvSpPr>
          <p:cNvPr id="192" name="Google Shape;192;p7"/>
          <p:cNvSpPr/>
          <p:nvPr/>
        </p:nvSpPr>
        <p:spPr>
          <a:xfrm>
            <a:off x="1003300" y="4908828"/>
            <a:ext cx="5980674"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400"/>
              <a:buFont typeface="Times New Roman"/>
              <a:buNone/>
            </a:pPr>
            <a:r>
              <a:rPr b="0" i="0" lang="en-US" sz="1400" u="none" cap="none" strike="noStrike">
                <a:solidFill>
                  <a:srgbClr val="1C1A17"/>
                </a:solidFill>
                <a:latin typeface="Times New Roman"/>
                <a:ea typeface="Times New Roman"/>
                <a:cs typeface="Times New Roman"/>
                <a:sym typeface="Times New Roman"/>
              </a:rPr>
              <a:t>Player 4's release-speed SD is 0.44 m/s, 2.9× the 0.15 m/s noise floor. That alone scatters first contact by about ±58 cm. </a:t>
            </a:r>
            <a:r>
              <a:rPr b="1" i="0" lang="en-US" sz="1400" u="none" cap="none" strike="noStrike">
                <a:solidFill>
                  <a:srgbClr val="1C1A17"/>
                </a:solidFill>
                <a:latin typeface="Times New Roman"/>
                <a:ea typeface="Times New Roman"/>
                <a:cs typeface="Times New Roman"/>
                <a:sym typeface="Times New Roman"/>
              </a:rPr>
              <a:t>Training target: speed consistency, not technique.</a:t>
            </a:r>
            <a:endParaRPr b="0" i="0" sz="1400" u="none" cap="none" strike="noStrike">
              <a:solidFill>
                <a:schemeClr val="dk1"/>
              </a:solidFill>
              <a:latin typeface="Times New Roman"/>
              <a:ea typeface="Times New Roman"/>
              <a:cs typeface="Times New Roman"/>
              <a:sym typeface="Times New Roman"/>
            </a:endParaRPr>
          </a:p>
        </p:txBody>
      </p:sp>
      <p:sp>
        <p:nvSpPr>
          <p:cNvPr id="193" name="Google Shape;193;p7"/>
          <p:cNvSpPr/>
          <p:nvPr/>
        </p:nvSpPr>
        <p:spPr>
          <a:xfrm>
            <a:off x="7152680" y="4492308"/>
            <a:ext cx="4226520" cy="1301651"/>
          </a:xfrm>
          <a:prstGeom prst="roundRect">
            <a:avLst>
              <a:gd fmla="val 5854"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7330480" y="4644708"/>
            <a:ext cx="39870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EVERY NUMBER IS LABELLED</a:t>
            </a:r>
            <a:endParaRPr b="0" i="0" sz="1200" u="none" cap="none" strike="noStrike">
              <a:solidFill>
                <a:schemeClr val="dk1"/>
              </a:solidFill>
              <a:latin typeface="Times New Roman"/>
              <a:ea typeface="Times New Roman"/>
              <a:cs typeface="Times New Roman"/>
              <a:sym typeface="Times New Roman"/>
            </a:endParaRPr>
          </a:p>
        </p:txBody>
      </p:sp>
      <p:sp>
        <p:nvSpPr>
          <p:cNvPr id="195" name="Google Shape;195;p7"/>
          <p:cNvSpPr/>
          <p:nvPr/>
        </p:nvSpPr>
        <p:spPr>
          <a:xfrm>
            <a:off x="7330480" y="4896128"/>
            <a:ext cx="3987048" cy="642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3EEE4"/>
              </a:buClr>
              <a:buSzPts val="1200"/>
              <a:buFont typeface="Times New Roman"/>
              <a:buNone/>
            </a:pPr>
            <a:r>
              <a:rPr b="0" i="0" lang="en-US" sz="1200" u="none" cap="none" strike="noStrike">
                <a:solidFill>
                  <a:srgbClr val="F3EEE4"/>
                </a:solidFill>
                <a:latin typeface="Times New Roman"/>
                <a:ea typeface="Times New Roman"/>
                <a:cs typeface="Times New Roman"/>
                <a:sym typeface="Times New Roman"/>
              </a:rPr>
              <a:t>Measured, estimated or unavailable, with a GOOD / WARNING / POOR grade. Missing stays missing: never a zero or a guess.</a:t>
            </a:r>
            <a:endParaRPr b="0" i="0" sz="1200" u="none" cap="none" strike="noStrike">
              <a:solidFill>
                <a:schemeClr val="dk1"/>
              </a:solidFill>
              <a:latin typeface="Times New Roman"/>
              <a:ea typeface="Times New Roman"/>
              <a:cs typeface="Times New Roman"/>
              <a:sym typeface="Times New Roman"/>
            </a:endParaRPr>
          </a:p>
        </p:txBody>
      </p:sp>
      <p:sp>
        <p:nvSpPr>
          <p:cNvPr id="196" name="Google Shape;196;p7"/>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197" name="Google Shape;197;p7"/>
          <p:cNvSpPr/>
          <p:nvPr/>
        </p:nvSpPr>
        <p:spPr>
          <a:xfrm>
            <a:off x="9901396" y="6238280"/>
            <a:ext cx="147780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John Wilson · backup</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02" name="Shape 202"/>
        <p:cNvGrpSpPr/>
        <p:nvPr/>
      </p:nvGrpSpPr>
      <p:grpSpPr>
        <a:xfrm>
          <a:off x="0" y="0"/>
          <a:ext cx="0" cy="0"/>
          <a:chOff x="0" y="0"/>
          <a:chExt cx="0" cy="0"/>
        </a:xfrm>
      </p:grpSpPr>
      <p:sp>
        <p:nvSpPr>
          <p:cNvPr id="203" name="Google Shape;203;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2 · MEASURING REAL PEOPLE</a:t>
            </a:r>
            <a:endParaRPr b="0" i="0" sz="1200" u="none" cap="none" strike="noStrike">
              <a:solidFill>
                <a:schemeClr val="dk1"/>
              </a:solidFill>
              <a:latin typeface="Times New Roman"/>
              <a:ea typeface="Times New Roman"/>
              <a:cs typeface="Times New Roman"/>
              <a:sym typeface="Times New Roman"/>
            </a:endParaRPr>
          </a:p>
        </p:txBody>
      </p:sp>
      <p:sp>
        <p:nvSpPr>
          <p:cNvPr id="204" name="Google Shape;204;p8"/>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We measured real athletes, not simulations</a:t>
            </a:r>
            <a:endParaRPr sz="3000"/>
          </a:p>
        </p:txBody>
      </p:sp>
      <p:sp>
        <p:nvSpPr>
          <p:cNvPr id="205" name="Google Shape;205;p8"/>
          <p:cNvSpPr/>
          <p:nvPr/>
        </p:nvSpPr>
        <p:spPr>
          <a:xfrm>
            <a:off x="819150" y="1603970"/>
            <a:ext cx="2514600" cy="841970"/>
          </a:xfrm>
          <a:prstGeom prst="roundRect">
            <a:avLst>
              <a:gd fmla="val 829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1003300" y="171192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2F5D8A"/>
              </a:buClr>
              <a:buSzPts val="3000"/>
              <a:buFont typeface="Times New Roman"/>
              <a:buNone/>
            </a:pPr>
            <a:r>
              <a:rPr b="1" i="0" lang="en-US" sz="3000" u="none" cap="none" strike="noStrike">
                <a:solidFill>
                  <a:srgbClr val="2F5D8A"/>
                </a:solidFill>
                <a:latin typeface="Times New Roman"/>
                <a:ea typeface="Times New Roman"/>
                <a:cs typeface="Times New Roman"/>
                <a:sym typeface="Times New Roman"/>
              </a:rPr>
              <a:t>4</a:t>
            </a:r>
            <a:endParaRPr b="0" i="0" sz="3000" u="none" cap="none" strike="noStrike">
              <a:solidFill>
                <a:schemeClr val="dk1"/>
              </a:solidFill>
              <a:latin typeface="Times New Roman"/>
              <a:ea typeface="Times New Roman"/>
              <a:cs typeface="Times New Roman"/>
              <a:sym typeface="Times New Roman"/>
            </a:endParaRPr>
          </a:p>
        </p:txBody>
      </p:sp>
      <p:sp>
        <p:nvSpPr>
          <p:cNvPr id="207" name="Google Shape;207;p8"/>
          <p:cNvSpPr/>
          <p:nvPr/>
        </p:nvSpPr>
        <p:spPr>
          <a:xfrm>
            <a:off x="1003300" y="212467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athletes (Player 1–4)</a:t>
            </a:r>
            <a:endParaRPr b="0" i="0" sz="1200" u="none" cap="none" strike="noStrike">
              <a:solidFill>
                <a:schemeClr val="dk1"/>
              </a:solidFill>
              <a:latin typeface="Times New Roman"/>
              <a:ea typeface="Times New Roman"/>
              <a:cs typeface="Times New Roman"/>
              <a:sym typeface="Times New Roman"/>
            </a:endParaRPr>
          </a:p>
        </p:txBody>
      </p:sp>
      <p:sp>
        <p:nvSpPr>
          <p:cNvPr id="208" name="Google Shape;208;p8"/>
          <p:cNvSpPr/>
          <p:nvPr/>
        </p:nvSpPr>
        <p:spPr>
          <a:xfrm>
            <a:off x="3498850" y="1603970"/>
            <a:ext cx="2514600" cy="841970"/>
          </a:xfrm>
          <a:prstGeom prst="roundRect">
            <a:avLst>
              <a:gd fmla="val 829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3683000" y="171192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2F5D8A"/>
              </a:buClr>
              <a:buSzPts val="3000"/>
              <a:buFont typeface="Times New Roman"/>
              <a:buNone/>
            </a:pPr>
            <a:r>
              <a:rPr b="1" i="0" lang="en-US" sz="3000" u="none" cap="none" strike="noStrike">
                <a:solidFill>
                  <a:srgbClr val="2F5D8A"/>
                </a:solidFill>
                <a:latin typeface="Times New Roman"/>
                <a:ea typeface="Times New Roman"/>
                <a:cs typeface="Times New Roman"/>
                <a:sym typeface="Times New Roman"/>
              </a:rPr>
              <a:t>23</a:t>
            </a:r>
            <a:endParaRPr b="0" i="0" sz="3000" u="none" cap="none" strike="noStrike">
              <a:solidFill>
                <a:schemeClr val="dk1"/>
              </a:solidFill>
              <a:latin typeface="Times New Roman"/>
              <a:ea typeface="Times New Roman"/>
              <a:cs typeface="Times New Roman"/>
              <a:sym typeface="Times New Roman"/>
            </a:endParaRPr>
          </a:p>
        </p:txBody>
      </p:sp>
      <p:sp>
        <p:nvSpPr>
          <p:cNvPr id="210" name="Google Shape;210;p8"/>
          <p:cNvSpPr/>
          <p:nvPr/>
        </p:nvSpPr>
        <p:spPr>
          <a:xfrm>
            <a:off x="3683000" y="212467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two-camera takes</a:t>
            </a:r>
            <a:endParaRPr b="0" i="0" sz="1200" u="none" cap="none" strike="noStrike">
              <a:solidFill>
                <a:schemeClr val="dk1"/>
              </a:solidFill>
              <a:latin typeface="Times New Roman"/>
              <a:ea typeface="Times New Roman"/>
              <a:cs typeface="Times New Roman"/>
              <a:sym typeface="Times New Roman"/>
            </a:endParaRPr>
          </a:p>
        </p:txBody>
      </p:sp>
      <p:sp>
        <p:nvSpPr>
          <p:cNvPr id="211" name="Google Shape;211;p8"/>
          <p:cNvSpPr/>
          <p:nvPr/>
        </p:nvSpPr>
        <p:spPr>
          <a:xfrm>
            <a:off x="6178550" y="1603970"/>
            <a:ext cx="2514600" cy="841970"/>
          </a:xfrm>
          <a:prstGeom prst="roundRect">
            <a:avLst>
              <a:gd fmla="val 829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6362700" y="171192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2F5D8A"/>
              </a:buClr>
              <a:buSzPts val="3000"/>
              <a:buFont typeface="Times New Roman"/>
              <a:buNone/>
            </a:pPr>
            <a:r>
              <a:rPr b="1" i="0" lang="en-US" sz="3000" u="none" cap="none" strike="noStrike">
                <a:solidFill>
                  <a:srgbClr val="2F5D8A"/>
                </a:solidFill>
                <a:latin typeface="Times New Roman"/>
                <a:ea typeface="Times New Roman"/>
                <a:cs typeface="Times New Roman"/>
                <a:sym typeface="Times New Roman"/>
              </a:rPr>
              <a:t>92</a:t>
            </a:r>
            <a:endParaRPr b="0" i="0" sz="3000" u="none" cap="none" strike="noStrike">
              <a:solidFill>
                <a:schemeClr val="dk1"/>
              </a:solidFill>
              <a:latin typeface="Times New Roman"/>
              <a:ea typeface="Times New Roman"/>
              <a:cs typeface="Times New Roman"/>
              <a:sym typeface="Times New Roman"/>
            </a:endParaRPr>
          </a:p>
        </p:txBody>
      </p:sp>
      <p:sp>
        <p:nvSpPr>
          <p:cNvPr id="213" name="Google Shape;213;p8"/>
          <p:cNvSpPr/>
          <p:nvPr/>
        </p:nvSpPr>
        <p:spPr>
          <a:xfrm>
            <a:off x="6362700" y="212467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throws analysed</a:t>
            </a:r>
            <a:endParaRPr b="0" i="0" sz="1200" u="none" cap="none" strike="noStrike">
              <a:solidFill>
                <a:schemeClr val="dk1"/>
              </a:solidFill>
              <a:latin typeface="Times New Roman"/>
              <a:ea typeface="Times New Roman"/>
              <a:cs typeface="Times New Roman"/>
              <a:sym typeface="Times New Roman"/>
            </a:endParaRPr>
          </a:p>
        </p:txBody>
      </p:sp>
      <p:sp>
        <p:nvSpPr>
          <p:cNvPr id="214" name="Google Shape;214;p8"/>
          <p:cNvSpPr/>
          <p:nvPr/>
        </p:nvSpPr>
        <p:spPr>
          <a:xfrm>
            <a:off x="8858250" y="1603970"/>
            <a:ext cx="2514600" cy="841970"/>
          </a:xfrm>
          <a:prstGeom prst="roundRect">
            <a:avLst>
              <a:gd fmla="val 829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9042400" y="1711920"/>
            <a:ext cx="2210689" cy="42545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2F5D8A"/>
              </a:buClr>
              <a:buSzPts val="3000"/>
              <a:buFont typeface="Times New Roman"/>
              <a:buNone/>
            </a:pPr>
            <a:r>
              <a:rPr b="1" i="0" lang="en-US" sz="3000" u="none" cap="none" strike="noStrike">
                <a:solidFill>
                  <a:srgbClr val="2F5D8A"/>
                </a:solidFill>
                <a:latin typeface="Times New Roman"/>
                <a:ea typeface="Times New Roman"/>
                <a:cs typeface="Times New Roman"/>
                <a:sym typeface="Times New Roman"/>
              </a:rPr>
              <a:t>46</a:t>
            </a:r>
            <a:endParaRPr b="0" i="0" sz="3000" u="none" cap="none" strike="noStrike">
              <a:solidFill>
                <a:schemeClr val="dk1"/>
              </a:solidFill>
              <a:latin typeface="Times New Roman"/>
              <a:ea typeface="Times New Roman"/>
              <a:cs typeface="Times New Roman"/>
              <a:sym typeface="Times New Roman"/>
            </a:endParaRPr>
          </a:p>
        </p:txBody>
      </p:sp>
      <p:sp>
        <p:nvSpPr>
          <p:cNvPr id="216" name="Google Shape;216;p8"/>
          <p:cNvSpPr/>
          <p:nvPr/>
        </p:nvSpPr>
        <p:spPr>
          <a:xfrm>
            <a:off x="9042400" y="212467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videos (side + front)</a:t>
            </a:r>
            <a:endParaRPr b="0" i="0" sz="1200" u="none" cap="none" strike="noStrike">
              <a:solidFill>
                <a:schemeClr val="dk1"/>
              </a:solidFill>
              <a:latin typeface="Times New Roman"/>
              <a:ea typeface="Times New Roman"/>
              <a:cs typeface="Times New Roman"/>
              <a:sym typeface="Times New Roman"/>
            </a:endParaRPr>
          </a:p>
        </p:txBody>
      </p:sp>
      <p:sp>
        <p:nvSpPr>
          <p:cNvPr id="217" name="Google Shape;217;p8"/>
          <p:cNvSpPr/>
          <p:nvPr/>
        </p:nvSpPr>
        <p:spPr>
          <a:xfrm>
            <a:off x="819150" y="2534841"/>
            <a:ext cx="5118100" cy="2105323"/>
          </a:xfrm>
          <a:prstGeom prst="roundRect">
            <a:avLst>
              <a:gd fmla="val 3318"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1003300" y="2718991"/>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Recording protocol (one take)</a:t>
            </a:r>
            <a:endParaRPr b="0" i="0" sz="1400" u="none" cap="none" strike="noStrike">
              <a:solidFill>
                <a:schemeClr val="dk1"/>
              </a:solidFill>
              <a:latin typeface="Times New Roman"/>
              <a:ea typeface="Times New Roman"/>
              <a:cs typeface="Times New Roman"/>
              <a:sym typeface="Times New Roman"/>
            </a:endParaRPr>
          </a:p>
        </p:txBody>
      </p:sp>
      <p:sp>
        <p:nvSpPr>
          <p:cNvPr id="219" name="Google Shape;219;p8"/>
          <p:cNvSpPr/>
          <p:nvPr/>
        </p:nvSpPr>
        <p:spPr>
          <a:xfrm>
            <a:off x="1003300" y="300851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p:txBody>
      </p:sp>
      <p:sp>
        <p:nvSpPr>
          <p:cNvPr id="220" name="Google Shape;220;p8"/>
          <p:cNvSpPr/>
          <p:nvPr/>
        </p:nvSpPr>
        <p:spPr>
          <a:xfrm>
            <a:off x="1358900" y="3008511"/>
            <a:ext cx="452602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Set two tripods: beside the lane and behind the board.</a:t>
            </a:r>
            <a:endParaRPr b="0" i="0" sz="1200" u="none" cap="none" strike="noStrike">
              <a:solidFill>
                <a:schemeClr val="dk1"/>
              </a:solidFill>
              <a:latin typeface="Times New Roman"/>
              <a:ea typeface="Times New Roman"/>
              <a:cs typeface="Times New Roman"/>
              <a:sym typeface="Times New Roman"/>
            </a:endParaRPr>
          </a:p>
        </p:txBody>
      </p:sp>
      <p:sp>
        <p:nvSpPr>
          <p:cNvPr id="221" name="Google Shape;221;p8"/>
          <p:cNvSpPr/>
          <p:nvPr/>
        </p:nvSpPr>
        <p:spPr>
          <a:xfrm>
            <a:off x="1003300" y="333871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2</a:t>
            </a:r>
            <a:endParaRPr b="0" i="0" sz="1200" u="none" cap="none" strike="noStrike">
              <a:solidFill>
                <a:schemeClr val="dk1"/>
              </a:solidFill>
              <a:latin typeface="Times New Roman"/>
              <a:ea typeface="Times New Roman"/>
              <a:cs typeface="Times New Roman"/>
              <a:sym typeface="Times New Roman"/>
            </a:endParaRPr>
          </a:p>
        </p:txBody>
      </p:sp>
      <p:sp>
        <p:nvSpPr>
          <p:cNvPr id="222" name="Google Shape;222;p8"/>
          <p:cNvSpPr/>
          <p:nvPr/>
        </p:nvSpPr>
        <p:spPr>
          <a:xfrm>
            <a:off x="1358900" y="3338711"/>
            <a:ext cx="452602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Start both phones; the athlete claps once, for sync.</a:t>
            </a:r>
            <a:endParaRPr b="0" i="0" sz="1200" u="none" cap="none" strike="noStrike">
              <a:solidFill>
                <a:schemeClr val="dk1"/>
              </a:solidFill>
              <a:latin typeface="Times New Roman"/>
              <a:ea typeface="Times New Roman"/>
              <a:cs typeface="Times New Roman"/>
              <a:sym typeface="Times New Roman"/>
            </a:endParaRPr>
          </a:p>
        </p:txBody>
      </p:sp>
      <p:sp>
        <p:nvSpPr>
          <p:cNvPr id="223" name="Google Shape;223;p8"/>
          <p:cNvSpPr/>
          <p:nvPr/>
        </p:nvSpPr>
        <p:spPr>
          <a:xfrm>
            <a:off x="1003300" y="366891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3</a:t>
            </a:r>
            <a:endParaRPr b="0" i="0" sz="1200" u="none" cap="none" strike="noStrike">
              <a:solidFill>
                <a:schemeClr val="dk1"/>
              </a:solidFill>
              <a:latin typeface="Times New Roman"/>
              <a:ea typeface="Times New Roman"/>
              <a:cs typeface="Times New Roman"/>
              <a:sym typeface="Times New Roman"/>
            </a:endParaRPr>
          </a:p>
        </p:txBody>
      </p:sp>
      <p:sp>
        <p:nvSpPr>
          <p:cNvPr id="224" name="Google Shape;224;p8"/>
          <p:cNvSpPr/>
          <p:nvPr/>
        </p:nvSpPr>
        <p:spPr>
          <a:xfrm>
            <a:off x="1358900" y="3668911"/>
            <a:ext cx="452602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Show the take number with fingers, so files are labelled.</a:t>
            </a:r>
            <a:endParaRPr b="0" i="0" sz="1200" u="none" cap="none" strike="noStrike">
              <a:solidFill>
                <a:schemeClr val="dk1"/>
              </a:solidFill>
              <a:latin typeface="Times New Roman"/>
              <a:ea typeface="Times New Roman"/>
              <a:cs typeface="Times New Roman"/>
              <a:sym typeface="Times New Roman"/>
            </a:endParaRPr>
          </a:p>
        </p:txBody>
      </p:sp>
      <p:sp>
        <p:nvSpPr>
          <p:cNvPr id="225" name="Google Shape;225;p8"/>
          <p:cNvSpPr/>
          <p:nvPr/>
        </p:nvSpPr>
        <p:spPr>
          <a:xfrm>
            <a:off x="1003300" y="399911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4</a:t>
            </a:r>
            <a:endParaRPr b="0" i="0" sz="1200" u="none" cap="none" strike="noStrike">
              <a:solidFill>
                <a:schemeClr val="dk1"/>
              </a:solidFill>
              <a:latin typeface="Times New Roman"/>
              <a:ea typeface="Times New Roman"/>
              <a:cs typeface="Times New Roman"/>
              <a:sym typeface="Times New Roman"/>
            </a:endParaRPr>
          </a:p>
        </p:txBody>
      </p:sp>
      <p:sp>
        <p:nvSpPr>
          <p:cNvPr id="226" name="Google Shape;226;p8"/>
          <p:cNvSpPr/>
          <p:nvPr/>
        </p:nvSpPr>
        <p:spPr>
          <a:xfrm>
            <a:off x="1358900" y="3999111"/>
            <a:ext cx="452602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Throw 4 bags. No markers, no sensors, normal clothes.</a:t>
            </a:r>
            <a:endParaRPr b="0" i="0" sz="1200" u="none" cap="none" strike="noStrike">
              <a:solidFill>
                <a:schemeClr val="dk1"/>
              </a:solidFill>
              <a:latin typeface="Times New Roman"/>
              <a:ea typeface="Times New Roman"/>
              <a:cs typeface="Times New Roman"/>
              <a:sym typeface="Times New Roman"/>
            </a:endParaRPr>
          </a:p>
        </p:txBody>
      </p:sp>
      <p:sp>
        <p:nvSpPr>
          <p:cNvPr id="227" name="Google Shape;227;p8"/>
          <p:cNvSpPr/>
          <p:nvPr/>
        </p:nvSpPr>
        <p:spPr>
          <a:xfrm>
            <a:off x="6254750" y="2534841"/>
            <a:ext cx="5118100" cy="2105323"/>
          </a:xfrm>
          <a:prstGeom prst="roundRect">
            <a:avLst>
              <a:gd fmla="val 3318"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6438900" y="2718991"/>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How our set-up evolved</a:t>
            </a:r>
            <a:endParaRPr b="0" i="0" sz="1400" u="none" cap="none" strike="noStrike">
              <a:solidFill>
                <a:schemeClr val="dk1"/>
              </a:solidFill>
              <a:latin typeface="Times New Roman"/>
              <a:ea typeface="Times New Roman"/>
              <a:cs typeface="Times New Roman"/>
              <a:sym typeface="Times New Roman"/>
            </a:endParaRPr>
          </a:p>
        </p:txBody>
      </p:sp>
      <p:cxnSp>
        <p:nvCxnSpPr>
          <p:cNvPr id="229" name="Google Shape;229;p8"/>
          <p:cNvCxnSpPr/>
          <p:nvPr/>
        </p:nvCxnSpPr>
        <p:spPr>
          <a:xfrm>
            <a:off x="6451600" y="3008511"/>
            <a:ext cx="0" cy="431701"/>
          </a:xfrm>
          <a:prstGeom prst="straightConnector1">
            <a:avLst/>
          </a:prstGeom>
          <a:noFill/>
          <a:ln cap="flat" cmpd="sng" w="25400">
            <a:solidFill>
              <a:srgbClr val="B9AF9F"/>
            </a:solidFill>
            <a:prstDash val="solid"/>
            <a:round/>
            <a:headEnd len="sm" w="sm" type="none"/>
            <a:tailEnd len="sm" w="sm" type="none"/>
          </a:ln>
        </p:spPr>
      </p:cxnSp>
      <p:sp>
        <p:nvSpPr>
          <p:cNvPr id="230" name="Google Shape;230;p8"/>
          <p:cNvSpPr/>
          <p:nvPr/>
        </p:nvSpPr>
        <p:spPr>
          <a:xfrm>
            <a:off x="6591300" y="3008511"/>
            <a:ext cx="473532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17 Sep · Hand-held pilot, one camera</a:t>
            </a:r>
            <a:endParaRPr b="0" i="0" sz="1200" u="none" cap="none" strike="noStrike">
              <a:solidFill>
                <a:schemeClr val="dk1"/>
              </a:solidFill>
              <a:latin typeface="Times New Roman"/>
              <a:ea typeface="Times New Roman"/>
              <a:cs typeface="Times New Roman"/>
              <a:sym typeface="Times New Roman"/>
            </a:endParaRPr>
          </a:p>
        </p:txBody>
      </p:sp>
      <p:sp>
        <p:nvSpPr>
          <p:cNvPr id="231" name="Google Shape;231;p8"/>
          <p:cNvSpPr/>
          <p:nvPr/>
        </p:nvSpPr>
        <p:spPr>
          <a:xfrm>
            <a:off x="6591300" y="3234531"/>
            <a:ext cx="473532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26 clips: the phone drifted up to 100 px and we couldn't see left/right.</a:t>
            </a:r>
            <a:endParaRPr b="0" i="0" sz="1200" u="none" cap="none" strike="noStrike">
              <a:solidFill>
                <a:schemeClr val="dk1"/>
              </a:solidFill>
              <a:latin typeface="Times New Roman"/>
              <a:ea typeface="Times New Roman"/>
              <a:cs typeface="Times New Roman"/>
              <a:sym typeface="Times New Roman"/>
            </a:endParaRPr>
          </a:p>
        </p:txBody>
      </p:sp>
      <p:cxnSp>
        <p:nvCxnSpPr>
          <p:cNvPr id="232" name="Google Shape;232;p8"/>
          <p:cNvCxnSpPr/>
          <p:nvPr/>
        </p:nvCxnSpPr>
        <p:spPr>
          <a:xfrm>
            <a:off x="6451600" y="3516412"/>
            <a:ext cx="0" cy="431701"/>
          </a:xfrm>
          <a:prstGeom prst="straightConnector1">
            <a:avLst/>
          </a:prstGeom>
          <a:noFill/>
          <a:ln cap="flat" cmpd="sng" w="25400">
            <a:solidFill>
              <a:srgbClr val="B8913F"/>
            </a:solidFill>
            <a:prstDash val="solid"/>
            <a:round/>
            <a:headEnd len="sm" w="sm" type="none"/>
            <a:tailEnd len="sm" w="sm" type="none"/>
          </a:ln>
        </p:spPr>
      </p:cxnSp>
      <p:sp>
        <p:nvSpPr>
          <p:cNvPr id="233" name="Google Shape;233;p8"/>
          <p:cNvSpPr/>
          <p:nvPr/>
        </p:nvSpPr>
        <p:spPr>
          <a:xfrm>
            <a:off x="6591300" y="3516412"/>
            <a:ext cx="473532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Late Sep · Tripod sessions</a:t>
            </a:r>
            <a:endParaRPr b="0" i="0" sz="1200" u="none" cap="none" strike="noStrike">
              <a:solidFill>
                <a:schemeClr val="dk1"/>
              </a:solidFill>
              <a:latin typeface="Times New Roman"/>
              <a:ea typeface="Times New Roman"/>
              <a:cs typeface="Times New Roman"/>
              <a:sym typeface="Times New Roman"/>
            </a:endParaRPr>
          </a:p>
        </p:txBody>
      </p:sp>
      <p:sp>
        <p:nvSpPr>
          <p:cNvPr id="234" name="Google Shape;234;p8"/>
          <p:cNvSpPr/>
          <p:nvPr/>
        </p:nvSpPr>
        <p:spPr>
          <a:xfrm>
            <a:off x="6591300" y="3742432"/>
            <a:ext cx="473532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Stable camera: the bag's end on the board was correct on 10 of 10 clips.</a:t>
            </a:r>
            <a:endParaRPr b="0" i="0" sz="1200" u="none" cap="none" strike="noStrike">
              <a:solidFill>
                <a:schemeClr val="dk1"/>
              </a:solidFill>
              <a:latin typeface="Times New Roman"/>
              <a:ea typeface="Times New Roman"/>
              <a:cs typeface="Times New Roman"/>
              <a:sym typeface="Times New Roman"/>
            </a:endParaRPr>
          </a:p>
        </p:txBody>
      </p:sp>
      <p:cxnSp>
        <p:nvCxnSpPr>
          <p:cNvPr id="235" name="Google Shape;235;p8"/>
          <p:cNvCxnSpPr/>
          <p:nvPr/>
        </p:nvCxnSpPr>
        <p:spPr>
          <a:xfrm>
            <a:off x="6451600" y="4024313"/>
            <a:ext cx="0" cy="431701"/>
          </a:xfrm>
          <a:prstGeom prst="straightConnector1">
            <a:avLst/>
          </a:prstGeom>
          <a:noFill/>
          <a:ln cap="flat" cmpd="sng" w="25400">
            <a:solidFill>
              <a:srgbClr val="2F5D8A"/>
            </a:solidFill>
            <a:prstDash val="solid"/>
            <a:round/>
            <a:headEnd len="sm" w="sm" type="none"/>
            <a:tailEnd len="sm" w="sm" type="none"/>
          </a:ln>
        </p:spPr>
      </p:cxnSp>
      <p:sp>
        <p:nvSpPr>
          <p:cNvPr id="236" name="Google Shape;236;p8"/>
          <p:cNvSpPr/>
          <p:nvPr/>
        </p:nvSpPr>
        <p:spPr>
          <a:xfrm>
            <a:off x="6591300" y="4024313"/>
            <a:ext cx="473532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Final collection · Two cameras</a:t>
            </a:r>
            <a:endParaRPr b="0" i="0" sz="1200" u="none" cap="none" strike="noStrike">
              <a:solidFill>
                <a:schemeClr val="dk1"/>
              </a:solidFill>
              <a:latin typeface="Times New Roman"/>
              <a:ea typeface="Times New Roman"/>
              <a:cs typeface="Times New Roman"/>
              <a:sym typeface="Times New Roman"/>
            </a:endParaRPr>
          </a:p>
        </p:txBody>
      </p:sp>
      <p:sp>
        <p:nvSpPr>
          <p:cNvPr id="237" name="Google Shape;237;p8"/>
          <p:cNvSpPr/>
          <p:nvPr/>
        </p:nvSpPr>
        <p:spPr>
          <a:xfrm>
            <a:off x="6591300" y="4250333"/>
            <a:ext cx="473532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Left/right and hole / board / off are now measured automatically.</a:t>
            </a:r>
            <a:endParaRPr b="0" i="0" sz="1200" u="none" cap="none" strike="noStrike">
              <a:solidFill>
                <a:schemeClr val="dk1"/>
              </a:solidFill>
              <a:latin typeface="Times New Roman"/>
              <a:ea typeface="Times New Roman"/>
              <a:cs typeface="Times New Roman"/>
              <a:sym typeface="Times New Roman"/>
            </a:endParaRPr>
          </a:p>
        </p:txBody>
      </p:sp>
      <p:sp>
        <p:nvSpPr>
          <p:cNvPr id="238" name="Google Shape;238;p8"/>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239" name="Google Shape;239;p8"/>
          <p:cNvSpPr/>
          <p:nvPr/>
        </p:nvSpPr>
        <p:spPr>
          <a:xfrm>
            <a:off x="9901396" y="6238280"/>
            <a:ext cx="147780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John Wilson · 7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44" name="Shape 244"/>
        <p:cNvGrpSpPr/>
        <p:nvPr/>
      </p:nvGrpSpPr>
      <p:grpSpPr>
        <a:xfrm>
          <a:off x="0" y="0"/>
          <a:ext cx="0" cy="0"/>
          <a:chOff x="0" y="0"/>
          <a:chExt cx="0" cy="0"/>
        </a:xfrm>
      </p:grpSpPr>
      <p:sp>
        <p:nvSpPr>
          <p:cNvPr id="245" name="Google Shape;245;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3 · HOW THE APP WORKS</a:t>
            </a:r>
            <a:endParaRPr b="0" i="0" sz="1200" u="none" cap="none" strike="noStrike">
              <a:solidFill>
                <a:schemeClr val="dk1"/>
              </a:solidFill>
              <a:latin typeface="Times New Roman"/>
              <a:ea typeface="Times New Roman"/>
              <a:cs typeface="Times New Roman"/>
              <a:sym typeface="Times New Roman"/>
            </a:endParaRPr>
          </a:p>
        </p:txBody>
      </p:sp>
      <p:sp>
        <p:nvSpPr>
          <p:cNvPr id="246" name="Google Shape;246;p9"/>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From two videos to one coaching sentence</a:t>
            </a:r>
            <a:endParaRPr sz="3000"/>
          </a:p>
        </p:txBody>
      </p:sp>
      <p:sp>
        <p:nvSpPr>
          <p:cNvPr id="247" name="Google Shape;247;p9"/>
          <p:cNvSpPr/>
          <p:nvPr/>
        </p:nvSpPr>
        <p:spPr>
          <a:xfrm>
            <a:off x="819150" y="1706761"/>
            <a:ext cx="3179167" cy="949821"/>
          </a:xfrm>
          <a:prstGeom prst="roundRect">
            <a:avLst>
              <a:gd fmla="val 735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1003300" y="1840111"/>
            <a:ext cx="289519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pc="100" sz="1200" u="none" cap="none" strike="noStrike">
                <a:solidFill>
                  <a:srgbClr val="2F5D8A"/>
                </a:solidFill>
                <a:latin typeface="Times New Roman"/>
                <a:ea typeface="Times New Roman"/>
                <a:cs typeface="Times New Roman"/>
                <a:sym typeface="Times New Roman"/>
              </a:rPr>
              <a:t>INPUT</a:t>
            </a:r>
            <a:endParaRPr b="0" i="0" sz="1200" u="none" cap="none" strike="noStrike">
              <a:solidFill>
                <a:schemeClr val="dk1"/>
              </a:solidFill>
              <a:latin typeface="Times New Roman"/>
              <a:ea typeface="Times New Roman"/>
              <a:cs typeface="Times New Roman"/>
              <a:sym typeface="Times New Roman"/>
            </a:endParaRPr>
          </a:p>
        </p:txBody>
      </p:sp>
      <p:sp>
        <p:nvSpPr>
          <p:cNvPr id="249" name="Google Shape;249;p9"/>
          <p:cNvSpPr/>
          <p:nvPr/>
        </p:nvSpPr>
        <p:spPr>
          <a:xfrm>
            <a:off x="1003300" y="2078831"/>
            <a:ext cx="2895193"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Two videos per take</a:t>
            </a:r>
            <a:endParaRPr b="0" i="0" sz="1400" u="none" cap="none" strike="noStrike">
              <a:solidFill>
                <a:schemeClr val="dk1"/>
              </a:solidFill>
              <a:latin typeface="Times New Roman"/>
              <a:ea typeface="Times New Roman"/>
              <a:cs typeface="Times New Roman"/>
              <a:sym typeface="Times New Roman"/>
            </a:endParaRPr>
          </a:p>
        </p:txBody>
      </p:sp>
      <p:sp>
        <p:nvSpPr>
          <p:cNvPr id="250" name="Google Shape;250;p9"/>
          <p:cNvSpPr/>
          <p:nvPr/>
        </p:nvSpPr>
        <p:spPr>
          <a:xfrm>
            <a:off x="1003300" y="2317552"/>
            <a:ext cx="2895193"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Side 60 fps + front 30 fps, 4 throws</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251" name="Google Shape;251;p9"/>
          <p:cNvPicPr preferRelativeResize="0"/>
          <p:nvPr/>
        </p:nvPicPr>
        <p:blipFill rotWithShape="1">
          <a:blip r:embed="rId3">
            <a:alphaModFix/>
          </a:blip>
          <a:srcRect b="0" l="0" r="0" t="0"/>
          <a:stretch/>
        </p:blipFill>
        <p:spPr>
          <a:xfrm>
            <a:off x="4131667" y="2118221"/>
            <a:ext cx="254000" cy="127000"/>
          </a:xfrm>
          <a:prstGeom prst="rect">
            <a:avLst/>
          </a:prstGeom>
          <a:noFill/>
          <a:ln>
            <a:noFill/>
          </a:ln>
        </p:spPr>
      </p:pic>
      <p:sp>
        <p:nvSpPr>
          <p:cNvPr id="252" name="Google Shape;252;p9"/>
          <p:cNvSpPr/>
          <p:nvPr/>
        </p:nvSpPr>
        <p:spPr>
          <a:xfrm>
            <a:off x="4512667" y="1713111"/>
            <a:ext cx="3166566" cy="937121"/>
          </a:xfrm>
          <a:prstGeom prst="roundRect">
            <a:avLst>
              <a:gd fmla="val 8131"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4690467" y="1840111"/>
            <a:ext cx="289529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ENGINE</a:t>
            </a:r>
            <a:endParaRPr b="0" i="0" sz="1200" u="none" cap="none" strike="noStrike">
              <a:solidFill>
                <a:schemeClr val="dk1"/>
              </a:solidFill>
              <a:latin typeface="Times New Roman"/>
              <a:ea typeface="Times New Roman"/>
              <a:cs typeface="Times New Roman"/>
              <a:sym typeface="Times New Roman"/>
            </a:endParaRPr>
          </a:p>
        </p:txBody>
      </p:sp>
      <p:sp>
        <p:nvSpPr>
          <p:cNvPr id="254" name="Google Shape;254;p9"/>
          <p:cNvSpPr/>
          <p:nvPr/>
        </p:nvSpPr>
        <p:spPr>
          <a:xfrm>
            <a:off x="4690467" y="2078831"/>
            <a:ext cx="2895295"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3EEE4"/>
              </a:buClr>
              <a:buSzPts val="1400"/>
              <a:buFont typeface="Times New Roman"/>
              <a:buNone/>
            </a:pPr>
            <a:r>
              <a:rPr b="1" i="0" lang="en-US" sz="1400" u="none" cap="none" strike="noStrike">
                <a:solidFill>
                  <a:srgbClr val="F3EEE4"/>
                </a:solidFill>
                <a:latin typeface="Times New Roman"/>
                <a:ea typeface="Times New Roman"/>
                <a:cs typeface="Times New Roman"/>
                <a:sym typeface="Times New Roman"/>
              </a:rPr>
              <a:t>Python analysis on the Mac</a:t>
            </a:r>
            <a:endParaRPr b="0" i="0" sz="1400" u="none" cap="none" strike="noStrike">
              <a:solidFill>
                <a:schemeClr val="dk1"/>
              </a:solidFill>
              <a:latin typeface="Times New Roman"/>
              <a:ea typeface="Times New Roman"/>
              <a:cs typeface="Times New Roman"/>
              <a:sym typeface="Times New Roman"/>
            </a:endParaRPr>
          </a:p>
        </p:txBody>
      </p:sp>
      <p:sp>
        <p:nvSpPr>
          <p:cNvPr id="255" name="Google Shape;255;p9"/>
          <p:cNvSpPr/>
          <p:nvPr/>
        </p:nvSpPr>
        <p:spPr>
          <a:xfrm>
            <a:off x="4690467" y="2317552"/>
            <a:ext cx="2895295"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About 2 min per throw, one at a time</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256" name="Google Shape;256;p9"/>
          <p:cNvPicPr preferRelativeResize="0"/>
          <p:nvPr/>
        </p:nvPicPr>
        <p:blipFill rotWithShape="1">
          <a:blip r:embed="rId3">
            <a:alphaModFix/>
          </a:blip>
          <a:srcRect b="0" l="0" r="0" t="0"/>
          <a:stretch/>
        </p:blipFill>
        <p:spPr>
          <a:xfrm>
            <a:off x="7806234" y="2118221"/>
            <a:ext cx="254000" cy="127000"/>
          </a:xfrm>
          <a:prstGeom prst="rect">
            <a:avLst/>
          </a:prstGeom>
          <a:noFill/>
          <a:ln>
            <a:noFill/>
          </a:ln>
        </p:spPr>
      </p:pic>
      <p:sp>
        <p:nvSpPr>
          <p:cNvPr id="257" name="Google Shape;257;p9"/>
          <p:cNvSpPr/>
          <p:nvPr/>
        </p:nvSpPr>
        <p:spPr>
          <a:xfrm>
            <a:off x="8193584" y="1603970"/>
            <a:ext cx="3179266" cy="1155502"/>
          </a:xfrm>
          <a:prstGeom prst="roundRect">
            <a:avLst>
              <a:gd fmla="val 6045"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8377734" y="1737320"/>
            <a:ext cx="289529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32A"/>
              </a:buClr>
              <a:buSzPts val="1200"/>
              <a:buFont typeface="Times New Roman"/>
              <a:buNone/>
            </a:pPr>
            <a:r>
              <a:rPr b="1" i="0" lang="en-US" spc="100" sz="1200" u="none" cap="none" strike="noStrike">
                <a:solidFill>
                  <a:srgbClr val="A8432A"/>
                </a:solidFill>
                <a:latin typeface="Times New Roman"/>
                <a:ea typeface="Times New Roman"/>
                <a:cs typeface="Times New Roman"/>
                <a:sym typeface="Times New Roman"/>
              </a:rPr>
              <a:t>OUTPUT</a:t>
            </a:r>
            <a:endParaRPr b="0" i="0" sz="1200" u="none" cap="none" strike="noStrike">
              <a:solidFill>
                <a:schemeClr val="dk1"/>
              </a:solidFill>
              <a:latin typeface="Times New Roman"/>
              <a:ea typeface="Times New Roman"/>
              <a:cs typeface="Times New Roman"/>
              <a:sym typeface="Times New Roman"/>
            </a:endParaRPr>
          </a:p>
        </p:txBody>
      </p:sp>
      <p:sp>
        <p:nvSpPr>
          <p:cNvPr id="259" name="Google Shape;259;p9"/>
          <p:cNvSpPr/>
          <p:nvPr/>
        </p:nvSpPr>
        <p:spPr>
          <a:xfrm>
            <a:off x="8377734" y="1976041"/>
            <a:ext cx="2895295"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What the coach sees</a:t>
            </a:r>
            <a:endParaRPr b="0" i="0" sz="1400" u="none" cap="none" strike="noStrike">
              <a:solidFill>
                <a:schemeClr val="dk1"/>
              </a:solidFill>
              <a:latin typeface="Times New Roman"/>
              <a:ea typeface="Times New Roman"/>
              <a:cs typeface="Times New Roman"/>
              <a:sym typeface="Times New Roman"/>
            </a:endParaRPr>
          </a:p>
        </p:txBody>
      </p:sp>
      <p:sp>
        <p:nvSpPr>
          <p:cNvPr id="260" name="Google Shape;260;p9"/>
          <p:cNvSpPr/>
          <p:nvPr/>
        </p:nvSpPr>
        <p:spPr>
          <a:xfrm>
            <a:off x="8377734" y="2214761"/>
            <a:ext cx="2895295"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Throw report, athlete summary, Launch Lab, PDF</a:t>
            </a:r>
            <a:endParaRPr b="0" i="0" sz="1200" u="none" cap="none" strike="noStrike">
              <a:solidFill>
                <a:schemeClr val="dk1"/>
              </a:solidFill>
              <a:latin typeface="Times New Roman"/>
              <a:ea typeface="Times New Roman"/>
              <a:cs typeface="Times New Roman"/>
              <a:sym typeface="Times New Roman"/>
            </a:endParaRPr>
          </a:p>
        </p:txBody>
      </p:sp>
      <p:sp>
        <p:nvSpPr>
          <p:cNvPr id="262" name="Google Shape;262;p9"/>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263" name="Google Shape;263;p9"/>
          <p:cNvSpPr/>
          <p:nvPr/>
        </p:nvSpPr>
        <p:spPr>
          <a:xfrm>
            <a:off x="9677797" y="6238280"/>
            <a:ext cx="170140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Berk Kasimcan · 8 / 17</a:t>
            </a:r>
            <a:endParaRPr b="0" i="0" sz="1200" u="none" cap="none" strike="noStrike">
              <a:solidFill>
                <a:schemeClr val="dk1"/>
              </a:solidFill>
              <a:latin typeface="Times New Roman"/>
              <a:ea typeface="Times New Roman"/>
              <a:cs typeface="Times New Roman"/>
              <a:sym typeface="Times New Roman"/>
            </a:endParaRPr>
          </a:p>
        </p:txBody>
      </p:sp>
      <p:pic>
        <p:nvPicPr>
          <p:cNvPr id="264" name="Picture 263" descr="pipeline_storyboard.png"/>
          <p:cNvPicPr>
            <a:picLocks noChangeAspect="1"/>
          </p:cNvPicPr>
          <p:nvPr/>
        </p:nvPicPr>
        <p:blipFill>
          <a:blip r:embed="rId4"/>
          <a:stretch>
            <a:fillRect/>
          </a:stretch>
        </p:blipFill>
        <p:spPr>
          <a:xfrm>
            <a:off x="822960" y="2852928"/>
            <a:ext cx="10552176" cy="2810858"/>
          </a:xfrm>
          <a:prstGeom prst="rect">
            <a:avLst/>
          </a:prstGeom>
        </p:spPr>
      </p:pic>
      <p:sp>
        <p:nvSpPr>
          <p:cNvPr id="265" name="TextBox 264"/>
          <p:cNvSpPr txBox="1"/>
          <p:nvPr/>
        </p:nvSpPr>
        <p:spPr>
          <a:xfrm>
            <a:off x="822960" y="5736938"/>
            <a:ext cx="10552176" cy="228600"/>
          </a:xfrm>
          <a:prstGeom prst="rect">
            <a:avLst/>
          </a:prstGeom>
          <a:noFill/>
        </p:spPr>
        <p:txBody>
          <a:bodyPr wrap="square" lIns="0" rIns="0" tIns="0" bIns="0" anchor="t">
            <a:spAutoFit/>
          </a:bodyPr>
          <a:lstStyle/>
          <a:p>
            <a:pPr algn="l">
              <a:lnSpc>
                <a:spcPct val="130000"/>
              </a:lnSpc>
            </a:pPr>
            <a:r>
              <a:rPr sz="1100" b="1" i="0">
                <a:solidFill>
                  <a:srgbClr val="1C1A17"/>
                </a:solidFill>
                <a:latin typeface="Times New Roman"/>
              </a:rPr>
              <a:t>One real throw through the six steps: </a:t>
            </a:r>
            <a:r>
              <a:rPr sz="1100" b="0" i="0">
                <a:solidFill>
                  <a:srgbClr val="57514A"/>
                </a:solidFill>
                <a:latin typeface="Times New Roman"/>
              </a:rPr>
              <a:t>Player 1, Take 6, Throw 1. Every number on this strip is the engine's own output for that throw.</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68" name="Shape 268"/>
        <p:cNvGrpSpPr/>
        <p:nvPr/>
      </p:nvGrpSpPr>
      <p:grpSpPr>
        <a:xfrm>
          <a:off x="0" y="0"/>
          <a:ext cx="0" cy="0"/>
          <a:chOff x="0" y="0"/>
          <a:chExt cx="0" cy="0"/>
        </a:xfrm>
      </p:grpSpPr>
      <p:sp>
        <p:nvSpPr>
          <p:cNvPr id="269" name="Google Shape;269;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3 · TWO-CAMERA SYNCHRONISATION</a:t>
            </a:r>
            <a:endParaRPr b="0" i="0" sz="1200" u="none" cap="none" strike="noStrike">
              <a:solidFill>
                <a:schemeClr val="dk1"/>
              </a:solidFill>
              <a:latin typeface="Times New Roman"/>
              <a:ea typeface="Times New Roman"/>
              <a:cs typeface="Times New Roman"/>
              <a:sym typeface="Times New Roman"/>
            </a:endParaRPr>
          </a:p>
        </p:txBody>
      </p:sp>
      <p:sp>
        <p:nvSpPr>
          <p:cNvPr id="270" name="Google Shape;270;p10"/>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Two phones, one timeline: synced by sound</a:t>
            </a:r>
            <a:endParaRPr sz="3000"/>
          </a:p>
        </p:txBody>
      </p:sp>
      <p:sp>
        <p:nvSpPr>
          <p:cNvPr id="271" name="Google Shape;271;p10"/>
          <p:cNvSpPr/>
          <p:nvPr/>
        </p:nvSpPr>
        <p:spPr>
          <a:xfrm>
            <a:off x="819150" y="1603970"/>
            <a:ext cx="5194300" cy="2527300"/>
          </a:xfrm>
          <a:prstGeom prst="roundRect">
            <a:avLst>
              <a:gd fmla="val 276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wo audio loudness tracks. The side phone shows a clap and four bag impacts; the front phone shows the same five sounds shifted later in time. An arrow marks the shift between the two claps" id="272" name="Google Shape;272;p10"/>
          <p:cNvPicPr preferRelativeResize="0"/>
          <p:nvPr/>
        </p:nvPicPr>
        <p:blipFill rotWithShape="1">
          <a:blip r:embed="rId3">
            <a:alphaModFix/>
          </a:blip>
          <a:srcRect b="0" l="0" r="0" t="0"/>
          <a:stretch/>
        </p:blipFill>
        <p:spPr>
          <a:xfrm>
            <a:off x="812800" y="1597620"/>
            <a:ext cx="5181600" cy="2514600"/>
          </a:xfrm>
          <a:prstGeom prst="rect">
            <a:avLst/>
          </a:prstGeom>
          <a:noFill/>
          <a:ln>
            <a:noFill/>
          </a:ln>
        </p:spPr>
      </p:pic>
      <p:sp>
        <p:nvSpPr>
          <p:cNvPr id="273" name="Google Shape;273;p10"/>
          <p:cNvSpPr/>
          <p:nvPr/>
        </p:nvSpPr>
        <p:spPr>
          <a:xfrm>
            <a:off x="1041400" y="1635720"/>
            <a:ext cx="558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z="1200" u="none" cap="none" strike="noStrike">
                <a:solidFill>
                  <a:srgbClr val="2F5D8A"/>
                </a:solidFill>
                <a:latin typeface="Times New Roman"/>
                <a:ea typeface="Times New Roman"/>
                <a:cs typeface="Times New Roman"/>
                <a:sym typeface="Times New Roman"/>
              </a:rPr>
              <a:t>clap</a:t>
            </a:r>
            <a:endParaRPr b="0" i="0" sz="1200" u="none" cap="none" strike="noStrike">
              <a:solidFill>
                <a:schemeClr val="dk1"/>
              </a:solidFill>
              <a:latin typeface="Times New Roman"/>
              <a:ea typeface="Times New Roman"/>
              <a:cs typeface="Times New Roman"/>
              <a:sym typeface="Times New Roman"/>
            </a:endParaRPr>
          </a:p>
        </p:txBody>
      </p:sp>
      <p:sp>
        <p:nvSpPr>
          <p:cNvPr id="274" name="Google Shape;274;p10"/>
          <p:cNvSpPr/>
          <p:nvPr/>
        </p:nvSpPr>
        <p:spPr>
          <a:xfrm>
            <a:off x="1574800" y="1750020"/>
            <a:ext cx="300863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z="1200" u="none" cap="none" strike="noStrike">
                <a:solidFill>
                  <a:srgbClr val="2F5D8A"/>
                </a:solidFill>
                <a:latin typeface="Times New Roman"/>
                <a:ea typeface="Times New Roman"/>
                <a:cs typeface="Times New Roman"/>
                <a:sym typeface="Times New Roman"/>
              </a:rPr>
              <a:t>Side phone:</a:t>
            </a:r>
            <a:r>
              <a:rPr b="0" i="0" lang="en-US" sz="1200" u="none" cap="none" strike="noStrike">
                <a:solidFill>
                  <a:srgbClr val="2F5D8A"/>
                </a:solidFill>
                <a:latin typeface="Times New Roman"/>
                <a:ea typeface="Times New Roman"/>
                <a:cs typeface="Times New Roman"/>
                <a:sym typeface="Times New Roman"/>
              </a:rPr>
              <a:t> clap, then 4 bag impacts</a:t>
            </a:r>
            <a:endParaRPr b="0" i="0" sz="1200" u="none" cap="none" strike="noStrike">
              <a:solidFill>
                <a:schemeClr val="dk1"/>
              </a:solidFill>
              <a:latin typeface="Times New Roman"/>
              <a:ea typeface="Times New Roman"/>
              <a:cs typeface="Times New Roman"/>
              <a:sym typeface="Times New Roman"/>
            </a:endParaRPr>
          </a:p>
        </p:txBody>
      </p:sp>
      <p:sp>
        <p:nvSpPr>
          <p:cNvPr id="275" name="Google Shape;275;p10"/>
          <p:cNvSpPr/>
          <p:nvPr/>
        </p:nvSpPr>
        <p:spPr>
          <a:xfrm>
            <a:off x="2082800" y="2778720"/>
            <a:ext cx="31394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Front phone:</a:t>
            </a:r>
            <a:r>
              <a:rPr b="0" i="0" lang="en-US" sz="1200" u="none" cap="none" strike="noStrike">
                <a:solidFill>
                  <a:srgbClr val="8A6A2B"/>
                </a:solidFill>
                <a:latin typeface="Times New Roman"/>
                <a:ea typeface="Times New Roman"/>
                <a:cs typeface="Times New Roman"/>
                <a:sym typeface="Times New Roman"/>
              </a:rPr>
              <a:t> same sounds, shifted in time</a:t>
            </a:r>
            <a:endParaRPr b="0" i="0" sz="1200" u="none" cap="none" strike="noStrike">
              <a:solidFill>
                <a:schemeClr val="dk1"/>
              </a:solidFill>
              <a:latin typeface="Times New Roman"/>
              <a:ea typeface="Times New Roman"/>
              <a:cs typeface="Times New Roman"/>
              <a:sym typeface="Times New Roman"/>
            </a:endParaRPr>
          </a:p>
        </p:txBody>
      </p:sp>
      <p:sp>
        <p:nvSpPr>
          <p:cNvPr id="276" name="Google Shape;276;p10"/>
          <p:cNvSpPr/>
          <p:nvPr/>
        </p:nvSpPr>
        <p:spPr>
          <a:xfrm>
            <a:off x="1905000" y="3718520"/>
            <a:ext cx="2616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shift found by cross-correlation</a:t>
            </a:r>
            <a:endParaRPr b="0" i="0" sz="1200" u="none" cap="none" strike="noStrike">
              <a:solidFill>
                <a:schemeClr val="dk1"/>
              </a:solidFill>
              <a:latin typeface="Times New Roman"/>
              <a:ea typeface="Times New Roman"/>
              <a:cs typeface="Times New Roman"/>
              <a:sym typeface="Times New Roman"/>
            </a:endParaRPr>
          </a:p>
        </p:txBody>
      </p:sp>
      <p:sp>
        <p:nvSpPr>
          <p:cNvPr id="277" name="Google Shape;277;p10"/>
          <p:cNvSpPr/>
          <p:nvPr/>
        </p:nvSpPr>
        <p:spPr>
          <a:xfrm>
            <a:off x="812800" y="4213820"/>
            <a:ext cx="536321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The app slides one soundtrack against the other until the clap and every bag impact line up.</a:t>
            </a:r>
            <a:endParaRPr b="0" i="0" sz="1200" u="none" cap="none" strike="noStrike">
              <a:solidFill>
                <a:schemeClr val="dk1"/>
              </a:solidFill>
              <a:latin typeface="Times New Roman"/>
              <a:ea typeface="Times New Roman"/>
              <a:cs typeface="Times New Roman"/>
              <a:sym typeface="Times New Roman"/>
            </a:endParaRPr>
          </a:p>
        </p:txBody>
      </p:sp>
      <p:sp>
        <p:nvSpPr>
          <p:cNvPr id="278" name="Google Shape;278;p10"/>
          <p:cNvSpPr/>
          <p:nvPr/>
        </p:nvSpPr>
        <p:spPr>
          <a:xfrm>
            <a:off x="6324600" y="1597620"/>
            <a:ext cx="5054600" cy="893961"/>
          </a:xfrm>
          <a:prstGeom prst="roundRect">
            <a:avLst>
              <a:gd fmla="val 8524" name="adj"/>
            </a:avLst>
          </a:prstGeom>
          <a:solidFill>
            <a:srgbClr val="1C1A17"/>
          </a:solidFill>
          <a:ln>
            <a:noFill/>
          </a:ln>
        </p:spPr>
        <p:txBody>
          <a:bodyPr anchorCtr="0" anchor="t" bIns="79275" lIns="155475" spcFirstLastPara="1" rIns="14500" wrap="square" tIns="104675">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z="1200" u="none" cap="none" strike="noStrike">
                <a:solidFill>
                  <a:srgbClr val="C9A24E"/>
                </a:solidFill>
                <a:latin typeface="Times New Roman"/>
                <a:ea typeface="Times New Roman"/>
                <a:cs typeface="Times New Roman"/>
                <a:sym typeface="Times New Roman"/>
              </a:rPr>
              <a:t>Why it matters:</a:t>
            </a:r>
            <a:r>
              <a:rPr b="0" i="0" lang="en-US" sz="1200" u="none" cap="none" strike="noStrike">
                <a:solidFill>
                  <a:srgbClr val="F3EEE4"/>
                </a:solidFill>
                <a:latin typeface="Times New Roman"/>
                <a:ea typeface="Times New Roman"/>
                <a:cs typeface="Times New Roman"/>
                <a:sym typeface="Times New Roman"/>
              </a:rPr>
              <a:t> the side phone measures speed and the slide; the front phone sees left/right and the hole. Combining them needs the same instant, within a frame.</a:t>
            </a:r>
            <a:endParaRPr b="0" i="0" sz="1200" u="none" cap="none" strike="noStrike">
              <a:solidFill>
                <a:schemeClr val="dk1"/>
              </a:solidFill>
              <a:latin typeface="Times New Roman"/>
              <a:ea typeface="Times New Roman"/>
              <a:cs typeface="Times New Roman"/>
              <a:sym typeface="Times New Roman"/>
            </a:endParaRPr>
          </a:p>
        </p:txBody>
      </p:sp>
      <p:sp>
        <p:nvSpPr>
          <p:cNvPr id="279" name="Google Shape;279;p10"/>
          <p:cNvSpPr/>
          <p:nvPr/>
        </p:nvSpPr>
        <p:spPr>
          <a:xfrm>
            <a:off x="6324600" y="258048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p:txBody>
      </p:sp>
      <p:sp>
        <p:nvSpPr>
          <p:cNvPr id="280" name="Google Shape;280;p10"/>
          <p:cNvSpPr/>
          <p:nvPr/>
        </p:nvSpPr>
        <p:spPr>
          <a:xfrm>
            <a:off x="6680200" y="2580481"/>
            <a:ext cx="4839970"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Clap</a:t>
            </a:r>
            <a:r>
              <a:rPr b="0" i="0" lang="en-US" sz="1200" u="none" cap="none" strike="noStrike">
                <a:solidFill>
                  <a:srgbClr val="57514A"/>
                </a:solidFill>
                <a:latin typeface="Times New Roman"/>
                <a:ea typeface="Times New Roman"/>
                <a:cs typeface="Times New Roman"/>
                <a:sym typeface="Times New Roman"/>
              </a:rPr>
              <a:t> once at the start of each take; each bag also thuds on the board.</a:t>
            </a:r>
            <a:endParaRPr b="0" i="0" sz="1200" u="none" cap="none" strike="noStrike">
              <a:solidFill>
                <a:schemeClr val="dk1"/>
              </a:solidFill>
              <a:latin typeface="Times New Roman"/>
              <a:ea typeface="Times New Roman"/>
              <a:cs typeface="Times New Roman"/>
              <a:sym typeface="Times New Roman"/>
            </a:endParaRPr>
          </a:p>
        </p:txBody>
      </p:sp>
      <p:sp>
        <p:nvSpPr>
          <p:cNvPr id="281" name="Google Shape;281;p10"/>
          <p:cNvSpPr/>
          <p:nvPr/>
        </p:nvSpPr>
        <p:spPr>
          <a:xfrm>
            <a:off x="6324600" y="292338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2</a:t>
            </a:r>
            <a:endParaRPr b="0" i="0" sz="1200" u="none" cap="none" strike="noStrike">
              <a:solidFill>
                <a:schemeClr val="dk1"/>
              </a:solidFill>
              <a:latin typeface="Times New Roman"/>
              <a:ea typeface="Times New Roman"/>
              <a:cs typeface="Times New Roman"/>
              <a:sym typeface="Times New Roman"/>
            </a:endParaRPr>
          </a:p>
        </p:txBody>
      </p:sp>
      <p:sp>
        <p:nvSpPr>
          <p:cNvPr id="282" name="Google Shape;282;p10"/>
          <p:cNvSpPr/>
          <p:nvPr/>
        </p:nvSpPr>
        <p:spPr>
          <a:xfrm>
            <a:off x="6680200" y="2923381"/>
            <a:ext cx="4839970"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Clean</a:t>
            </a:r>
            <a:r>
              <a:rPr b="0" i="0" lang="en-US" sz="1200" u="none" cap="none" strike="noStrike">
                <a:solidFill>
                  <a:srgbClr val="57514A"/>
                </a:solidFill>
                <a:latin typeface="Times New Roman"/>
                <a:ea typeface="Times New Roman"/>
                <a:cs typeface="Times New Roman"/>
                <a:sym typeface="Times New Roman"/>
              </a:rPr>
              <a:t> both soundtracks (above 300 Hz) into a loudness curve.</a:t>
            </a:r>
            <a:endParaRPr b="0" i="0" sz="1200" u="none" cap="none" strike="noStrike">
              <a:solidFill>
                <a:schemeClr val="dk1"/>
              </a:solidFill>
              <a:latin typeface="Times New Roman"/>
              <a:ea typeface="Times New Roman"/>
              <a:cs typeface="Times New Roman"/>
              <a:sym typeface="Times New Roman"/>
            </a:endParaRPr>
          </a:p>
        </p:txBody>
      </p:sp>
      <p:sp>
        <p:nvSpPr>
          <p:cNvPr id="283" name="Google Shape;283;p10"/>
          <p:cNvSpPr/>
          <p:nvPr/>
        </p:nvSpPr>
        <p:spPr>
          <a:xfrm>
            <a:off x="6324600" y="326628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3</a:t>
            </a:r>
            <a:endParaRPr b="0" i="0" sz="1200" u="none" cap="none" strike="noStrike">
              <a:solidFill>
                <a:schemeClr val="dk1"/>
              </a:solidFill>
              <a:latin typeface="Times New Roman"/>
              <a:ea typeface="Times New Roman"/>
              <a:cs typeface="Times New Roman"/>
              <a:sym typeface="Times New Roman"/>
            </a:endParaRPr>
          </a:p>
        </p:txBody>
      </p:sp>
      <p:sp>
        <p:nvSpPr>
          <p:cNvPr id="284" name="Google Shape;284;p10"/>
          <p:cNvSpPr/>
          <p:nvPr/>
        </p:nvSpPr>
        <p:spPr>
          <a:xfrm>
            <a:off x="6680200" y="3266281"/>
            <a:ext cx="483997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Match</a:t>
            </a:r>
            <a:r>
              <a:rPr b="0" i="0" lang="en-US" sz="1200" u="none" cap="none" strike="noStrike">
                <a:solidFill>
                  <a:srgbClr val="57514A"/>
                </a:solidFill>
                <a:latin typeface="Times New Roman"/>
                <a:ea typeface="Times New Roman"/>
                <a:cs typeface="Times New Roman"/>
                <a:sym typeface="Times New Roman"/>
              </a:rPr>
              <a:t> the curves (cross-correlation over ±12 s); keep only a clear best match.</a:t>
            </a:r>
            <a:endParaRPr b="0" i="0" sz="1200" u="none" cap="none" strike="noStrike">
              <a:solidFill>
                <a:schemeClr val="dk1"/>
              </a:solidFill>
              <a:latin typeface="Times New Roman"/>
              <a:ea typeface="Times New Roman"/>
              <a:cs typeface="Times New Roman"/>
              <a:sym typeface="Times New Roman"/>
            </a:endParaRPr>
          </a:p>
        </p:txBody>
      </p:sp>
      <p:sp>
        <p:nvSpPr>
          <p:cNvPr id="285" name="Google Shape;285;p10"/>
          <p:cNvSpPr/>
          <p:nvPr/>
        </p:nvSpPr>
        <p:spPr>
          <a:xfrm>
            <a:off x="6324600" y="3766542"/>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4</a:t>
            </a:r>
            <a:endParaRPr b="0" i="0" sz="1200" u="none" cap="none" strike="noStrike">
              <a:solidFill>
                <a:schemeClr val="dk1"/>
              </a:solidFill>
              <a:latin typeface="Times New Roman"/>
              <a:ea typeface="Times New Roman"/>
              <a:cs typeface="Times New Roman"/>
              <a:sym typeface="Times New Roman"/>
            </a:endParaRPr>
          </a:p>
        </p:txBody>
      </p:sp>
      <p:sp>
        <p:nvSpPr>
          <p:cNvPr id="286" name="Google Shape;286;p10"/>
          <p:cNvSpPr/>
          <p:nvPr/>
        </p:nvSpPr>
        <p:spPr>
          <a:xfrm>
            <a:off x="6680200" y="3766542"/>
            <a:ext cx="483997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Correct and check:</a:t>
            </a:r>
            <a:r>
              <a:rPr b="0" i="0" lang="en-US" sz="1200" u="none" cap="none" strike="noStrike">
                <a:solidFill>
                  <a:srgbClr val="57514A"/>
                </a:solidFill>
                <a:latin typeface="Times New Roman"/>
                <a:ea typeface="Times New Roman"/>
                <a:cs typeface="Times New Roman"/>
                <a:sym typeface="Times New Roman"/>
              </a:rPr>
              <a:t> remove the front phone's ~20 ms picture delay; check each throw's landing frame.</a:t>
            </a:r>
            <a:endParaRPr b="0" i="0" sz="1200" u="none" cap="none" strike="noStrike">
              <a:solidFill>
                <a:schemeClr val="dk1"/>
              </a:solidFill>
              <a:latin typeface="Times New Roman"/>
              <a:ea typeface="Times New Roman"/>
              <a:cs typeface="Times New Roman"/>
              <a:sym typeface="Times New Roman"/>
            </a:endParaRPr>
          </a:p>
        </p:txBody>
      </p:sp>
      <p:sp>
        <p:nvSpPr>
          <p:cNvPr id="287" name="Google Shape;287;p10"/>
          <p:cNvSpPr/>
          <p:nvPr/>
        </p:nvSpPr>
        <p:spPr>
          <a:xfrm>
            <a:off x="819150" y="4707731"/>
            <a:ext cx="3407767" cy="611981"/>
          </a:xfrm>
          <a:prstGeom prst="roundRect">
            <a:avLst>
              <a:gd fmla="val 1141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977900" y="4818162"/>
            <a:ext cx="826988"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2200"/>
              <a:buFont typeface="Times New Roman"/>
              <a:buNone/>
            </a:pPr>
            <a:r>
              <a:rPr b="1" i="0" lang="en-US" sz="2200" u="none" cap="none" strike="noStrike">
                <a:solidFill>
                  <a:srgbClr val="2F5D8A"/>
                </a:solidFill>
                <a:latin typeface="Times New Roman"/>
                <a:ea typeface="Times New Roman"/>
                <a:cs typeface="Times New Roman"/>
                <a:sym typeface="Times New Roman"/>
              </a:rPr>
              <a:t>23 / 23</a:t>
            </a:r>
            <a:endParaRPr b="0" i="0" sz="2200" u="none" cap="none" strike="noStrike">
              <a:solidFill>
                <a:schemeClr val="dk1"/>
              </a:solidFill>
              <a:latin typeface="Times New Roman"/>
              <a:ea typeface="Times New Roman"/>
              <a:cs typeface="Times New Roman"/>
              <a:sym typeface="Times New Roman"/>
            </a:endParaRPr>
          </a:p>
        </p:txBody>
      </p:sp>
      <p:sp>
        <p:nvSpPr>
          <p:cNvPr id="289" name="Google Shape;289;p10"/>
          <p:cNvSpPr/>
          <p:nvPr/>
        </p:nvSpPr>
        <p:spPr>
          <a:xfrm>
            <a:off x="1881088" y="4914702"/>
            <a:ext cx="1970365" cy="2234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takes synced automatically</a:t>
            </a:r>
            <a:endParaRPr b="0" i="0" sz="1200" u="none" cap="none" strike="noStrike">
              <a:solidFill>
                <a:schemeClr val="dk1"/>
              </a:solidFill>
              <a:latin typeface="Times New Roman"/>
              <a:ea typeface="Times New Roman"/>
              <a:cs typeface="Times New Roman"/>
              <a:sym typeface="Times New Roman"/>
            </a:endParaRPr>
          </a:p>
        </p:txBody>
      </p:sp>
      <p:sp>
        <p:nvSpPr>
          <p:cNvPr id="290" name="Google Shape;290;p10"/>
          <p:cNvSpPr/>
          <p:nvPr/>
        </p:nvSpPr>
        <p:spPr>
          <a:xfrm>
            <a:off x="4392017" y="4707731"/>
            <a:ext cx="3407866" cy="611981"/>
          </a:xfrm>
          <a:prstGeom prst="roundRect">
            <a:avLst>
              <a:gd fmla="val 1141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4550767" y="4818162"/>
            <a:ext cx="1094581"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2200"/>
              <a:buFont typeface="Times New Roman"/>
              <a:buNone/>
            </a:pPr>
            <a:r>
              <a:rPr b="1" i="0" lang="en-US" sz="2200" u="none" cap="none" strike="noStrike">
                <a:solidFill>
                  <a:srgbClr val="2F5D8A"/>
                </a:solidFill>
                <a:latin typeface="Times New Roman"/>
                <a:ea typeface="Times New Roman"/>
                <a:cs typeface="Times New Roman"/>
                <a:sym typeface="Times New Roman"/>
              </a:rPr>
              <a:t>±17.5 ms</a:t>
            </a:r>
            <a:endParaRPr b="0" i="0" sz="2200" u="none" cap="none" strike="noStrike">
              <a:solidFill>
                <a:schemeClr val="dk1"/>
              </a:solidFill>
              <a:latin typeface="Times New Roman"/>
              <a:ea typeface="Times New Roman"/>
              <a:cs typeface="Times New Roman"/>
              <a:sym typeface="Times New Roman"/>
            </a:endParaRPr>
          </a:p>
        </p:txBody>
      </p:sp>
      <p:sp>
        <p:nvSpPr>
          <p:cNvPr id="292" name="Google Shape;292;p10"/>
          <p:cNvSpPr/>
          <p:nvPr/>
        </p:nvSpPr>
        <p:spPr>
          <a:xfrm>
            <a:off x="5721548" y="4815681"/>
            <a:ext cx="1977173" cy="4214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about half a front-camera frame</a:t>
            </a:r>
            <a:endParaRPr b="0" i="0" sz="1200" u="none" cap="none" strike="noStrike">
              <a:solidFill>
                <a:schemeClr val="dk1"/>
              </a:solidFill>
              <a:latin typeface="Times New Roman"/>
              <a:ea typeface="Times New Roman"/>
              <a:cs typeface="Times New Roman"/>
              <a:sym typeface="Times New Roman"/>
            </a:endParaRPr>
          </a:p>
        </p:txBody>
      </p:sp>
      <p:sp>
        <p:nvSpPr>
          <p:cNvPr id="293" name="Google Shape;293;p10"/>
          <p:cNvSpPr/>
          <p:nvPr/>
        </p:nvSpPr>
        <p:spPr>
          <a:xfrm>
            <a:off x="7964984" y="4707731"/>
            <a:ext cx="3407866" cy="611981"/>
          </a:xfrm>
          <a:prstGeom prst="roundRect">
            <a:avLst>
              <a:gd fmla="val 11414"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8123734" y="4818162"/>
            <a:ext cx="33020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2200"/>
              <a:buFont typeface="Times New Roman"/>
              <a:buNone/>
            </a:pPr>
            <a:r>
              <a:rPr b="1" i="0" lang="en-US" sz="2200" u="none" cap="none" strike="noStrike">
                <a:solidFill>
                  <a:srgbClr val="2F5D8A"/>
                </a:solidFill>
                <a:latin typeface="Times New Roman"/>
                <a:ea typeface="Times New Roman"/>
                <a:cs typeface="Times New Roman"/>
                <a:sym typeface="Times New Roman"/>
              </a:rPr>
              <a:t>$0</a:t>
            </a:r>
            <a:endParaRPr b="0" i="0" sz="2200" u="none" cap="none" strike="noStrike">
              <a:solidFill>
                <a:schemeClr val="dk1"/>
              </a:solidFill>
              <a:latin typeface="Times New Roman"/>
              <a:ea typeface="Times New Roman"/>
              <a:cs typeface="Times New Roman"/>
              <a:sym typeface="Times New Roman"/>
            </a:endParaRPr>
          </a:p>
        </p:txBody>
      </p:sp>
      <p:sp>
        <p:nvSpPr>
          <p:cNvPr id="295" name="Google Shape;295;p10"/>
          <p:cNvSpPr/>
          <p:nvPr/>
        </p:nvSpPr>
        <p:spPr>
          <a:xfrm>
            <a:off x="8530134" y="4914702"/>
            <a:ext cx="2483168" cy="2234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no timecode box or cables needed</a:t>
            </a:r>
            <a:endParaRPr b="0" i="0" sz="1200" u="none" cap="none" strike="noStrike">
              <a:solidFill>
                <a:schemeClr val="dk1"/>
              </a:solidFill>
              <a:latin typeface="Times New Roman"/>
              <a:ea typeface="Times New Roman"/>
              <a:cs typeface="Times New Roman"/>
              <a:sym typeface="Times New Roman"/>
            </a:endParaRPr>
          </a:p>
        </p:txBody>
      </p:sp>
      <p:sp>
        <p:nvSpPr>
          <p:cNvPr id="296" name="Google Shape;296;p10"/>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297" name="Google Shape;297;p10"/>
          <p:cNvSpPr/>
          <p:nvPr/>
        </p:nvSpPr>
        <p:spPr>
          <a:xfrm>
            <a:off x="9586357" y="6238280"/>
            <a:ext cx="179284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Berk Kasimcan · 9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02" name="Shape 302"/>
        <p:cNvGrpSpPr/>
        <p:nvPr/>
      </p:nvGrpSpPr>
      <p:grpSpPr>
        <a:xfrm>
          <a:off x="0" y="0"/>
          <a:ext cx="0" cy="0"/>
          <a:chOff x="0" y="0"/>
          <a:chExt cx="0" cy="0"/>
        </a:xfrm>
      </p:grpSpPr>
      <p:sp>
        <p:nvSpPr>
          <p:cNvPr id="303" name="Google Shape;303;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3 · FROM A MISS TO ADVICE</a:t>
            </a:r>
            <a:endParaRPr b="0" i="0" sz="1200" u="none" cap="none" strike="noStrike">
              <a:solidFill>
                <a:schemeClr val="dk1"/>
              </a:solidFill>
              <a:latin typeface="Times New Roman"/>
              <a:ea typeface="Times New Roman"/>
              <a:cs typeface="Times New Roman"/>
              <a:sym typeface="Times New Roman"/>
            </a:endParaRPr>
          </a:p>
        </p:txBody>
      </p:sp>
      <p:sp>
        <p:nvSpPr>
          <p:cNvPr id="304" name="Google Shape;304;p11"/>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How the app turns a miss into one sentence</a:t>
            </a:r>
            <a:endParaRPr sz="3000"/>
          </a:p>
        </p:txBody>
      </p:sp>
      <p:sp>
        <p:nvSpPr>
          <p:cNvPr id="305" name="Google Shape;305;p11"/>
          <p:cNvSpPr/>
          <p:nvPr/>
        </p:nvSpPr>
        <p:spPr>
          <a:xfrm>
            <a:off x="819150" y="1603970"/>
            <a:ext cx="5194300" cy="3700661"/>
          </a:xfrm>
          <a:prstGeom prst="roundRect">
            <a:avLst>
              <a:gd fmla="val 1888"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1003300" y="1788120"/>
            <a:ext cx="497078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Every miss is split into measured parts</a:t>
            </a:r>
            <a:endParaRPr b="0" i="0" sz="1400" u="none" cap="none" strike="noStrike">
              <a:solidFill>
                <a:schemeClr val="dk1"/>
              </a:solidFill>
              <a:latin typeface="Times New Roman"/>
              <a:ea typeface="Times New Roman"/>
              <a:cs typeface="Times New Roman"/>
              <a:sym typeface="Times New Roman"/>
            </a:endParaRPr>
          </a:p>
        </p:txBody>
      </p:sp>
      <p:pic>
        <p:nvPicPr>
          <p:cNvPr descr="Side view of a throw that lands short of the athlete's usual first contact and then slides, stopping short of the hole; brackets mark the carry difference and the slide" id="307" name="Google Shape;307;p11"/>
          <p:cNvPicPr preferRelativeResize="0"/>
          <p:nvPr/>
        </p:nvPicPr>
        <p:blipFill rotWithShape="1">
          <a:blip r:embed="rId3">
            <a:alphaModFix/>
          </a:blip>
          <a:srcRect b="0" l="0" r="0" t="0"/>
          <a:stretch/>
        </p:blipFill>
        <p:spPr>
          <a:xfrm>
            <a:off x="1003300" y="2077641"/>
            <a:ext cx="4826000" cy="2540000"/>
          </a:xfrm>
          <a:prstGeom prst="rect">
            <a:avLst/>
          </a:prstGeom>
          <a:noFill/>
          <a:ln>
            <a:noFill/>
          </a:ln>
        </p:spPr>
      </p:pic>
      <p:sp>
        <p:nvSpPr>
          <p:cNvPr id="308" name="Google Shape;308;p11"/>
          <p:cNvSpPr/>
          <p:nvPr/>
        </p:nvSpPr>
        <p:spPr>
          <a:xfrm>
            <a:off x="1003300" y="4693841"/>
            <a:ext cx="497078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Short / long</a:t>
            </a:r>
            <a:r>
              <a:rPr b="0" i="0" lang="en-US" sz="1200" u="none" cap="none" strike="noStrike">
                <a:solidFill>
                  <a:srgbClr val="57514A"/>
                </a:solidFill>
                <a:latin typeface="Times New Roman"/>
                <a:ea typeface="Times New Roman"/>
                <a:cs typeface="Times New Roman"/>
                <a:sym typeface="Times New Roman"/>
              </a:rPr>
              <a:t> = usual spot + carry + slide</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Left / right</a:t>
            </a:r>
            <a:r>
              <a:rPr b="0" i="0" lang="en-US" sz="1200" u="none" cap="none" strike="noStrike">
                <a:solidFill>
                  <a:srgbClr val="57514A"/>
                </a:solidFill>
                <a:latin typeface="Times New Roman"/>
                <a:ea typeface="Times New Roman"/>
                <a:cs typeface="Times New Roman"/>
                <a:sym typeface="Times New Roman"/>
              </a:rPr>
              <a:t> = release position + aim + sideways slide</a:t>
            </a:r>
            <a:endParaRPr b="0" i="0" sz="1200" u="none" cap="none" strike="noStrike">
              <a:solidFill>
                <a:schemeClr val="dk1"/>
              </a:solidFill>
              <a:latin typeface="Times New Roman"/>
              <a:ea typeface="Times New Roman"/>
              <a:cs typeface="Times New Roman"/>
              <a:sym typeface="Times New Roman"/>
            </a:endParaRPr>
          </a:p>
        </p:txBody>
      </p:sp>
      <p:sp>
        <p:nvSpPr>
          <p:cNvPr id="309" name="Google Shape;309;p11"/>
          <p:cNvSpPr/>
          <p:nvPr/>
        </p:nvSpPr>
        <p:spPr>
          <a:xfrm>
            <a:off x="4241800" y="2969220"/>
            <a:ext cx="1574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short of the hole</a:t>
            </a:r>
            <a:endParaRPr b="0" i="0" sz="1200" u="none" cap="none" strike="noStrike">
              <a:solidFill>
                <a:schemeClr val="dk1"/>
              </a:solidFill>
              <a:latin typeface="Times New Roman"/>
              <a:ea typeface="Times New Roman"/>
              <a:cs typeface="Times New Roman"/>
              <a:sym typeface="Times New Roman"/>
            </a:endParaRPr>
          </a:p>
        </p:txBody>
      </p:sp>
      <p:sp>
        <p:nvSpPr>
          <p:cNvPr id="310" name="Google Shape;310;p11"/>
          <p:cNvSpPr/>
          <p:nvPr/>
        </p:nvSpPr>
        <p:spPr>
          <a:xfrm>
            <a:off x="4051300" y="4010620"/>
            <a:ext cx="196215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1" i="0" lang="en-US" sz="1200" u="none" cap="none" strike="noStrike">
                <a:solidFill>
                  <a:srgbClr val="2F5D8A"/>
                </a:solidFill>
                <a:latin typeface="Times New Roman"/>
                <a:ea typeface="Times New Roman"/>
                <a:cs typeface="Times New Roman"/>
                <a:sym typeface="Times New Roman"/>
              </a:rPr>
              <a:t>carry: shorter than usual</a:t>
            </a:r>
            <a:endParaRPr b="0" i="0" sz="1200" u="none" cap="none" strike="noStrike">
              <a:solidFill>
                <a:schemeClr val="dk1"/>
              </a:solidFill>
              <a:latin typeface="Times New Roman"/>
              <a:ea typeface="Times New Roman"/>
              <a:cs typeface="Times New Roman"/>
              <a:sym typeface="Times New Roman"/>
            </a:endParaRPr>
          </a:p>
        </p:txBody>
      </p:sp>
      <p:sp>
        <p:nvSpPr>
          <p:cNvPr id="311" name="Google Shape;311;p11"/>
          <p:cNvSpPr/>
          <p:nvPr/>
        </p:nvSpPr>
        <p:spPr>
          <a:xfrm>
            <a:off x="4572000" y="4264620"/>
            <a:ext cx="1447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slide on the board</a:t>
            </a:r>
            <a:endParaRPr b="0" i="0" sz="1200" u="none" cap="none" strike="noStrike">
              <a:solidFill>
                <a:schemeClr val="dk1"/>
              </a:solidFill>
              <a:latin typeface="Times New Roman"/>
              <a:ea typeface="Times New Roman"/>
              <a:cs typeface="Times New Roman"/>
              <a:sym typeface="Times New Roman"/>
            </a:endParaRPr>
          </a:p>
        </p:txBody>
      </p:sp>
      <p:sp>
        <p:nvSpPr>
          <p:cNvPr id="312" name="Google Shape;312;p11"/>
          <p:cNvSpPr/>
          <p:nvPr/>
        </p:nvSpPr>
        <p:spPr>
          <a:xfrm>
            <a:off x="2717800" y="2207220"/>
            <a:ext cx="1574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1" lang="en-US" sz="1200" u="none" cap="none" strike="noStrike">
                <a:solidFill>
                  <a:srgbClr val="6E665C"/>
                </a:solidFill>
                <a:latin typeface="Times New Roman"/>
                <a:ea typeface="Times New Roman"/>
                <a:cs typeface="Times New Roman"/>
                <a:sym typeface="Times New Roman"/>
              </a:rPr>
              <a:t>dashed = usual throw</a:t>
            </a:r>
            <a:endParaRPr b="0" i="0" sz="1200" u="none" cap="none" strike="noStrike">
              <a:solidFill>
                <a:schemeClr val="dk1"/>
              </a:solidFill>
              <a:latin typeface="Times New Roman"/>
              <a:ea typeface="Times New Roman"/>
              <a:cs typeface="Times New Roman"/>
              <a:sym typeface="Times New Roman"/>
            </a:endParaRPr>
          </a:p>
        </p:txBody>
      </p:sp>
      <p:sp>
        <p:nvSpPr>
          <p:cNvPr id="313" name="Google Shape;313;p11"/>
          <p:cNvSpPr/>
          <p:nvPr/>
        </p:nvSpPr>
        <p:spPr>
          <a:xfrm>
            <a:off x="6324600" y="1597620"/>
            <a:ext cx="5054600" cy="1238151"/>
          </a:xfrm>
          <a:prstGeom prst="roundRect">
            <a:avLst>
              <a:gd fmla="val 6154"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6527800" y="1750020"/>
            <a:ext cx="478764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WHAT THE COACH READS</a:t>
            </a:r>
            <a:endParaRPr b="0" i="0" sz="1200" u="none" cap="none" strike="noStrike">
              <a:solidFill>
                <a:schemeClr val="dk1"/>
              </a:solidFill>
              <a:latin typeface="Times New Roman"/>
              <a:ea typeface="Times New Roman"/>
              <a:cs typeface="Times New Roman"/>
              <a:sym typeface="Times New Roman"/>
            </a:endParaRPr>
          </a:p>
        </p:txBody>
      </p:sp>
      <p:sp>
        <p:nvSpPr>
          <p:cNvPr id="315" name="Google Shape;315;p11"/>
          <p:cNvSpPr/>
          <p:nvPr/>
        </p:nvSpPr>
        <p:spPr>
          <a:xfrm>
            <a:off x="6527800" y="1963341"/>
            <a:ext cx="4787646"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3EEE4"/>
              </a:buClr>
              <a:buSzPts val="1400"/>
              <a:buFont typeface="Times New Roman"/>
              <a:buNone/>
            </a:pPr>
            <a:r>
              <a:rPr b="0" i="1" lang="en-US" sz="1400" u="none" cap="none" strike="noStrike">
                <a:solidFill>
                  <a:srgbClr val="F3EEE4"/>
                </a:solidFill>
                <a:latin typeface="Times New Roman"/>
                <a:ea typeface="Times New Roman"/>
                <a:cs typeface="Times New Roman"/>
                <a:sym typeface="Times New Roman"/>
              </a:rPr>
              <a:t>“Board: 9 in short, 8 in right. Most of the short came from the carry (about 0.4 m/s slower release). Next: throw a touch harder.”</a:t>
            </a:r>
            <a:endParaRPr b="0" i="0" sz="1400" u="none" cap="none" strike="noStrike">
              <a:solidFill>
                <a:schemeClr val="dk1"/>
              </a:solidFill>
              <a:latin typeface="Times New Roman"/>
              <a:ea typeface="Times New Roman"/>
              <a:cs typeface="Times New Roman"/>
              <a:sym typeface="Times New Roman"/>
            </a:endParaRPr>
          </a:p>
        </p:txBody>
      </p:sp>
      <p:sp>
        <p:nvSpPr>
          <p:cNvPr id="316" name="Google Shape;316;p11"/>
          <p:cNvSpPr/>
          <p:nvPr/>
        </p:nvSpPr>
        <p:spPr>
          <a:xfrm>
            <a:off x="6324600" y="2937371"/>
            <a:ext cx="520623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The rules behind the sentence</a:t>
            </a:r>
            <a:endParaRPr b="0" i="0" sz="1400" u="none" cap="none" strike="noStrike">
              <a:solidFill>
                <a:schemeClr val="dk1"/>
              </a:solidFill>
              <a:latin typeface="Times New Roman"/>
              <a:ea typeface="Times New Roman"/>
              <a:cs typeface="Times New Roman"/>
              <a:sym typeface="Times New Roman"/>
            </a:endParaRPr>
          </a:p>
        </p:txBody>
      </p:sp>
      <p:cxnSp>
        <p:nvCxnSpPr>
          <p:cNvPr id="317" name="Google Shape;317;p11"/>
          <p:cNvCxnSpPr/>
          <p:nvPr/>
        </p:nvCxnSpPr>
        <p:spPr>
          <a:xfrm>
            <a:off x="6337300" y="3252291"/>
            <a:ext cx="0" cy="431701"/>
          </a:xfrm>
          <a:prstGeom prst="straightConnector1">
            <a:avLst/>
          </a:prstGeom>
          <a:noFill/>
          <a:ln cap="flat" cmpd="sng" w="25400">
            <a:solidFill>
              <a:srgbClr val="B8913F"/>
            </a:solidFill>
            <a:prstDash val="solid"/>
            <a:round/>
            <a:headEnd len="sm" w="sm" type="none"/>
            <a:tailEnd len="sm" w="sm" type="none"/>
          </a:ln>
        </p:spPr>
      </p:cxnSp>
      <p:sp>
        <p:nvSpPr>
          <p:cNvPr id="318" name="Google Shape;318;p11"/>
          <p:cNvSpPr/>
          <p:nvPr/>
        </p:nvSpPr>
        <p:spPr>
          <a:xfrm>
            <a:off x="6477000" y="3252291"/>
            <a:ext cx="504926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Outcome first</a:t>
            </a:r>
            <a:endParaRPr b="0" i="0" sz="1200" u="none" cap="none" strike="noStrike">
              <a:solidFill>
                <a:schemeClr val="dk1"/>
              </a:solidFill>
              <a:latin typeface="Times New Roman"/>
              <a:ea typeface="Times New Roman"/>
              <a:cs typeface="Times New Roman"/>
              <a:sym typeface="Times New Roman"/>
            </a:endParaRPr>
          </a:p>
        </p:txBody>
      </p:sp>
      <p:sp>
        <p:nvSpPr>
          <p:cNvPr id="319" name="Google Shape;319;p11"/>
          <p:cNvSpPr/>
          <p:nvPr/>
        </p:nvSpPr>
        <p:spPr>
          <a:xfrm>
            <a:off x="6477000" y="3478312"/>
            <a:ext cx="504926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A made throw gets no corrections.</a:t>
            </a:r>
            <a:endParaRPr b="0" i="0" sz="1200" u="none" cap="none" strike="noStrike">
              <a:solidFill>
                <a:schemeClr val="dk1"/>
              </a:solidFill>
              <a:latin typeface="Times New Roman"/>
              <a:ea typeface="Times New Roman"/>
              <a:cs typeface="Times New Roman"/>
              <a:sym typeface="Times New Roman"/>
            </a:endParaRPr>
          </a:p>
        </p:txBody>
      </p:sp>
      <p:cxnSp>
        <p:nvCxnSpPr>
          <p:cNvPr id="320" name="Google Shape;320;p11"/>
          <p:cNvCxnSpPr/>
          <p:nvPr/>
        </p:nvCxnSpPr>
        <p:spPr>
          <a:xfrm>
            <a:off x="6337300" y="3785592"/>
            <a:ext cx="0" cy="431701"/>
          </a:xfrm>
          <a:prstGeom prst="straightConnector1">
            <a:avLst/>
          </a:prstGeom>
          <a:noFill/>
          <a:ln cap="flat" cmpd="sng" w="25400">
            <a:solidFill>
              <a:srgbClr val="B8913F"/>
            </a:solidFill>
            <a:prstDash val="solid"/>
            <a:round/>
            <a:headEnd len="sm" w="sm" type="none"/>
            <a:tailEnd len="sm" w="sm" type="none"/>
          </a:ln>
        </p:spPr>
      </p:cxnSp>
      <p:sp>
        <p:nvSpPr>
          <p:cNvPr id="321" name="Google Shape;321;p11"/>
          <p:cNvSpPr/>
          <p:nvPr/>
        </p:nvSpPr>
        <p:spPr>
          <a:xfrm>
            <a:off x="6477000" y="3785592"/>
            <a:ext cx="504926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Only real parts are named</a:t>
            </a:r>
            <a:endParaRPr b="0" i="0" sz="1200" u="none" cap="none" strike="noStrike">
              <a:solidFill>
                <a:schemeClr val="dk1"/>
              </a:solidFill>
              <a:latin typeface="Times New Roman"/>
              <a:ea typeface="Times New Roman"/>
              <a:cs typeface="Times New Roman"/>
              <a:sym typeface="Times New Roman"/>
            </a:endParaRPr>
          </a:p>
        </p:txBody>
      </p:sp>
      <p:sp>
        <p:nvSpPr>
          <p:cNvPr id="322" name="Google Shape;322;p11"/>
          <p:cNvSpPr/>
          <p:nvPr/>
        </p:nvSpPr>
        <p:spPr>
          <a:xfrm>
            <a:off x="6477000" y="4011613"/>
            <a:ext cx="504926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At least 3 in and larger than its measurement noise.</a:t>
            </a:r>
            <a:endParaRPr b="0" i="0" sz="1200" u="none" cap="none" strike="noStrike">
              <a:solidFill>
                <a:schemeClr val="dk1"/>
              </a:solidFill>
              <a:latin typeface="Times New Roman"/>
              <a:ea typeface="Times New Roman"/>
              <a:cs typeface="Times New Roman"/>
              <a:sym typeface="Times New Roman"/>
            </a:endParaRPr>
          </a:p>
        </p:txBody>
      </p:sp>
      <p:cxnSp>
        <p:nvCxnSpPr>
          <p:cNvPr id="323" name="Google Shape;323;p11"/>
          <p:cNvCxnSpPr/>
          <p:nvPr/>
        </p:nvCxnSpPr>
        <p:spPr>
          <a:xfrm>
            <a:off x="6337300" y="4318893"/>
            <a:ext cx="0" cy="431701"/>
          </a:xfrm>
          <a:prstGeom prst="straightConnector1">
            <a:avLst/>
          </a:prstGeom>
          <a:noFill/>
          <a:ln cap="flat" cmpd="sng" w="25400">
            <a:solidFill>
              <a:srgbClr val="B8913F"/>
            </a:solidFill>
            <a:prstDash val="solid"/>
            <a:round/>
            <a:headEnd len="sm" w="sm" type="none"/>
            <a:tailEnd len="sm" w="sm" type="none"/>
          </a:ln>
        </p:spPr>
      </p:cxnSp>
      <p:sp>
        <p:nvSpPr>
          <p:cNvPr id="324" name="Google Shape;324;p11"/>
          <p:cNvSpPr/>
          <p:nvPr/>
        </p:nvSpPr>
        <p:spPr>
          <a:xfrm>
            <a:off x="6477000" y="4318893"/>
            <a:ext cx="504926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Normal spread is normal</a:t>
            </a:r>
            <a:endParaRPr b="0" i="0" sz="1200" u="none" cap="none" strike="noStrike">
              <a:solidFill>
                <a:schemeClr val="dk1"/>
              </a:solidFill>
              <a:latin typeface="Times New Roman"/>
              <a:ea typeface="Times New Roman"/>
              <a:cs typeface="Times New Roman"/>
              <a:sym typeface="Times New Roman"/>
            </a:endParaRPr>
          </a:p>
        </p:txBody>
      </p:sp>
      <p:sp>
        <p:nvSpPr>
          <p:cNvPr id="325" name="Google Shape;325;p11"/>
          <p:cNvSpPr/>
          <p:nvPr/>
        </p:nvSpPr>
        <p:spPr>
          <a:xfrm>
            <a:off x="6477000" y="4544913"/>
            <a:ext cx="504926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Inside the athlete's usual range: "keep the same throw".</a:t>
            </a:r>
            <a:endParaRPr b="0" i="0" sz="1200" u="none" cap="none" strike="noStrike">
              <a:solidFill>
                <a:schemeClr val="dk1"/>
              </a:solidFill>
              <a:latin typeface="Times New Roman"/>
              <a:ea typeface="Times New Roman"/>
              <a:cs typeface="Times New Roman"/>
              <a:sym typeface="Times New Roman"/>
            </a:endParaRPr>
          </a:p>
        </p:txBody>
      </p:sp>
      <p:cxnSp>
        <p:nvCxnSpPr>
          <p:cNvPr id="326" name="Google Shape;326;p11"/>
          <p:cNvCxnSpPr/>
          <p:nvPr/>
        </p:nvCxnSpPr>
        <p:spPr>
          <a:xfrm>
            <a:off x="6337300" y="4852194"/>
            <a:ext cx="0" cy="431701"/>
          </a:xfrm>
          <a:prstGeom prst="straightConnector1">
            <a:avLst/>
          </a:prstGeom>
          <a:noFill/>
          <a:ln cap="flat" cmpd="sng" w="25400">
            <a:solidFill>
              <a:srgbClr val="B8913F"/>
            </a:solidFill>
            <a:prstDash val="solid"/>
            <a:round/>
            <a:headEnd len="sm" w="sm" type="none"/>
            <a:tailEnd len="sm" w="sm" type="none"/>
          </a:ln>
        </p:spPr>
      </p:cxnSp>
      <p:sp>
        <p:nvSpPr>
          <p:cNvPr id="327" name="Google Shape;327;p11"/>
          <p:cNvSpPr/>
          <p:nvPr/>
        </p:nvSpPr>
        <p:spPr>
          <a:xfrm>
            <a:off x="6477000" y="4852194"/>
            <a:ext cx="504926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Associations, not causes</a:t>
            </a:r>
            <a:endParaRPr b="0" i="0" sz="1200" u="none" cap="none" strike="noStrike">
              <a:solidFill>
                <a:schemeClr val="dk1"/>
              </a:solidFill>
              <a:latin typeface="Times New Roman"/>
              <a:ea typeface="Times New Roman"/>
              <a:cs typeface="Times New Roman"/>
              <a:sym typeface="Times New Roman"/>
            </a:endParaRPr>
          </a:p>
        </p:txBody>
      </p:sp>
      <p:sp>
        <p:nvSpPr>
          <p:cNvPr id="328" name="Google Shape;328;p11"/>
          <p:cNvSpPr/>
          <p:nvPr/>
        </p:nvSpPr>
        <p:spPr>
          <a:xfrm>
            <a:off x="6477000" y="5078214"/>
            <a:ext cx="5049266"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One cue at a time; never "because" or "fault".</a:t>
            </a:r>
            <a:endParaRPr b="0" i="0" sz="1200" u="none" cap="none" strike="noStrike">
              <a:solidFill>
                <a:schemeClr val="dk1"/>
              </a:solidFill>
              <a:latin typeface="Times New Roman"/>
              <a:ea typeface="Times New Roman"/>
              <a:cs typeface="Times New Roman"/>
              <a:sym typeface="Times New Roman"/>
            </a:endParaRPr>
          </a:p>
        </p:txBody>
      </p:sp>
      <p:sp>
        <p:nvSpPr>
          <p:cNvPr id="329" name="Google Shape;329;p11"/>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330" name="Google Shape;330;p11"/>
          <p:cNvSpPr/>
          <p:nvPr/>
        </p:nvSpPr>
        <p:spPr>
          <a:xfrm>
            <a:off x="9593143" y="6238280"/>
            <a:ext cx="1786057"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Berk Kasimcan · 10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35" name="Shape 335"/>
        <p:cNvGrpSpPr/>
        <p:nvPr/>
      </p:nvGrpSpPr>
      <p:grpSpPr>
        <a:xfrm>
          <a:off x="0" y="0"/>
          <a:ext cx="0" cy="0"/>
          <a:chOff x="0" y="0"/>
          <a:chExt cx="0" cy="0"/>
        </a:xfrm>
      </p:grpSpPr>
      <p:sp>
        <p:nvSpPr>
          <p:cNvPr id="336" name="Google Shape;336;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32A"/>
              </a:buClr>
              <a:buSzPts val="1200"/>
              <a:buFont typeface="Times New Roman"/>
              <a:buNone/>
            </a:pPr>
            <a:r>
              <a:rPr b="1" i="0" lang="en-US" spc="100" sz="1200" u="none" cap="none" strike="noStrike">
                <a:solidFill>
                  <a:srgbClr val="A8432A"/>
                </a:solidFill>
                <a:latin typeface="Times New Roman"/>
                <a:ea typeface="Times New Roman"/>
                <a:cs typeface="Times New Roman"/>
                <a:sym typeface="Times New Roman"/>
              </a:rPr>
              <a:t>PART 3 · LIVE DEMO</a:t>
            </a:r>
            <a:endParaRPr b="0" i="0" sz="1200" u="none" cap="none" strike="noStrike">
              <a:solidFill>
                <a:schemeClr val="dk1"/>
              </a:solidFill>
              <a:latin typeface="Times New Roman"/>
              <a:ea typeface="Times New Roman"/>
              <a:cs typeface="Times New Roman"/>
              <a:sym typeface="Times New Roman"/>
            </a:endParaRPr>
          </a:p>
        </p:txBody>
      </p:sp>
      <p:sp>
        <p:nvSpPr>
          <p:cNvPr id="337" name="Google Shape;337;p12"/>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A real throw, measured end to end</a:t>
            </a:r>
            <a:endParaRPr sz="3000"/>
          </a:p>
        </p:txBody>
      </p:sp>
      <p:sp>
        <p:nvSpPr>
          <p:cNvPr id="338" name="Google Shape;338;p12"/>
          <p:cNvSpPr/>
          <p:nvPr/>
        </p:nvSpPr>
        <p:spPr>
          <a:xfrm>
            <a:off x="812800" y="1597620"/>
            <a:ext cx="4908550" cy="3683000"/>
          </a:xfrm>
          <a:prstGeom prst="roundRect">
            <a:avLst>
              <a:gd fmla="val 2069" name="adj"/>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pp replay screen: side video of Player 1 throwing in a campus atrium, with the measured bag path drawn as an arc and labels for release, apex and first contact on the board" id="339" name="Google Shape;339;p12"/>
          <p:cNvPicPr preferRelativeResize="0"/>
          <p:nvPr/>
        </p:nvPicPr>
        <p:blipFill rotWithShape="1">
          <a:blip r:embed="rId3">
            <a:alphaModFix/>
          </a:blip>
          <a:srcRect b="0" l="-6" r="-6" t="0"/>
          <a:stretch/>
        </p:blipFill>
        <p:spPr>
          <a:xfrm>
            <a:off x="812800" y="1597620"/>
            <a:ext cx="4908550" cy="3683000"/>
          </a:xfrm>
          <a:prstGeom prst="roundRect">
            <a:avLst>
              <a:gd fmla="val 2069" name="adj"/>
            </a:avLst>
          </a:prstGeom>
          <a:noFill/>
          <a:ln>
            <a:noFill/>
          </a:ln>
        </p:spPr>
      </p:pic>
      <p:sp>
        <p:nvSpPr>
          <p:cNvPr id="340" name="Google Shape;340;p12"/>
          <p:cNvSpPr/>
          <p:nvPr/>
        </p:nvSpPr>
        <p:spPr>
          <a:xfrm>
            <a:off x="812800" y="5356820"/>
            <a:ext cx="5055807"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Player 1, Take 6, Throw 1: 7.7 m/s at 41°, into the hole.</a:t>
            </a:r>
            <a:endParaRPr b="0" i="0" sz="1200" u="none" cap="none" strike="noStrike">
              <a:solidFill>
                <a:schemeClr val="dk1"/>
              </a:solidFill>
              <a:latin typeface="Times New Roman"/>
              <a:ea typeface="Times New Roman"/>
              <a:cs typeface="Times New Roman"/>
              <a:sym typeface="Times New Roman"/>
            </a:endParaRPr>
          </a:p>
        </p:txBody>
      </p:sp>
      <p:sp>
        <p:nvSpPr>
          <p:cNvPr id="341" name="Google Shape;341;p12"/>
          <p:cNvSpPr/>
          <p:nvPr/>
        </p:nvSpPr>
        <p:spPr>
          <a:xfrm>
            <a:off x="6026150" y="1597620"/>
            <a:ext cx="5513642"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What we will show</a:t>
            </a:r>
            <a:endParaRPr b="0" i="0" sz="1400" u="none" cap="none" strike="noStrike">
              <a:solidFill>
                <a:schemeClr val="dk1"/>
              </a:solidFill>
              <a:latin typeface="Times New Roman"/>
              <a:ea typeface="Times New Roman"/>
              <a:cs typeface="Times New Roman"/>
              <a:sym typeface="Times New Roman"/>
            </a:endParaRPr>
          </a:p>
        </p:txBody>
      </p:sp>
      <p:sp>
        <p:nvSpPr>
          <p:cNvPr id="342" name="Google Shape;342;p12"/>
          <p:cNvSpPr/>
          <p:nvPr/>
        </p:nvSpPr>
        <p:spPr>
          <a:xfrm>
            <a:off x="6026150" y="18998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C9A24E"/>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p:txBody>
      </p:sp>
      <p:sp>
        <p:nvSpPr>
          <p:cNvPr id="343" name="Google Shape;343;p12"/>
          <p:cNvSpPr/>
          <p:nvPr/>
        </p:nvSpPr>
        <p:spPr>
          <a:xfrm>
            <a:off x="6381750" y="1899841"/>
            <a:ext cx="5147374"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Import a take:</a:t>
            </a:r>
            <a:r>
              <a:rPr b="0" i="0" lang="en-US" sz="1200" u="none" cap="none" strike="noStrike">
                <a:solidFill>
                  <a:srgbClr val="57514A"/>
                </a:solidFill>
                <a:latin typeface="Times New Roman"/>
                <a:ea typeface="Times New Roman"/>
                <a:cs typeface="Times New Roman"/>
                <a:sym typeface="Times New Roman"/>
              </a:rPr>
              <a:t> two videos in, synced and cut automatically</a:t>
            </a:r>
            <a:endParaRPr b="0" i="0" sz="1200" u="none" cap="none" strike="noStrike">
              <a:solidFill>
                <a:schemeClr val="dk1"/>
              </a:solidFill>
              <a:latin typeface="Times New Roman"/>
              <a:ea typeface="Times New Roman"/>
              <a:cs typeface="Times New Roman"/>
              <a:sym typeface="Times New Roman"/>
            </a:endParaRPr>
          </a:p>
        </p:txBody>
      </p:sp>
      <p:sp>
        <p:nvSpPr>
          <p:cNvPr id="344" name="Google Shape;344;p12"/>
          <p:cNvSpPr/>
          <p:nvPr/>
        </p:nvSpPr>
        <p:spPr>
          <a:xfrm>
            <a:off x="6026150" y="22427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C9A24E"/>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2</a:t>
            </a:r>
            <a:endParaRPr b="0" i="0" sz="1200" u="none" cap="none" strike="noStrike">
              <a:solidFill>
                <a:schemeClr val="dk1"/>
              </a:solidFill>
              <a:latin typeface="Times New Roman"/>
              <a:ea typeface="Times New Roman"/>
              <a:cs typeface="Times New Roman"/>
              <a:sym typeface="Times New Roman"/>
            </a:endParaRPr>
          </a:p>
        </p:txBody>
      </p:sp>
      <p:sp>
        <p:nvSpPr>
          <p:cNvPr id="345" name="Google Shape;345;p12"/>
          <p:cNvSpPr/>
          <p:nvPr/>
        </p:nvSpPr>
        <p:spPr>
          <a:xfrm>
            <a:off x="6381750" y="2242741"/>
            <a:ext cx="5147374"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Replay:</a:t>
            </a:r>
            <a:r>
              <a:rPr b="0" i="0" lang="en-US" sz="1200" u="none" cap="none" strike="noStrike">
                <a:solidFill>
                  <a:srgbClr val="57514A"/>
                </a:solidFill>
                <a:latin typeface="Times New Roman"/>
                <a:ea typeface="Times New Roman"/>
                <a:cs typeface="Times New Roman"/>
                <a:sym typeface="Times New Roman"/>
              </a:rPr>
              <a:t> measured bag path, release, apex and first contact on the video</a:t>
            </a:r>
            <a:endParaRPr b="0" i="0" sz="1200" u="none" cap="none" strike="noStrike">
              <a:solidFill>
                <a:schemeClr val="dk1"/>
              </a:solidFill>
              <a:latin typeface="Times New Roman"/>
              <a:ea typeface="Times New Roman"/>
              <a:cs typeface="Times New Roman"/>
              <a:sym typeface="Times New Roman"/>
            </a:endParaRPr>
          </a:p>
        </p:txBody>
      </p:sp>
      <p:sp>
        <p:nvSpPr>
          <p:cNvPr id="346" name="Google Shape;346;p12"/>
          <p:cNvSpPr/>
          <p:nvPr/>
        </p:nvSpPr>
        <p:spPr>
          <a:xfrm>
            <a:off x="6026150" y="25856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C9A24E"/>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3</a:t>
            </a:r>
            <a:endParaRPr b="0" i="0" sz="1200" u="none" cap="none" strike="noStrike">
              <a:solidFill>
                <a:schemeClr val="dk1"/>
              </a:solidFill>
              <a:latin typeface="Times New Roman"/>
              <a:ea typeface="Times New Roman"/>
              <a:cs typeface="Times New Roman"/>
              <a:sym typeface="Times New Roman"/>
            </a:endParaRPr>
          </a:p>
        </p:txBody>
      </p:sp>
      <p:sp>
        <p:nvSpPr>
          <p:cNvPr id="347" name="Google Shape;347;p12"/>
          <p:cNvSpPr/>
          <p:nvPr/>
        </p:nvSpPr>
        <p:spPr>
          <a:xfrm>
            <a:off x="6381750" y="2585641"/>
            <a:ext cx="5147374"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Throw report:</a:t>
            </a:r>
            <a:r>
              <a:rPr b="0" i="0" lang="en-US" sz="1200" u="none" cap="none" strike="noStrike">
                <a:solidFill>
                  <a:srgbClr val="57514A"/>
                </a:solidFill>
                <a:latin typeface="Times New Roman"/>
                <a:ea typeface="Times New Roman"/>
                <a:cs typeface="Times New Roman"/>
                <a:sym typeface="Times New Roman"/>
              </a:rPr>
              <a:t> the one-sentence verdict and the miss broken into parts</a:t>
            </a:r>
            <a:endParaRPr b="0" i="0" sz="1200" u="none" cap="none" strike="noStrike">
              <a:solidFill>
                <a:schemeClr val="dk1"/>
              </a:solidFill>
              <a:latin typeface="Times New Roman"/>
              <a:ea typeface="Times New Roman"/>
              <a:cs typeface="Times New Roman"/>
              <a:sym typeface="Times New Roman"/>
            </a:endParaRPr>
          </a:p>
        </p:txBody>
      </p:sp>
      <p:sp>
        <p:nvSpPr>
          <p:cNvPr id="348" name="Google Shape;348;p12"/>
          <p:cNvSpPr/>
          <p:nvPr/>
        </p:nvSpPr>
        <p:spPr>
          <a:xfrm>
            <a:off x="6026150" y="29285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C9A24E"/>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4</a:t>
            </a:r>
            <a:endParaRPr b="0" i="0" sz="1200" u="none" cap="none" strike="noStrike">
              <a:solidFill>
                <a:schemeClr val="dk1"/>
              </a:solidFill>
              <a:latin typeface="Times New Roman"/>
              <a:ea typeface="Times New Roman"/>
              <a:cs typeface="Times New Roman"/>
              <a:sym typeface="Times New Roman"/>
            </a:endParaRPr>
          </a:p>
        </p:txBody>
      </p:sp>
      <p:sp>
        <p:nvSpPr>
          <p:cNvPr id="349" name="Google Shape;349;p12"/>
          <p:cNvSpPr/>
          <p:nvPr/>
        </p:nvSpPr>
        <p:spPr>
          <a:xfrm>
            <a:off x="6381750" y="2928541"/>
            <a:ext cx="5147374"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Needs Your Eye:</a:t>
            </a:r>
            <a:r>
              <a:rPr b="0" i="0" lang="en-US" sz="1200" u="none" cap="none" strike="noStrike">
                <a:solidFill>
                  <a:srgbClr val="57514A"/>
                </a:solidFill>
                <a:latin typeface="Times New Roman"/>
                <a:ea typeface="Times New Roman"/>
                <a:cs typeface="Times New Roman"/>
                <a:sym typeface="Times New Roman"/>
              </a:rPr>
              <a:t> the coach confirms only the throws the app is unsure of</a:t>
            </a:r>
            <a:endParaRPr b="0" i="0" sz="1200" u="none" cap="none" strike="noStrike">
              <a:solidFill>
                <a:schemeClr val="dk1"/>
              </a:solidFill>
              <a:latin typeface="Times New Roman"/>
              <a:ea typeface="Times New Roman"/>
              <a:cs typeface="Times New Roman"/>
              <a:sym typeface="Times New Roman"/>
            </a:endParaRPr>
          </a:p>
        </p:txBody>
      </p:sp>
      <p:sp>
        <p:nvSpPr>
          <p:cNvPr id="350" name="Google Shape;350;p12"/>
          <p:cNvSpPr/>
          <p:nvPr/>
        </p:nvSpPr>
        <p:spPr>
          <a:xfrm>
            <a:off x="6026150" y="32714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C9A24E"/>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5</a:t>
            </a:r>
            <a:endParaRPr b="0" i="0" sz="1200" u="none" cap="none" strike="noStrike">
              <a:solidFill>
                <a:schemeClr val="dk1"/>
              </a:solidFill>
              <a:latin typeface="Times New Roman"/>
              <a:ea typeface="Times New Roman"/>
              <a:cs typeface="Times New Roman"/>
              <a:sym typeface="Times New Roman"/>
            </a:endParaRPr>
          </a:p>
        </p:txBody>
      </p:sp>
      <p:sp>
        <p:nvSpPr>
          <p:cNvPr id="351" name="Google Shape;351;p12"/>
          <p:cNvSpPr/>
          <p:nvPr/>
        </p:nvSpPr>
        <p:spPr>
          <a:xfrm>
            <a:off x="6381750" y="3271441"/>
            <a:ext cx="5147374"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Athlete summary:</a:t>
            </a:r>
            <a:r>
              <a:rPr b="0" i="0" lang="en-US" sz="1200" u="none" cap="none" strike="noStrike">
                <a:solidFill>
                  <a:srgbClr val="57514A"/>
                </a:solidFill>
                <a:latin typeface="Times New Roman"/>
                <a:ea typeface="Times New Roman"/>
                <a:cs typeface="Times New Roman"/>
                <a:sym typeface="Times New Roman"/>
              </a:rPr>
              <a:t> PPR, In / On / Off and the coach focus</a:t>
            </a:r>
            <a:endParaRPr b="0" i="0" sz="1200" u="none" cap="none" strike="noStrike">
              <a:solidFill>
                <a:schemeClr val="dk1"/>
              </a:solidFill>
              <a:latin typeface="Times New Roman"/>
              <a:ea typeface="Times New Roman"/>
              <a:cs typeface="Times New Roman"/>
              <a:sym typeface="Times New Roman"/>
            </a:endParaRPr>
          </a:p>
        </p:txBody>
      </p:sp>
      <p:sp>
        <p:nvSpPr>
          <p:cNvPr id="352" name="Google Shape;352;p12"/>
          <p:cNvSpPr/>
          <p:nvPr/>
        </p:nvSpPr>
        <p:spPr>
          <a:xfrm>
            <a:off x="6026150" y="36143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C9A24E"/>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6</a:t>
            </a:r>
            <a:endParaRPr b="0" i="0" sz="1200" u="none" cap="none" strike="noStrike">
              <a:solidFill>
                <a:schemeClr val="dk1"/>
              </a:solidFill>
              <a:latin typeface="Times New Roman"/>
              <a:ea typeface="Times New Roman"/>
              <a:cs typeface="Times New Roman"/>
              <a:sym typeface="Times New Roman"/>
            </a:endParaRPr>
          </a:p>
        </p:txBody>
      </p:sp>
      <p:sp>
        <p:nvSpPr>
          <p:cNvPr id="353" name="Google Shape;353;p12"/>
          <p:cNvSpPr/>
          <p:nvPr/>
        </p:nvSpPr>
        <p:spPr>
          <a:xfrm>
            <a:off x="6381750" y="3614341"/>
            <a:ext cx="5147374"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Launch Lab:</a:t>
            </a:r>
            <a:r>
              <a:rPr b="0" i="0" lang="en-US" sz="1200" u="none" cap="none" strike="noStrike">
                <a:solidFill>
                  <a:srgbClr val="57514A"/>
                </a:solidFill>
                <a:latin typeface="Times New Roman"/>
                <a:ea typeface="Times New Roman"/>
                <a:cs typeface="Times New Roman"/>
                <a:sym typeface="Times New Roman"/>
              </a:rPr>
              <a:t> try a release and see where it lands</a:t>
            </a:r>
            <a:endParaRPr b="0" i="0" sz="1200" u="none" cap="none" strike="noStrike">
              <a:solidFill>
                <a:schemeClr val="dk1"/>
              </a:solidFill>
              <a:latin typeface="Times New Roman"/>
              <a:ea typeface="Times New Roman"/>
              <a:cs typeface="Times New Roman"/>
              <a:sym typeface="Times New Roman"/>
            </a:endParaRPr>
          </a:p>
        </p:txBody>
      </p:sp>
      <p:cxnSp>
        <p:nvCxnSpPr>
          <p:cNvPr id="354" name="Google Shape;354;p12"/>
          <p:cNvCxnSpPr/>
          <p:nvPr/>
        </p:nvCxnSpPr>
        <p:spPr>
          <a:xfrm>
            <a:off x="6026150" y="5277445"/>
            <a:ext cx="5353050" cy="0"/>
          </a:xfrm>
          <a:prstGeom prst="straightConnector1">
            <a:avLst/>
          </a:prstGeom>
          <a:noFill/>
          <a:ln cap="flat" cmpd="sng" w="9525">
            <a:solidFill>
              <a:srgbClr val="E3DCCF"/>
            </a:solidFill>
            <a:prstDash val="solid"/>
            <a:round/>
            <a:headEnd len="sm" w="sm" type="none"/>
            <a:tailEnd len="sm" w="sm" type="none"/>
          </a:ln>
        </p:spPr>
      </p:cxnSp>
      <p:sp>
        <p:nvSpPr>
          <p:cNvPr id="355" name="Google Shape;355;p12"/>
          <p:cNvSpPr/>
          <p:nvPr/>
        </p:nvSpPr>
        <p:spPr>
          <a:xfrm>
            <a:off x="6026150" y="5356820"/>
            <a:ext cx="551364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Backup: a screen recording of the same steps.</a:t>
            </a:r>
            <a:endParaRPr b="0" i="0" sz="1200" u="none" cap="none" strike="noStrike">
              <a:solidFill>
                <a:schemeClr val="dk1"/>
              </a:solidFill>
              <a:latin typeface="Times New Roman"/>
              <a:ea typeface="Times New Roman"/>
              <a:cs typeface="Times New Roman"/>
              <a:sym typeface="Times New Roman"/>
            </a:endParaRPr>
          </a:p>
        </p:txBody>
      </p:sp>
      <p:sp>
        <p:nvSpPr>
          <p:cNvPr id="356" name="Google Shape;356;p12"/>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357" name="Google Shape;357;p12"/>
          <p:cNvSpPr/>
          <p:nvPr/>
        </p:nvSpPr>
        <p:spPr>
          <a:xfrm>
            <a:off x="9586357" y="6238280"/>
            <a:ext cx="179284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Berk Kasimcan · 11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62" name="Shape 362"/>
        <p:cNvGrpSpPr/>
        <p:nvPr/>
      </p:nvGrpSpPr>
      <p:grpSpPr>
        <a:xfrm>
          <a:off x="0" y="0"/>
          <a:ext cx="0" cy="0"/>
          <a:chOff x="0" y="0"/>
          <a:chExt cx="0" cy="0"/>
        </a:xfrm>
      </p:grpSpPr>
      <p:sp>
        <p:nvSpPr>
          <p:cNvPr id="363" name="Google Shape;363;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4 · WHAT OUR DATA REVEALED</a:t>
            </a:r>
            <a:endParaRPr b="0" i="0" sz="1200" u="none" cap="none" strike="noStrike">
              <a:solidFill>
                <a:schemeClr val="dk1"/>
              </a:solidFill>
              <a:latin typeface="Times New Roman"/>
              <a:ea typeface="Times New Roman"/>
              <a:cs typeface="Times New Roman"/>
              <a:sym typeface="Times New Roman"/>
            </a:endParaRPr>
          </a:p>
        </p:txBody>
      </p:sp>
      <p:sp>
        <p:nvSpPr>
          <p:cNvPr id="364" name="Google Shape;364;p13"/>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Three insights from 92 real throws</a:t>
            </a:r>
            <a:endParaRPr sz="3000"/>
          </a:p>
        </p:txBody>
      </p:sp>
      <p:sp>
        <p:nvSpPr>
          <p:cNvPr id="365" name="Google Shape;365;p13"/>
          <p:cNvSpPr/>
          <p:nvPr/>
        </p:nvSpPr>
        <p:spPr>
          <a:xfrm>
            <a:off x="819150" y="1603970"/>
            <a:ext cx="5956300" cy="3548261"/>
          </a:xfrm>
          <a:prstGeom prst="roundRect">
            <a:avLst>
              <a:gd fmla="val 1969"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1003300" y="1788120"/>
            <a:ext cx="575564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Release speed per athlete</a:t>
            </a:r>
            <a:endParaRPr b="0" i="0" sz="1400" u="none" cap="none" strike="noStrike">
              <a:solidFill>
                <a:schemeClr val="dk1"/>
              </a:solidFill>
              <a:latin typeface="Times New Roman"/>
              <a:ea typeface="Times New Roman"/>
              <a:cs typeface="Times New Roman"/>
              <a:sym typeface="Times New Roman"/>
            </a:endParaRPr>
          </a:p>
        </p:txBody>
      </p:sp>
      <p:sp>
        <p:nvSpPr>
          <p:cNvPr id="367" name="Google Shape;367;p13"/>
          <p:cNvSpPr/>
          <p:nvPr/>
        </p:nvSpPr>
        <p:spPr>
          <a:xfrm>
            <a:off x="1003300" y="2052241"/>
            <a:ext cx="5755640" cy="2234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Dot = median · bar = ±1 SD · gold band = measurement noise</a:t>
            </a:r>
            <a:endParaRPr b="0" i="0" sz="1200" u="none" cap="none" strike="noStrike">
              <a:solidFill>
                <a:schemeClr val="dk1"/>
              </a:solidFill>
              <a:latin typeface="Times New Roman"/>
              <a:ea typeface="Times New Roman"/>
              <a:cs typeface="Times New Roman"/>
              <a:sym typeface="Times New Roman"/>
            </a:endParaRPr>
          </a:p>
        </p:txBody>
      </p:sp>
      <p:pic>
        <p:nvPicPr>
          <p:cNvPr descr="Dot and bar chart of release speed: the four athletes' medians sit between 7.46 and 7.56 metres per second, while their throw-to-throw spread grows from 0.21 for Player 1 to 0.44 for Player 4; the gold noise band is narrower than every spread" id="368" name="Google Shape;368;p13"/>
          <p:cNvPicPr preferRelativeResize="0"/>
          <p:nvPr/>
        </p:nvPicPr>
        <p:blipFill rotWithShape="1">
          <a:blip r:embed="rId3">
            <a:alphaModFix/>
          </a:blip>
          <a:srcRect b="0" l="0" r="0" t="0"/>
          <a:stretch/>
        </p:blipFill>
        <p:spPr>
          <a:xfrm>
            <a:off x="1003300" y="2301081"/>
            <a:ext cx="5588000" cy="2667000"/>
          </a:xfrm>
          <a:prstGeom prst="rect">
            <a:avLst/>
          </a:prstGeom>
          <a:noFill/>
          <a:ln>
            <a:noFill/>
          </a:ln>
        </p:spPr>
      </p:pic>
      <p:sp>
        <p:nvSpPr>
          <p:cNvPr id="369" name="Google Shape;369;p13"/>
          <p:cNvSpPr/>
          <p:nvPr/>
        </p:nvSpPr>
        <p:spPr>
          <a:xfrm>
            <a:off x="990600" y="2505670"/>
            <a:ext cx="812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Player 1</a:t>
            </a:r>
            <a:endParaRPr b="0" i="0" sz="1200" u="none" cap="none" strike="noStrike">
              <a:solidFill>
                <a:schemeClr val="dk1"/>
              </a:solidFill>
              <a:latin typeface="Times New Roman"/>
              <a:ea typeface="Times New Roman"/>
              <a:cs typeface="Times New Roman"/>
              <a:sym typeface="Times New Roman"/>
            </a:endParaRPr>
          </a:p>
        </p:txBody>
      </p:sp>
      <p:sp>
        <p:nvSpPr>
          <p:cNvPr id="370" name="Google Shape;370;p13"/>
          <p:cNvSpPr/>
          <p:nvPr/>
        </p:nvSpPr>
        <p:spPr>
          <a:xfrm>
            <a:off x="990600" y="3077170"/>
            <a:ext cx="812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Player 2</a:t>
            </a:r>
            <a:endParaRPr b="0" i="0" sz="1200" u="none" cap="none" strike="noStrike">
              <a:solidFill>
                <a:schemeClr val="dk1"/>
              </a:solidFill>
              <a:latin typeface="Times New Roman"/>
              <a:ea typeface="Times New Roman"/>
              <a:cs typeface="Times New Roman"/>
              <a:sym typeface="Times New Roman"/>
            </a:endParaRPr>
          </a:p>
        </p:txBody>
      </p:sp>
      <p:sp>
        <p:nvSpPr>
          <p:cNvPr id="371" name="Google Shape;371;p13"/>
          <p:cNvSpPr/>
          <p:nvPr/>
        </p:nvSpPr>
        <p:spPr>
          <a:xfrm>
            <a:off x="990600" y="3648670"/>
            <a:ext cx="812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Player 3</a:t>
            </a:r>
            <a:endParaRPr b="0" i="0" sz="1200" u="none" cap="none" strike="noStrike">
              <a:solidFill>
                <a:schemeClr val="dk1"/>
              </a:solidFill>
              <a:latin typeface="Times New Roman"/>
              <a:ea typeface="Times New Roman"/>
              <a:cs typeface="Times New Roman"/>
              <a:sym typeface="Times New Roman"/>
            </a:endParaRPr>
          </a:p>
        </p:txBody>
      </p:sp>
      <p:sp>
        <p:nvSpPr>
          <p:cNvPr id="372" name="Google Shape;372;p13"/>
          <p:cNvSpPr/>
          <p:nvPr/>
        </p:nvSpPr>
        <p:spPr>
          <a:xfrm>
            <a:off x="990600" y="4220170"/>
            <a:ext cx="812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Player 4</a:t>
            </a:r>
            <a:endParaRPr b="0" i="0" sz="1200" u="none" cap="none" strike="noStrike">
              <a:solidFill>
                <a:schemeClr val="dk1"/>
              </a:solidFill>
              <a:latin typeface="Times New Roman"/>
              <a:ea typeface="Times New Roman"/>
              <a:cs typeface="Times New Roman"/>
              <a:sym typeface="Times New Roman"/>
            </a:endParaRPr>
          </a:p>
        </p:txBody>
      </p:sp>
      <p:sp>
        <p:nvSpPr>
          <p:cNvPr id="373" name="Google Shape;373;p13"/>
          <p:cNvSpPr/>
          <p:nvPr/>
        </p:nvSpPr>
        <p:spPr>
          <a:xfrm>
            <a:off x="5537200" y="2505670"/>
            <a:ext cx="1066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0" i="0" lang="en-US" sz="1200" u="none" cap="none" strike="noStrike">
                <a:solidFill>
                  <a:srgbClr val="2F5D8A"/>
                </a:solidFill>
                <a:latin typeface="Times New Roman"/>
                <a:ea typeface="Times New Roman"/>
                <a:cs typeface="Times New Roman"/>
                <a:sym typeface="Times New Roman"/>
              </a:rPr>
              <a:t>SD 0.21</a:t>
            </a:r>
            <a:endParaRPr b="0" i="0" sz="1200" u="none" cap="none" strike="noStrike">
              <a:solidFill>
                <a:schemeClr val="dk1"/>
              </a:solidFill>
              <a:latin typeface="Times New Roman"/>
              <a:ea typeface="Times New Roman"/>
              <a:cs typeface="Times New Roman"/>
              <a:sym typeface="Times New Roman"/>
            </a:endParaRPr>
          </a:p>
        </p:txBody>
      </p:sp>
      <p:sp>
        <p:nvSpPr>
          <p:cNvPr id="374" name="Google Shape;374;p13"/>
          <p:cNvSpPr/>
          <p:nvPr/>
        </p:nvSpPr>
        <p:spPr>
          <a:xfrm>
            <a:off x="5537200" y="3077170"/>
            <a:ext cx="1066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0" i="0" lang="en-US" sz="1200" u="none" cap="none" strike="noStrike">
                <a:solidFill>
                  <a:srgbClr val="2F5D8A"/>
                </a:solidFill>
                <a:latin typeface="Times New Roman"/>
                <a:ea typeface="Times New Roman"/>
                <a:cs typeface="Times New Roman"/>
                <a:sym typeface="Times New Roman"/>
              </a:rPr>
              <a:t>SD 0.24</a:t>
            </a:r>
            <a:endParaRPr b="0" i="0" sz="1200" u="none" cap="none" strike="noStrike">
              <a:solidFill>
                <a:schemeClr val="dk1"/>
              </a:solidFill>
              <a:latin typeface="Times New Roman"/>
              <a:ea typeface="Times New Roman"/>
              <a:cs typeface="Times New Roman"/>
              <a:sym typeface="Times New Roman"/>
            </a:endParaRPr>
          </a:p>
        </p:txBody>
      </p:sp>
      <p:sp>
        <p:nvSpPr>
          <p:cNvPr id="375" name="Google Shape;375;p13"/>
          <p:cNvSpPr/>
          <p:nvPr/>
        </p:nvSpPr>
        <p:spPr>
          <a:xfrm>
            <a:off x="5537200" y="3648670"/>
            <a:ext cx="1066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0" i="0" lang="en-US" sz="1200" u="none" cap="none" strike="noStrike">
                <a:solidFill>
                  <a:srgbClr val="2F5D8A"/>
                </a:solidFill>
                <a:latin typeface="Times New Roman"/>
                <a:ea typeface="Times New Roman"/>
                <a:cs typeface="Times New Roman"/>
                <a:sym typeface="Times New Roman"/>
              </a:rPr>
              <a:t>SD 0.35</a:t>
            </a:r>
            <a:endParaRPr b="0" i="0" sz="1200" u="none" cap="none" strike="noStrike">
              <a:solidFill>
                <a:schemeClr val="dk1"/>
              </a:solidFill>
              <a:latin typeface="Times New Roman"/>
              <a:ea typeface="Times New Roman"/>
              <a:cs typeface="Times New Roman"/>
              <a:sym typeface="Times New Roman"/>
            </a:endParaRPr>
          </a:p>
        </p:txBody>
      </p:sp>
      <p:sp>
        <p:nvSpPr>
          <p:cNvPr id="376" name="Google Shape;376;p13"/>
          <p:cNvSpPr/>
          <p:nvPr/>
        </p:nvSpPr>
        <p:spPr>
          <a:xfrm>
            <a:off x="5537200" y="4220170"/>
            <a:ext cx="10668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8A"/>
              </a:buClr>
              <a:buSzPts val="1200"/>
              <a:buFont typeface="Times New Roman"/>
              <a:buNone/>
            </a:pPr>
            <a:r>
              <a:rPr b="0" i="0" lang="en-US" sz="1200" u="none" cap="none" strike="noStrike">
                <a:solidFill>
                  <a:srgbClr val="2F5D8A"/>
                </a:solidFill>
                <a:latin typeface="Times New Roman"/>
                <a:ea typeface="Times New Roman"/>
                <a:cs typeface="Times New Roman"/>
                <a:sym typeface="Times New Roman"/>
              </a:rPr>
              <a:t>SD 0.44</a:t>
            </a:r>
            <a:endParaRPr b="0" i="0" sz="1200" u="none" cap="none" strike="noStrike">
              <a:solidFill>
                <a:schemeClr val="dk1"/>
              </a:solidFill>
              <a:latin typeface="Times New Roman"/>
              <a:ea typeface="Times New Roman"/>
              <a:cs typeface="Times New Roman"/>
              <a:sym typeface="Times New Roman"/>
            </a:endParaRPr>
          </a:p>
        </p:txBody>
      </p:sp>
      <p:sp>
        <p:nvSpPr>
          <p:cNvPr id="377" name="Google Shape;377;p13"/>
          <p:cNvSpPr/>
          <p:nvPr/>
        </p:nvSpPr>
        <p:spPr>
          <a:xfrm>
            <a:off x="2279650" y="4715470"/>
            <a:ext cx="558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7.0</a:t>
            </a:r>
            <a:endParaRPr b="0" i="0" sz="1200" u="none" cap="none" strike="noStrike">
              <a:solidFill>
                <a:schemeClr val="dk1"/>
              </a:solidFill>
              <a:latin typeface="Times New Roman"/>
              <a:ea typeface="Times New Roman"/>
              <a:cs typeface="Times New Roman"/>
              <a:sym typeface="Times New Roman"/>
            </a:endParaRPr>
          </a:p>
        </p:txBody>
      </p:sp>
      <p:sp>
        <p:nvSpPr>
          <p:cNvPr id="378" name="Google Shape;378;p13"/>
          <p:cNvSpPr/>
          <p:nvPr/>
        </p:nvSpPr>
        <p:spPr>
          <a:xfrm>
            <a:off x="3822700" y="4715470"/>
            <a:ext cx="558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7.5</a:t>
            </a:r>
            <a:endParaRPr b="0" i="0" sz="1200" u="none" cap="none" strike="noStrike">
              <a:solidFill>
                <a:schemeClr val="dk1"/>
              </a:solidFill>
              <a:latin typeface="Times New Roman"/>
              <a:ea typeface="Times New Roman"/>
              <a:cs typeface="Times New Roman"/>
              <a:sym typeface="Times New Roman"/>
            </a:endParaRPr>
          </a:p>
        </p:txBody>
      </p:sp>
      <p:sp>
        <p:nvSpPr>
          <p:cNvPr id="379" name="Google Shape;379;p13"/>
          <p:cNvSpPr/>
          <p:nvPr/>
        </p:nvSpPr>
        <p:spPr>
          <a:xfrm>
            <a:off x="5302250" y="4715470"/>
            <a:ext cx="812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8.0 m/s</a:t>
            </a:r>
            <a:endParaRPr b="0" i="0" sz="1200" u="none" cap="none" strike="noStrike">
              <a:solidFill>
                <a:schemeClr val="dk1"/>
              </a:solidFill>
              <a:latin typeface="Times New Roman"/>
              <a:ea typeface="Times New Roman"/>
              <a:cs typeface="Times New Roman"/>
              <a:sym typeface="Times New Roman"/>
            </a:endParaRPr>
          </a:p>
        </p:txBody>
      </p:sp>
      <p:sp>
        <p:nvSpPr>
          <p:cNvPr id="380" name="Google Shape;380;p13"/>
          <p:cNvSpPr/>
          <p:nvPr/>
        </p:nvSpPr>
        <p:spPr>
          <a:xfrm>
            <a:off x="7092950" y="1603970"/>
            <a:ext cx="4279900" cy="1122462"/>
          </a:xfrm>
          <a:prstGeom prst="roundRect">
            <a:avLst>
              <a:gd fmla="val 6223"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7251700" y="1724620"/>
            <a:ext cx="4081272"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Same speed, different consistency</a:t>
            </a:r>
            <a:endParaRPr b="0" i="0" sz="1400" u="none" cap="none" strike="noStrike">
              <a:solidFill>
                <a:schemeClr val="dk1"/>
              </a:solidFill>
              <a:latin typeface="Times New Roman"/>
              <a:ea typeface="Times New Roman"/>
              <a:cs typeface="Times New Roman"/>
              <a:sym typeface="Times New Roman"/>
            </a:endParaRPr>
          </a:p>
        </p:txBody>
      </p:sp>
      <p:sp>
        <p:nvSpPr>
          <p:cNvPr id="382" name="Google Shape;382;p13"/>
          <p:cNvSpPr/>
          <p:nvPr/>
        </p:nvSpPr>
        <p:spPr>
          <a:xfrm>
            <a:off x="7251700" y="1963341"/>
            <a:ext cx="4081272"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All four release at about 7.5 m/s; their spread ranges from 0.21 to 0.44 m/s.</a:t>
            </a:r>
            <a:endParaRPr b="0" i="0" sz="1200" u="none" cap="none" strike="noStrike">
              <a:solidFill>
                <a:schemeClr val="dk1"/>
              </a:solidFill>
              <a:latin typeface="Times New Roman"/>
              <a:ea typeface="Times New Roman"/>
              <a:cs typeface="Times New Roman"/>
              <a:sym typeface="Times New Roman"/>
            </a:endParaRPr>
          </a:p>
        </p:txBody>
      </p:sp>
      <p:sp>
        <p:nvSpPr>
          <p:cNvPr id="383" name="Google Shape;383;p13"/>
          <p:cNvSpPr/>
          <p:nvPr/>
        </p:nvSpPr>
        <p:spPr>
          <a:xfrm>
            <a:off x="7251700" y="2400102"/>
            <a:ext cx="408127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F5D8A"/>
              </a:buClr>
              <a:buSzPts val="1200"/>
              <a:buFont typeface="Times New Roman"/>
              <a:buNone/>
            </a:pPr>
            <a:r>
              <a:rPr b="1" i="0" lang="en-US" sz="1200" u="none" cap="none" strike="noStrike">
                <a:solidFill>
                  <a:srgbClr val="2F5D8A"/>
                </a:solidFill>
                <a:latin typeface="Times New Roman"/>
                <a:ea typeface="Times New Roman"/>
                <a:cs typeface="Times New Roman"/>
                <a:sym typeface="Times New Roman"/>
              </a:rPr>
              <a:t>→ Train speed control, not more power.</a:t>
            </a:r>
            <a:endParaRPr b="0" i="0" sz="1200" u="none" cap="none" strike="noStrike">
              <a:solidFill>
                <a:schemeClr val="dk1"/>
              </a:solidFill>
              <a:latin typeface="Times New Roman"/>
              <a:ea typeface="Times New Roman"/>
              <a:cs typeface="Times New Roman"/>
              <a:sym typeface="Times New Roman"/>
            </a:endParaRPr>
          </a:p>
        </p:txBody>
      </p:sp>
      <p:sp>
        <p:nvSpPr>
          <p:cNvPr id="384" name="Google Shape;384;p13"/>
          <p:cNvSpPr/>
          <p:nvPr/>
        </p:nvSpPr>
        <p:spPr>
          <a:xfrm>
            <a:off x="7092950" y="2840732"/>
            <a:ext cx="4279900" cy="916781"/>
          </a:xfrm>
          <a:prstGeom prst="roundRect">
            <a:avLst>
              <a:gd fmla="val 7619"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7251700" y="2961382"/>
            <a:ext cx="4081272"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Already at the forgiving angle</a:t>
            </a:r>
            <a:endParaRPr b="0" i="0" sz="1400" u="none" cap="none" strike="noStrike">
              <a:solidFill>
                <a:schemeClr val="dk1"/>
              </a:solidFill>
              <a:latin typeface="Times New Roman"/>
              <a:ea typeface="Times New Roman"/>
              <a:cs typeface="Times New Roman"/>
              <a:sym typeface="Times New Roman"/>
            </a:endParaRPr>
          </a:p>
        </p:txBody>
      </p:sp>
      <p:sp>
        <p:nvSpPr>
          <p:cNvPr id="386" name="Google Shape;386;p13"/>
          <p:cNvSpPr/>
          <p:nvPr/>
        </p:nvSpPr>
        <p:spPr>
          <a:xfrm>
            <a:off x="7251700" y="3200102"/>
            <a:ext cx="408127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Median release angles are 37–44°, where 1° costs about 1 cm.</a:t>
            </a:r>
            <a:endParaRPr b="0" i="0" sz="1200" u="none" cap="none" strike="noStrike">
              <a:solidFill>
                <a:schemeClr val="dk1"/>
              </a:solidFill>
              <a:latin typeface="Times New Roman"/>
              <a:ea typeface="Times New Roman"/>
              <a:cs typeface="Times New Roman"/>
              <a:sym typeface="Times New Roman"/>
            </a:endParaRPr>
          </a:p>
        </p:txBody>
      </p:sp>
      <p:sp>
        <p:nvSpPr>
          <p:cNvPr id="387" name="Google Shape;387;p13"/>
          <p:cNvSpPr/>
          <p:nvPr/>
        </p:nvSpPr>
        <p:spPr>
          <a:xfrm>
            <a:off x="7251700" y="3431183"/>
            <a:ext cx="408127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 Angle drills would add little.</a:t>
            </a:r>
            <a:endParaRPr b="0" i="0" sz="1200" u="none" cap="none" strike="noStrike">
              <a:solidFill>
                <a:schemeClr val="dk1"/>
              </a:solidFill>
              <a:latin typeface="Times New Roman"/>
              <a:ea typeface="Times New Roman"/>
              <a:cs typeface="Times New Roman"/>
              <a:sym typeface="Times New Roman"/>
            </a:endParaRPr>
          </a:p>
        </p:txBody>
      </p:sp>
      <p:sp>
        <p:nvSpPr>
          <p:cNvPr id="388" name="Google Shape;388;p13"/>
          <p:cNvSpPr/>
          <p:nvPr/>
        </p:nvSpPr>
        <p:spPr>
          <a:xfrm>
            <a:off x="7092950" y="3871813"/>
            <a:ext cx="4279900" cy="1122462"/>
          </a:xfrm>
          <a:prstGeom prst="roundRect">
            <a:avLst>
              <a:gd fmla="val 6223"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7251700" y="3992463"/>
            <a:ext cx="4081272"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Many misses happen after landing</a:t>
            </a:r>
            <a:endParaRPr b="0" i="0" sz="1400" u="none" cap="none" strike="noStrike">
              <a:solidFill>
                <a:schemeClr val="dk1"/>
              </a:solidFill>
              <a:latin typeface="Times New Roman"/>
              <a:ea typeface="Times New Roman"/>
              <a:cs typeface="Times New Roman"/>
              <a:sym typeface="Times New Roman"/>
            </a:endParaRPr>
          </a:p>
        </p:txBody>
      </p:sp>
      <p:sp>
        <p:nvSpPr>
          <p:cNvPr id="390" name="Google Shape;390;p13"/>
          <p:cNvSpPr/>
          <p:nvPr/>
        </p:nvSpPr>
        <p:spPr>
          <a:xfrm>
            <a:off x="7251700" y="4231184"/>
            <a:ext cx="4081272"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The slide was named 31 times; the carry 23 (44 explained misses).</a:t>
            </a:r>
            <a:endParaRPr b="0" i="0" sz="1200" u="none" cap="none" strike="noStrike">
              <a:solidFill>
                <a:schemeClr val="dk1"/>
              </a:solidFill>
              <a:latin typeface="Times New Roman"/>
              <a:ea typeface="Times New Roman"/>
              <a:cs typeface="Times New Roman"/>
              <a:sym typeface="Times New Roman"/>
            </a:endParaRPr>
          </a:p>
        </p:txBody>
      </p:sp>
      <p:sp>
        <p:nvSpPr>
          <p:cNvPr id="391" name="Google Shape;391;p13"/>
          <p:cNvSpPr/>
          <p:nvPr/>
        </p:nvSpPr>
        <p:spPr>
          <a:xfrm>
            <a:off x="7251700" y="4462264"/>
            <a:ext cx="4081272"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A8432A"/>
              </a:buClr>
              <a:buSzPts val="1200"/>
              <a:buFont typeface="Times New Roman"/>
              <a:buNone/>
            </a:pPr>
            <a:r>
              <a:rPr b="1" i="0" lang="en-US" sz="1200" u="none" cap="none" strike="noStrike">
                <a:solidFill>
                  <a:srgbClr val="A8432A"/>
                </a:solidFill>
                <a:latin typeface="Times New Roman"/>
                <a:ea typeface="Times New Roman"/>
                <a:cs typeface="Times New Roman"/>
                <a:sym typeface="Times New Roman"/>
              </a:rPr>
              <a:t>→ Practi</a:t>
            </a:r>
            <a:r>
              <a:rPr b="1" lang="en-US" sz="1200">
                <a:solidFill>
                  <a:srgbClr val="A8432A"/>
                </a:solidFill>
                <a:latin typeface="Times New Roman"/>
                <a:ea typeface="Times New Roman"/>
                <a:cs typeface="Times New Roman"/>
                <a:sym typeface="Times New Roman"/>
              </a:rPr>
              <a:t>c</a:t>
            </a:r>
            <a:r>
              <a:rPr b="1" i="0" lang="en-US" sz="1200" u="none" cap="none" strike="noStrike">
                <a:solidFill>
                  <a:srgbClr val="A8432A"/>
                </a:solidFill>
                <a:latin typeface="Times New Roman"/>
                <a:ea typeface="Times New Roman"/>
                <a:cs typeface="Times New Roman"/>
                <a:sym typeface="Times New Roman"/>
              </a:rPr>
              <a:t>e board feel; don't change the arm after a bad slide.</a:t>
            </a:r>
            <a:endParaRPr b="0" i="0" sz="1200" u="none" cap="none" strike="noStrike">
              <a:solidFill>
                <a:schemeClr val="dk1"/>
              </a:solidFill>
              <a:latin typeface="Times New Roman"/>
              <a:ea typeface="Times New Roman"/>
              <a:cs typeface="Times New Roman"/>
              <a:sym typeface="Times New Roman"/>
            </a:endParaRPr>
          </a:p>
        </p:txBody>
      </p:sp>
      <p:sp>
        <p:nvSpPr>
          <p:cNvPr id="392" name="Google Shape;392;p13"/>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393" name="Google Shape;393;p13"/>
          <p:cNvSpPr/>
          <p:nvPr/>
        </p:nvSpPr>
        <p:spPr>
          <a:xfrm>
            <a:off x="9758878" y="6238280"/>
            <a:ext cx="16203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Eliam Chang · 12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98" name="Shape 398"/>
        <p:cNvGrpSpPr/>
        <p:nvPr/>
      </p:nvGrpSpPr>
      <p:grpSpPr>
        <a:xfrm>
          <a:off x="0" y="0"/>
          <a:ext cx="0" cy="0"/>
          <a:chOff x="0" y="0"/>
          <a:chExt cx="0" cy="0"/>
        </a:xfrm>
      </p:grpSpPr>
      <p:sp>
        <p:nvSpPr>
          <p:cNvPr id="399" name="Google Shape;399;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4 · WHY IT WILL IMPROVE TRAINING</a:t>
            </a:r>
            <a:endParaRPr b="0" i="0" sz="1200" u="none" cap="none" strike="noStrike">
              <a:solidFill>
                <a:schemeClr val="dk1"/>
              </a:solidFill>
              <a:latin typeface="Times New Roman"/>
              <a:ea typeface="Times New Roman"/>
              <a:cs typeface="Times New Roman"/>
              <a:sym typeface="Times New Roman"/>
            </a:endParaRPr>
          </a:p>
        </p:txBody>
      </p:sp>
      <p:sp>
        <p:nvSpPr>
          <p:cNvPr id="400" name="Google Shape;400;p14"/>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Why you should be convinced</a:t>
            </a:r>
            <a:endParaRPr sz="3000"/>
          </a:p>
        </p:txBody>
      </p:sp>
      <p:sp>
        <p:nvSpPr>
          <p:cNvPr id="401" name="Google Shape;401;p14"/>
          <p:cNvSpPr/>
          <p:nvPr/>
        </p:nvSpPr>
        <p:spPr>
          <a:xfrm>
            <a:off x="812800" y="1597620"/>
            <a:ext cx="520623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5D8A"/>
              </a:buClr>
              <a:buSzPts val="1400"/>
              <a:buFont typeface="Times New Roman"/>
              <a:buNone/>
            </a:pPr>
            <a:r>
              <a:rPr b="1" i="0" lang="en-US" sz="1400" u="none" cap="none" strike="noStrike">
                <a:solidFill>
                  <a:srgbClr val="2F5D8A"/>
                </a:solidFill>
                <a:latin typeface="Times New Roman"/>
                <a:ea typeface="Times New Roman"/>
                <a:cs typeface="Times New Roman"/>
                <a:sym typeface="Times New Roman"/>
              </a:rPr>
              <a:t>It follows how athletes learn</a:t>
            </a:r>
            <a:endParaRPr b="0" i="0" sz="1400" u="none" cap="none" strike="noStrike">
              <a:solidFill>
                <a:schemeClr val="dk1"/>
              </a:solidFill>
              <a:latin typeface="Times New Roman"/>
              <a:ea typeface="Times New Roman"/>
              <a:cs typeface="Times New Roman"/>
              <a:sym typeface="Times New Roman"/>
            </a:endParaRPr>
          </a:p>
        </p:txBody>
      </p:sp>
      <p:sp>
        <p:nvSpPr>
          <p:cNvPr id="402" name="Google Shape;402;p14"/>
          <p:cNvSpPr/>
          <p:nvPr/>
        </p:nvSpPr>
        <p:spPr>
          <a:xfrm>
            <a:off x="812800" y="18998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p:txBody>
      </p:sp>
      <p:sp>
        <p:nvSpPr>
          <p:cNvPr id="403" name="Google Shape;403;p14"/>
          <p:cNvSpPr/>
          <p:nvPr/>
        </p:nvSpPr>
        <p:spPr>
          <a:xfrm>
            <a:off x="1168400" y="1899841"/>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It measures what the eye can't</a:t>
            </a:r>
            <a:endParaRPr b="0" i="0" sz="1200" u="none" cap="none" strike="noStrike">
              <a:solidFill>
                <a:schemeClr val="dk1"/>
              </a:solidFill>
              <a:latin typeface="Times New Roman"/>
              <a:ea typeface="Times New Roman"/>
              <a:cs typeface="Times New Roman"/>
              <a:sym typeface="Times New Roman"/>
            </a:endParaRPr>
          </a:p>
        </p:txBody>
      </p:sp>
      <p:sp>
        <p:nvSpPr>
          <p:cNvPr id="404" name="Google Shape;404;p14"/>
          <p:cNvSpPr/>
          <p:nvPr/>
        </p:nvSpPr>
        <p:spPr>
          <a:xfrm>
            <a:off x="1168400" y="2125861"/>
            <a:ext cx="5016500"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0.1 m/s is invisible but worth 5 in. Feedback becomes numbers, not guesses.</a:t>
            </a:r>
            <a:endParaRPr b="0" i="0" sz="1200" u="none" cap="none" strike="noStrike">
              <a:solidFill>
                <a:schemeClr val="dk1"/>
              </a:solidFill>
              <a:latin typeface="Times New Roman"/>
              <a:ea typeface="Times New Roman"/>
              <a:cs typeface="Times New Roman"/>
              <a:sym typeface="Times New Roman"/>
            </a:endParaRPr>
          </a:p>
        </p:txBody>
      </p:sp>
      <p:sp>
        <p:nvSpPr>
          <p:cNvPr id="405" name="Google Shape;405;p14"/>
          <p:cNvSpPr/>
          <p:nvPr/>
        </p:nvSpPr>
        <p:spPr>
          <a:xfrm>
            <a:off x="812800" y="2420441"/>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2</a:t>
            </a:r>
            <a:endParaRPr b="0" i="0" sz="1200" u="none" cap="none" strike="noStrike">
              <a:solidFill>
                <a:schemeClr val="dk1"/>
              </a:solidFill>
              <a:latin typeface="Times New Roman"/>
              <a:ea typeface="Times New Roman"/>
              <a:cs typeface="Times New Roman"/>
              <a:sym typeface="Times New Roman"/>
            </a:endParaRPr>
          </a:p>
        </p:txBody>
      </p:sp>
      <p:sp>
        <p:nvSpPr>
          <p:cNvPr id="406" name="Google Shape;406;p14"/>
          <p:cNvSpPr/>
          <p:nvPr/>
        </p:nvSpPr>
        <p:spPr>
          <a:xfrm>
            <a:off x="1168400" y="2420441"/>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It separates causes that look the same</a:t>
            </a:r>
            <a:endParaRPr b="0" i="0" sz="1200" u="none" cap="none" strike="noStrike">
              <a:solidFill>
                <a:schemeClr val="dk1"/>
              </a:solidFill>
              <a:latin typeface="Times New Roman"/>
              <a:ea typeface="Times New Roman"/>
              <a:cs typeface="Times New Roman"/>
              <a:sym typeface="Times New Roman"/>
            </a:endParaRPr>
          </a:p>
        </p:txBody>
      </p:sp>
      <p:sp>
        <p:nvSpPr>
          <p:cNvPr id="407" name="Google Shape;407;p14"/>
          <p:cNvSpPr/>
          <p:nvPr/>
        </p:nvSpPr>
        <p:spPr>
          <a:xfrm>
            <a:off x="1168400" y="2646462"/>
            <a:ext cx="4839970"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Carry, slide, aim or release spot: each gets the right drill.</a:t>
            </a:r>
            <a:endParaRPr b="0" i="0" sz="1200" u="none" cap="none" strike="noStrike">
              <a:solidFill>
                <a:schemeClr val="dk1"/>
              </a:solidFill>
              <a:latin typeface="Times New Roman"/>
              <a:ea typeface="Times New Roman"/>
              <a:cs typeface="Times New Roman"/>
              <a:sym typeface="Times New Roman"/>
            </a:endParaRPr>
          </a:p>
        </p:txBody>
      </p:sp>
      <p:sp>
        <p:nvSpPr>
          <p:cNvPr id="408" name="Google Shape;408;p14"/>
          <p:cNvSpPr/>
          <p:nvPr/>
        </p:nvSpPr>
        <p:spPr>
          <a:xfrm>
            <a:off x="812800" y="2941042"/>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3</a:t>
            </a:r>
            <a:endParaRPr b="0" i="0" sz="1200" u="none" cap="none" strike="noStrike">
              <a:solidFill>
                <a:schemeClr val="dk1"/>
              </a:solidFill>
              <a:latin typeface="Times New Roman"/>
              <a:ea typeface="Times New Roman"/>
              <a:cs typeface="Times New Roman"/>
              <a:sym typeface="Times New Roman"/>
            </a:endParaRPr>
          </a:p>
        </p:txBody>
      </p:sp>
      <p:sp>
        <p:nvSpPr>
          <p:cNvPr id="409" name="Google Shape;409;p14"/>
          <p:cNvSpPr/>
          <p:nvPr/>
        </p:nvSpPr>
        <p:spPr>
          <a:xfrm>
            <a:off x="1168400" y="2941042"/>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It fits each athlete</a:t>
            </a:r>
            <a:endParaRPr b="0" i="0" sz="1200" u="none" cap="none" strike="noStrike">
              <a:solidFill>
                <a:schemeClr val="dk1"/>
              </a:solidFill>
              <a:latin typeface="Times New Roman"/>
              <a:ea typeface="Times New Roman"/>
              <a:cs typeface="Times New Roman"/>
              <a:sym typeface="Times New Roman"/>
            </a:endParaRPr>
          </a:p>
        </p:txBody>
      </p:sp>
      <p:sp>
        <p:nvSpPr>
          <p:cNvPr id="410" name="Google Shape;410;p14"/>
          <p:cNvSpPr/>
          <p:nvPr/>
        </p:nvSpPr>
        <p:spPr>
          <a:xfrm>
            <a:off x="1168400" y="3167063"/>
            <a:ext cx="483997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Compared with their own usual throw; skilled throwers succeed in different ways (Nasu 2014; Müller and Sternad 2004).</a:t>
            </a:r>
            <a:endParaRPr b="0" i="0" sz="1200" u="none" cap="none" strike="noStrike">
              <a:solidFill>
                <a:schemeClr val="dk1"/>
              </a:solidFill>
              <a:latin typeface="Times New Roman"/>
              <a:ea typeface="Times New Roman"/>
              <a:cs typeface="Times New Roman"/>
              <a:sym typeface="Times New Roman"/>
            </a:endParaRPr>
          </a:p>
        </p:txBody>
      </p:sp>
      <p:sp>
        <p:nvSpPr>
          <p:cNvPr id="411" name="Google Shape;411;p14"/>
          <p:cNvSpPr/>
          <p:nvPr/>
        </p:nvSpPr>
        <p:spPr>
          <a:xfrm>
            <a:off x="812800" y="3667323"/>
            <a:ext cx="254000" cy="254000"/>
          </a:xfrm>
          <a:custGeom>
            <a:rect b="b" l="l" r="r" t="t"/>
            <a:pathLst>
              <a:path extrusionOk="0" h="254000" w="254000">
                <a:moveTo>
                  <a:pt x="127000" y="0"/>
                </a:moveTo>
                <a:lnTo>
                  <a:pt x="127000" y="0"/>
                </a:lnTo>
                <a:cubicBezTo>
                  <a:pt x="160682" y="0"/>
                  <a:pt x="192985" y="13380"/>
                  <a:pt x="216803" y="37197"/>
                </a:cubicBezTo>
                <a:cubicBezTo>
                  <a:pt x="240620" y="61015"/>
                  <a:pt x="254000" y="93318"/>
                  <a:pt x="254000" y="127000"/>
                </a:cubicBezTo>
                <a:lnTo>
                  <a:pt x="254000" y="127000"/>
                </a:lnTo>
                <a:cubicBezTo>
                  <a:pt x="254000" y="197140"/>
                  <a:pt x="197140" y="254000"/>
                  <a:pt x="127000" y="254000"/>
                </a:cubicBezTo>
                <a:lnTo>
                  <a:pt x="127000" y="254000"/>
                </a:lnTo>
                <a:cubicBezTo>
                  <a:pt x="56860" y="254000"/>
                  <a:pt x="0" y="197140"/>
                  <a:pt x="0" y="127000"/>
                </a:cubicBezTo>
                <a:lnTo>
                  <a:pt x="0" y="127000"/>
                </a:lnTo>
                <a:cubicBezTo>
                  <a:pt x="0" y="56860"/>
                  <a:pt x="56860" y="0"/>
                  <a:pt x="127000" y="0"/>
                </a:cubicBezTo>
                <a:close/>
              </a:path>
            </a:pathLst>
          </a:custGeom>
          <a:solidFill>
            <a:srgbClr val="2F5D8A"/>
          </a:solidFill>
          <a:ln>
            <a:noFill/>
          </a:ln>
        </p:spPr>
        <p:txBody>
          <a:bodyPr anchorCtr="0" anchor="t" bIns="0" lIns="0" spcFirstLastPara="1" rIns="0" wrap="square" tIns="0">
            <a:normAutofit/>
          </a:bodyPr>
          <a:lstStyle/>
          <a:p>
            <a:pPr indent="0" lvl="0" marL="0" marR="0" rtl="0" algn="ctr">
              <a:lnSpc>
                <a:spcPct val="167000"/>
              </a:lnSpc>
              <a:spcBef>
                <a:spcPts val="0"/>
              </a:spcBef>
              <a:spcAft>
                <a:spcPts val="0"/>
              </a:spcAft>
              <a:buClr>
                <a:srgbClr val="F3EEE4"/>
              </a:buClr>
              <a:buSzPts val="1200"/>
              <a:buFont typeface="Times New Roman"/>
              <a:buNone/>
            </a:pPr>
            <a:r>
              <a:rPr b="1" i="0" lang="en-US" sz="1200" u="none" cap="none" strike="noStrike">
                <a:solidFill>
                  <a:srgbClr val="F3EEE4"/>
                </a:solidFill>
                <a:latin typeface="Times New Roman"/>
                <a:ea typeface="Times New Roman"/>
                <a:cs typeface="Times New Roman"/>
                <a:sym typeface="Times New Roman"/>
              </a:rPr>
              <a:t>4</a:t>
            </a:r>
            <a:endParaRPr b="0" i="0" sz="1200" u="none" cap="none" strike="noStrike">
              <a:solidFill>
                <a:schemeClr val="dk1"/>
              </a:solidFill>
              <a:latin typeface="Times New Roman"/>
              <a:ea typeface="Times New Roman"/>
              <a:cs typeface="Times New Roman"/>
              <a:sym typeface="Times New Roman"/>
            </a:endParaRPr>
          </a:p>
        </p:txBody>
      </p:sp>
      <p:sp>
        <p:nvSpPr>
          <p:cNvPr id="412" name="Google Shape;412;p14"/>
          <p:cNvSpPr/>
          <p:nvPr/>
        </p:nvSpPr>
        <p:spPr>
          <a:xfrm>
            <a:off x="1168400" y="3667323"/>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It doesn't over-coach</a:t>
            </a:r>
            <a:endParaRPr b="0" i="0" sz="1200" u="none" cap="none" strike="noStrike">
              <a:solidFill>
                <a:schemeClr val="dk1"/>
              </a:solidFill>
              <a:latin typeface="Times New Roman"/>
              <a:ea typeface="Times New Roman"/>
              <a:cs typeface="Times New Roman"/>
              <a:sym typeface="Times New Roman"/>
            </a:endParaRPr>
          </a:p>
        </p:txBody>
      </p:sp>
      <p:sp>
        <p:nvSpPr>
          <p:cNvPr id="413" name="Google Shape;413;p14"/>
          <p:cNvSpPr/>
          <p:nvPr/>
        </p:nvSpPr>
        <p:spPr>
          <a:xfrm>
            <a:off x="1168400" y="3893344"/>
            <a:ext cx="4839970" cy="23108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One cue at a time, only outside the normal spread, never from noise.</a:t>
            </a:r>
            <a:endParaRPr b="0" i="0" sz="1200" u="none" cap="none" strike="noStrike">
              <a:solidFill>
                <a:schemeClr val="dk1"/>
              </a:solidFill>
              <a:latin typeface="Times New Roman"/>
              <a:ea typeface="Times New Roman"/>
              <a:cs typeface="Times New Roman"/>
              <a:sym typeface="Times New Roman"/>
            </a:endParaRPr>
          </a:p>
        </p:txBody>
      </p:sp>
      <p:sp>
        <p:nvSpPr>
          <p:cNvPr id="414" name="Google Shape;414;p14"/>
          <p:cNvSpPr/>
          <p:nvPr/>
        </p:nvSpPr>
        <p:spPr>
          <a:xfrm>
            <a:off x="6172200" y="1597620"/>
            <a:ext cx="536321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5D8A"/>
              </a:buClr>
              <a:buSzPts val="1400"/>
              <a:buFont typeface="Times New Roman"/>
              <a:buNone/>
            </a:pPr>
            <a:r>
              <a:rPr b="1" i="0" lang="en-US" sz="1400" u="none" cap="none" strike="noStrike">
                <a:solidFill>
                  <a:srgbClr val="2F5D8A"/>
                </a:solidFill>
                <a:latin typeface="Times New Roman"/>
                <a:ea typeface="Times New Roman"/>
                <a:cs typeface="Times New Roman"/>
                <a:sym typeface="Times New Roman"/>
              </a:rPr>
              <a:t>The measurements hold up</a:t>
            </a:r>
            <a:endParaRPr b="0" i="0" sz="1400" u="none" cap="none" strike="noStrike">
              <a:solidFill>
                <a:schemeClr val="dk1"/>
              </a:solidFill>
              <a:latin typeface="Times New Roman"/>
              <a:ea typeface="Times New Roman"/>
              <a:cs typeface="Times New Roman"/>
              <a:sym typeface="Times New Roman"/>
            </a:endParaRPr>
          </a:p>
        </p:txBody>
      </p:sp>
      <p:graphicFrame>
        <p:nvGraphicFramePr>
          <p:cNvPr id="415" name="Google Shape;415;p14"/>
          <p:cNvGraphicFramePr/>
          <p:nvPr/>
        </p:nvGraphicFramePr>
        <p:xfrm>
          <a:off x="6184900" y="1937941"/>
          <a:ext cx="3000000" cy="3000000"/>
        </p:xfrm>
        <a:graphic>
          <a:graphicData uri="http://schemas.openxmlformats.org/drawingml/2006/table">
            <a:tbl>
              <a:tblPr>
                <a:noFill/>
                <a:tableStyleId>{E2BBD6A1-547E-441A-B601-4AAEDF4CFED8}</a:tableStyleId>
              </a:tblPr>
              <a:tblGrid>
                <a:gridCol w="2493275"/>
                <a:gridCol w="2701025"/>
              </a:tblGrid>
              <a:tr h="332575">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Check</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Result</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1A1916"/>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Release frame vs video</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21 / 21 within ±1 frame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Where the bag ended</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10 / 10 tripod clips correct</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Two-camera sync</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23 / 23 takes, ±17.5 ms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3D flight vs front camera</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Median 0.8 in; 86% within 2 in</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Model vs reality (Player 1)</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40% predicted vs 42% observed in the hole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False advice (stress test)</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About 5% or less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bl>
          </a:graphicData>
        </a:graphic>
      </p:graphicFrame>
      <p:sp>
        <p:nvSpPr>
          <p:cNvPr id="416" name="Google Shape;416;p14"/>
          <p:cNvSpPr/>
          <p:nvPr/>
        </p:nvSpPr>
        <p:spPr>
          <a:xfrm>
            <a:off x="812800" y="5151239"/>
            <a:ext cx="10566400" cy="690761"/>
          </a:xfrm>
          <a:prstGeom prst="roundRect">
            <a:avLst>
              <a:gd fmla="val 11031"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1016000" y="5372199"/>
            <a:ext cx="117346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400"/>
              <a:buFont typeface="Times New Roman"/>
              <a:buNone/>
            </a:pPr>
            <a:r>
              <a:rPr b="1" i="0" lang="en-US" sz="1400" u="none" cap="none" strike="noStrike">
                <a:solidFill>
                  <a:srgbClr val="C9A24E"/>
                </a:solidFill>
                <a:latin typeface="Times New Roman"/>
                <a:ea typeface="Times New Roman"/>
                <a:cs typeface="Times New Roman"/>
                <a:sym typeface="Times New Roman"/>
              </a:rPr>
              <a:t>Not proven yet</a:t>
            </a:r>
            <a:endParaRPr b="0" i="0" sz="1400" u="none" cap="none" strike="noStrike">
              <a:solidFill>
                <a:schemeClr val="dk1"/>
              </a:solidFill>
              <a:latin typeface="Times New Roman"/>
              <a:ea typeface="Times New Roman"/>
              <a:cs typeface="Times New Roman"/>
              <a:sym typeface="Times New Roman"/>
            </a:endParaRPr>
          </a:p>
        </p:txBody>
      </p:sp>
      <p:sp>
        <p:nvSpPr>
          <p:cNvPr id="418" name="Google Shape;418;p14"/>
          <p:cNvSpPr/>
          <p:nvPr/>
        </p:nvSpPr>
        <p:spPr>
          <a:xfrm>
            <a:off x="2341860" y="5290939"/>
            <a:ext cx="9099164"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3EEE4"/>
              </a:buClr>
              <a:buSzPts val="1200"/>
              <a:buFont typeface="Times New Roman"/>
              <a:buNone/>
            </a:pPr>
            <a:r>
              <a:rPr b="0" i="0" lang="en-US" sz="1200" u="none" cap="none" strike="noStrike">
                <a:solidFill>
                  <a:srgbClr val="F3EEE4"/>
                </a:solidFill>
                <a:latin typeface="Times New Roman"/>
                <a:ea typeface="Times New Roman"/>
                <a:cs typeface="Times New Roman"/>
                <a:sym typeface="Times New Roman"/>
              </a:rPr>
              <a:t>Next: a 4–6 week within-team study, alternating weeks with and without app feedback, 40 throws per athlete per week. Outcome: PPR and landing grouping.</a:t>
            </a:r>
            <a:endParaRPr b="0" i="0" sz="1200" u="none" cap="none" strike="noStrike">
              <a:solidFill>
                <a:schemeClr val="dk1"/>
              </a:solidFill>
              <a:latin typeface="Times New Roman"/>
              <a:ea typeface="Times New Roman"/>
              <a:cs typeface="Times New Roman"/>
              <a:sym typeface="Times New Roman"/>
            </a:endParaRPr>
          </a:p>
        </p:txBody>
      </p:sp>
      <p:sp>
        <p:nvSpPr>
          <p:cNvPr id="419" name="Google Shape;419;p14"/>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420" name="Google Shape;420;p14"/>
          <p:cNvSpPr/>
          <p:nvPr/>
        </p:nvSpPr>
        <p:spPr>
          <a:xfrm>
            <a:off x="9758878" y="6238280"/>
            <a:ext cx="16203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Eliam Chang · 14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425" name="Shape 425"/>
        <p:cNvGrpSpPr/>
        <p:nvPr/>
      </p:nvGrpSpPr>
      <p:grpSpPr>
        <a:xfrm>
          <a:off x="0" y="0"/>
          <a:ext cx="0" cy="0"/>
          <a:chOff x="0" y="0"/>
          <a:chExt cx="0" cy="0"/>
        </a:xfrm>
      </p:grpSpPr>
      <p:sp>
        <p:nvSpPr>
          <p:cNvPr id="426" name="Google Shape;426;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4 · THE BENEFIT FOR VANDERBILT ATHLETICS</a:t>
            </a:r>
            <a:endParaRPr b="0" i="0" sz="1200" u="none" cap="none" strike="noStrike">
              <a:solidFill>
                <a:schemeClr val="dk1"/>
              </a:solidFill>
              <a:latin typeface="Times New Roman"/>
              <a:ea typeface="Times New Roman"/>
              <a:cs typeface="Times New Roman"/>
              <a:sym typeface="Times New Roman"/>
            </a:endParaRPr>
          </a:p>
        </p:txBody>
      </p:sp>
      <p:sp>
        <p:nvSpPr>
          <p:cNvPr id="427" name="Google Shape;427;p15"/>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What changes at a Vanderbilt practice</a:t>
            </a:r>
            <a:endParaRPr sz="3000"/>
          </a:p>
        </p:txBody>
      </p:sp>
      <p:sp>
        <p:nvSpPr>
          <p:cNvPr id="428" name="Google Shape;428;p15"/>
          <p:cNvSpPr/>
          <p:nvPr/>
        </p:nvSpPr>
        <p:spPr>
          <a:xfrm>
            <a:off x="819150" y="1603970"/>
            <a:ext cx="1861741" cy="891381"/>
          </a:xfrm>
          <a:prstGeom prst="roundRect">
            <a:avLst>
              <a:gd fmla="val 783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965200" y="1724620"/>
            <a:ext cx="162044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1 · Set up</a:t>
            </a:r>
            <a:endParaRPr b="0" i="0" sz="1200" u="none" cap="none" strike="noStrike">
              <a:solidFill>
                <a:schemeClr val="dk1"/>
              </a:solidFill>
              <a:latin typeface="Times New Roman"/>
              <a:ea typeface="Times New Roman"/>
              <a:cs typeface="Times New Roman"/>
              <a:sym typeface="Times New Roman"/>
            </a:endParaRPr>
          </a:p>
        </p:txBody>
      </p:sp>
      <p:sp>
        <p:nvSpPr>
          <p:cNvPr id="430" name="Google Shape;430;p15"/>
          <p:cNvSpPr/>
          <p:nvPr/>
        </p:nvSpPr>
        <p:spPr>
          <a:xfrm>
            <a:off x="965200" y="1963341"/>
            <a:ext cx="1620441"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Two tripods; spots marked with tape</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431" name="Google Shape;431;p15"/>
          <p:cNvPicPr preferRelativeResize="0"/>
          <p:nvPr/>
        </p:nvPicPr>
        <p:blipFill rotWithShape="1">
          <a:blip r:embed="rId3">
            <a:alphaModFix/>
          </a:blip>
          <a:srcRect b="0" l="0" r="0" t="0"/>
          <a:stretch/>
        </p:blipFill>
        <p:spPr>
          <a:xfrm>
            <a:off x="2763441" y="2005211"/>
            <a:ext cx="152400" cy="88900"/>
          </a:xfrm>
          <a:prstGeom prst="rect">
            <a:avLst/>
          </a:prstGeom>
          <a:noFill/>
          <a:ln>
            <a:noFill/>
          </a:ln>
        </p:spPr>
      </p:pic>
      <p:sp>
        <p:nvSpPr>
          <p:cNvPr id="432" name="Google Shape;432;p15"/>
          <p:cNvSpPr/>
          <p:nvPr/>
        </p:nvSpPr>
        <p:spPr>
          <a:xfrm>
            <a:off x="2998391" y="1603970"/>
            <a:ext cx="1861840" cy="891381"/>
          </a:xfrm>
          <a:prstGeom prst="roundRect">
            <a:avLst>
              <a:gd fmla="val 783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3144441" y="1724620"/>
            <a:ext cx="1620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2 · Practice</a:t>
            </a:r>
            <a:endParaRPr b="0" i="0" sz="1200" u="none" cap="none" strike="noStrike">
              <a:solidFill>
                <a:schemeClr val="dk1"/>
              </a:solidFill>
              <a:latin typeface="Times New Roman"/>
              <a:ea typeface="Times New Roman"/>
              <a:cs typeface="Times New Roman"/>
              <a:sym typeface="Times New Roman"/>
            </a:endParaRPr>
          </a:p>
        </p:txBody>
      </p:sp>
      <p:sp>
        <p:nvSpPr>
          <p:cNvPr id="434" name="Google Shape;434;p15"/>
          <p:cNvSpPr/>
          <p:nvPr/>
        </p:nvSpPr>
        <p:spPr>
          <a:xfrm>
            <a:off x="3144441" y="1963341"/>
            <a:ext cx="162054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Takes of 4 bags; one clap each</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435" name="Google Shape;435;p15"/>
          <p:cNvPicPr preferRelativeResize="0"/>
          <p:nvPr/>
        </p:nvPicPr>
        <p:blipFill rotWithShape="1">
          <a:blip r:embed="rId3">
            <a:alphaModFix/>
          </a:blip>
          <a:srcRect b="0" l="0" r="0" t="0"/>
          <a:stretch/>
        </p:blipFill>
        <p:spPr>
          <a:xfrm>
            <a:off x="4942780" y="2005211"/>
            <a:ext cx="152400" cy="88900"/>
          </a:xfrm>
          <a:prstGeom prst="rect">
            <a:avLst/>
          </a:prstGeom>
          <a:noFill/>
          <a:ln>
            <a:noFill/>
          </a:ln>
        </p:spPr>
      </p:pic>
      <p:sp>
        <p:nvSpPr>
          <p:cNvPr id="436" name="Google Shape;436;p15"/>
          <p:cNvSpPr/>
          <p:nvPr/>
        </p:nvSpPr>
        <p:spPr>
          <a:xfrm>
            <a:off x="5177730" y="1603970"/>
            <a:ext cx="1861840" cy="891381"/>
          </a:xfrm>
          <a:prstGeom prst="roundRect">
            <a:avLst>
              <a:gd fmla="val 783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5323780" y="1724620"/>
            <a:ext cx="1620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3 · Analy</a:t>
            </a:r>
            <a:r>
              <a:rPr b="1" lang="en-US" sz="1200">
                <a:solidFill>
                  <a:srgbClr val="8A6A2B"/>
                </a:solidFill>
                <a:latin typeface="Times New Roman"/>
                <a:ea typeface="Times New Roman"/>
                <a:cs typeface="Times New Roman"/>
                <a:sym typeface="Times New Roman"/>
              </a:rPr>
              <a:t>z</a:t>
            </a:r>
            <a:r>
              <a:rPr b="1" i="0" lang="en-US" sz="1200" u="none" cap="none" strike="noStrike">
                <a:solidFill>
                  <a:srgbClr val="8A6A2B"/>
                </a:solidFill>
                <a:latin typeface="Times New Roman"/>
                <a:ea typeface="Times New Roman"/>
                <a:cs typeface="Times New Roman"/>
                <a:sym typeface="Times New Roman"/>
              </a:rPr>
              <a:t>e</a:t>
            </a:r>
            <a:endParaRPr b="0" i="0" sz="1200" u="none" cap="none" strike="noStrike">
              <a:solidFill>
                <a:schemeClr val="dk1"/>
              </a:solidFill>
              <a:latin typeface="Times New Roman"/>
              <a:ea typeface="Times New Roman"/>
              <a:cs typeface="Times New Roman"/>
              <a:sym typeface="Times New Roman"/>
            </a:endParaRPr>
          </a:p>
        </p:txBody>
      </p:sp>
      <p:sp>
        <p:nvSpPr>
          <p:cNvPr id="438" name="Google Shape;438;p15"/>
          <p:cNvSpPr/>
          <p:nvPr/>
        </p:nvSpPr>
        <p:spPr>
          <a:xfrm>
            <a:off x="5323780" y="1963341"/>
            <a:ext cx="162054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Drop the folder; ~2 min per throw</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439" name="Google Shape;439;p15"/>
          <p:cNvPicPr preferRelativeResize="0"/>
          <p:nvPr/>
        </p:nvPicPr>
        <p:blipFill rotWithShape="1">
          <a:blip r:embed="rId3">
            <a:alphaModFix/>
          </a:blip>
          <a:srcRect b="0" l="0" r="0" t="0"/>
          <a:stretch/>
        </p:blipFill>
        <p:spPr>
          <a:xfrm>
            <a:off x="7122120" y="2005211"/>
            <a:ext cx="152400" cy="88900"/>
          </a:xfrm>
          <a:prstGeom prst="rect">
            <a:avLst/>
          </a:prstGeom>
          <a:noFill/>
          <a:ln>
            <a:noFill/>
          </a:ln>
        </p:spPr>
      </p:pic>
      <p:sp>
        <p:nvSpPr>
          <p:cNvPr id="440" name="Google Shape;440;p15"/>
          <p:cNvSpPr/>
          <p:nvPr/>
        </p:nvSpPr>
        <p:spPr>
          <a:xfrm>
            <a:off x="7357070" y="1603970"/>
            <a:ext cx="1861840" cy="891381"/>
          </a:xfrm>
          <a:prstGeom prst="roundRect">
            <a:avLst>
              <a:gd fmla="val 7836" name="adj"/>
            </a:avLst>
          </a:prstGeom>
          <a:solidFill>
            <a:srgbClr val="FFFEFB"/>
          </a:solidFill>
          <a:ln cap="flat" cmpd="sng" w="12700">
            <a:solidFill>
              <a:srgbClr val="E3DC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7503120" y="1724620"/>
            <a:ext cx="1620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z="1200" u="none" cap="none" strike="noStrike">
                <a:solidFill>
                  <a:srgbClr val="8A6A2B"/>
                </a:solidFill>
                <a:latin typeface="Times New Roman"/>
                <a:ea typeface="Times New Roman"/>
                <a:cs typeface="Times New Roman"/>
                <a:sym typeface="Times New Roman"/>
              </a:rPr>
              <a:t>4 · Review</a:t>
            </a:r>
            <a:endParaRPr b="0" i="0" sz="1200" u="none" cap="none" strike="noStrike">
              <a:solidFill>
                <a:schemeClr val="dk1"/>
              </a:solidFill>
              <a:latin typeface="Times New Roman"/>
              <a:ea typeface="Times New Roman"/>
              <a:cs typeface="Times New Roman"/>
              <a:sym typeface="Times New Roman"/>
            </a:endParaRPr>
          </a:p>
        </p:txBody>
      </p:sp>
      <p:sp>
        <p:nvSpPr>
          <p:cNvPr id="442" name="Google Shape;442;p15"/>
          <p:cNvSpPr/>
          <p:nvPr/>
        </p:nvSpPr>
        <p:spPr>
          <a:xfrm>
            <a:off x="7503120" y="1963341"/>
            <a:ext cx="162054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7514A"/>
              </a:buClr>
              <a:buSzPts val="1200"/>
              <a:buFont typeface="Times New Roman"/>
              <a:buNone/>
            </a:pPr>
            <a:r>
              <a:rPr b="0" i="0" lang="en-US" sz="1200" u="none" cap="none" strike="noStrike">
                <a:solidFill>
                  <a:srgbClr val="57514A"/>
                </a:solidFill>
                <a:latin typeface="Times New Roman"/>
                <a:ea typeface="Times New Roman"/>
                <a:cs typeface="Times New Roman"/>
                <a:sym typeface="Times New Roman"/>
              </a:rPr>
              <a:t>2–5 min on unsure throws only</a:t>
            </a:r>
            <a:endParaRPr b="0" i="0" sz="1200" u="none" cap="none" strike="noStrike">
              <a:solidFill>
                <a:schemeClr val="dk1"/>
              </a:solidFill>
              <a:latin typeface="Times New Roman"/>
              <a:ea typeface="Times New Roman"/>
              <a:cs typeface="Times New Roman"/>
              <a:sym typeface="Times New Roman"/>
            </a:endParaRPr>
          </a:p>
        </p:txBody>
      </p:sp>
      <p:pic>
        <p:nvPicPr>
          <p:cNvPr descr="arrow-right" id="443" name="Google Shape;443;p15"/>
          <p:cNvPicPr preferRelativeResize="0"/>
          <p:nvPr/>
        </p:nvPicPr>
        <p:blipFill rotWithShape="1">
          <a:blip r:embed="rId3">
            <a:alphaModFix/>
          </a:blip>
          <a:srcRect b="0" l="0" r="0" t="0"/>
          <a:stretch/>
        </p:blipFill>
        <p:spPr>
          <a:xfrm>
            <a:off x="9301460" y="2005211"/>
            <a:ext cx="152400" cy="88900"/>
          </a:xfrm>
          <a:prstGeom prst="rect">
            <a:avLst/>
          </a:prstGeom>
          <a:noFill/>
          <a:ln>
            <a:noFill/>
          </a:ln>
        </p:spPr>
      </p:pic>
      <p:sp>
        <p:nvSpPr>
          <p:cNvPr id="444" name="Google Shape;444;p15"/>
          <p:cNvSpPr/>
          <p:nvPr/>
        </p:nvSpPr>
        <p:spPr>
          <a:xfrm>
            <a:off x="9530060" y="1597620"/>
            <a:ext cx="1849140" cy="904081"/>
          </a:xfrm>
          <a:prstGeom prst="roundRect">
            <a:avLst>
              <a:gd fmla="val 8428" name="adj"/>
            </a:avLst>
          </a:prstGeom>
          <a:solidFill>
            <a:srgbClr val="1C1A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9669760" y="1711920"/>
            <a:ext cx="1620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z="1200" u="none" cap="none" strike="noStrike">
                <a:solidFill>
                  <a:srgbClr val="C9A24E"/>
                </a:solidFill>
                <a:latin typeface="Times New Roman"/>
                <a:ea typeface="Times New Roman"/>
                <a:cs typeface="Times New Roman"/>
                <a:sym typeface="Times New Roman"/>
              </a:rPr>
              <a:t>5 · Coach</a:t>
            </a:r>
            <a:endParaRPr b="0" i="0" sz="1200" u="none" cap="none" strike="noStrike">
              <a:solidFill>
                <a:schemeClr val="dk1"/>
              </a:solidFill>
              <a:latin typeface="Times New Roman"/>
              <a:ea typeface="Times New Roman"/>
              <a:cs typeface="Times New Roman"/>
              <a:sym typeface="Times New Roman"/>
            </a:endParaRPr>
          </a:p>
        </p:txBody>
      </p:sp>
      <p:sp>
        <p:nvSpPr>
          <p:cNvPr id="446" name="Google Shape;446;p15"/>
          <p:cNvSpPr/>
          <p:nvPr/>
        </p:nvSpPr>
        <p:spPr>
          <a:xfrm>
            <a:off x="9669760" y="1950641"/>
            <a:ext cx="162054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3EEE4"/>
              </a:buClr>
              <a:buSzPts val="1200"/>
              <a:buFont typeface="Times New Roman"/>
              <a:buNone/>
            </a:pPr>
            <a:r>
              <a:rPr b="0" i="0" lang="en-US" sz="1200" u="none" cap="none" strike="noStrike">
                <a:solidFill>
                  <a:srgbClr val="F3EEE4"/>
                </a:solidFill>
                <a:latin typeface="Times New Roman"/>
                <a:ea typeface="Times New Roman"/>
                <a:cs typeface="Times New Roman"/>
                <a:sym typeface="Times New Roman"/>
              </a:rPr>
              <a:t>One sentence per throw; weekly PDF</a:t>
            </a:r>
            <a:endParaRPr b="0" i="0" sz="1200" u="none" cap="none" strike="noStrike">
              <a:solidFill>
                <a:schemeClr val="dk1"/>
              </a:solidFill>
              <a:latin typeface="Times New Roman"/>
              <a:ea typeface="Times New Roman"/>
              <a:cs typeface="Times New Roman"/>
              <a:sym typeface="Times New Roman"/>
            </a:endParaRPr>
          </a:p>
        </p:txBody>
      </p:sp>
      <p:sp>
        <p:nvSpPr>
          <p:cNvPr id="447" name="Google Shape;447;p15"/>
          <p:cNvSpPr/>
          <p:nvPr/>
        </p:nvSpPr>
        <p:spPr>
          <a:xfrm>
            <a:off x="812800" y="2577902"/>
            <a:ext cx="614807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Insight → action</a:t>
            </a:r>
            <a:endParaRPr b="0" i="0" sz="1400" u="none" cap="none" strike="noStrike">
              <a:solidFill>
                <a:schemeClr val="dk1"/>
              </a:solidFill>
              <a:latin typeface="Times New Roman"/>
              <a:ea typeface="Times New Roman"/>
              <a:cs typeface="Times New Roman"/>
              <a:sym typeface="Times New Roman"/>
            </a:endParaRPr>
          </a:p>
        </p:txBody>
      </p:sp>
      <p:graphicFrame>
        <p:nvGraphicFramePr>
          <p:cNvPr id="448" name="Google Shape;448;p15"/>
          <p:cNvGraphicFramePr/>
          <p:nvPr/>
        </p:nvGraphicFramePr>
        <p:xfrm>
          <a:off x="825500" y="2880122"/>
          <a:ext cx="3000000" cy="3000000"/>
        </p:xfrm>
        <a:graphic>
          <a:graphicData uri="http://schemas.openxmlformats.org/drawingml/2006/table">
            <a:tbl>
              <a:tblPr>
                <a:noFill/>
                <a:tableStyleId>{E2BBD6A1-547E-441A-B601-4AAEDF4CFED8}</a:tableStyleId>
              </a:tblPr>
              <a:tblGrid>
                <a:gridCol w="2680325"/>
                <a:gridCol w="3275975"/>
              </a:tblGrid>
              <a:tr h="332575">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If the app shows…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c>
                  <a:txBody>
                    <a:bodyPr/>
                    <a:lstStyle/>
                    <a:p>
                      <a:pPr indent="0" lvl="0" marL="0" marR="0" rtl="0" algn="l">
                        <a:lnSpc>
                          <a:spcPct val="140000"/>
                        </a:lnSpc>
                        <a:spcBef>
                          <a:spcPts val="0"/>
                        </a:spcBef>
                        <a:spcAft>
                          <a:spcPts val="0"/>
                        </a:spcAft>
                        <a:buClr>
                          <a:srgbClr val="F3EEE4"/>
                        </a:buClr>
                        <a:buSzPts val="1200"/>
                        <a:buFont typeface="Times New Roman"/>
                        <a:buNone/>
                      </a:pPr>
                      <a:r>
                        <a:rPr b="1" lang="en-US" sz="1200" u="none" cap="none" strike="noStrike">
                          <a:solidFill>
                            <a:srgbClr val="F3EEE4"/>
                          </a:solidFill>
                          <a:latin typeface="Times New Roman"/>
                          <a:ea typeface="Times New Roman"/>
                          <a:cs typeface="Times New Roman"/>
                          <a:sym typeface="Times New Roman"/>
                        </a:rPr>
                        <a:t>The coach can…</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1A1916"/>
                      </a:solidFill>
                      <a:prstDash val="solid"/>
                      <a:round/>
                      <a:headEnd len="sm" w="sm" type="none"/>
                      <a:tailEnd len="sm" w="sm" type="none"/>
                    </a:lnL>
                    <a:lnR cap="flat" cmpd="sng" w="12700">
                      <a:solidFill>
                        <a:srgbClr val="1A1916"/>
                      </a:solidFill>
                      <a:prstDash val="solid"/>
                      <a:round/>
                      <a:headEnd len="sm" w="sm" type="none"/>
                      <a:tailEnd len="sm" w="sm" type="none"/>
                    </a:lnR>
                    <a:lnT cap="flat" cmpd="sng" w="12700">
                      <a:solidFill>
                        <a:srgbClr val="C7C6C2"/>
                      </a:solidFill>
                      <a:prstDash val="solid"/>
                      <a:round/>
                      <a:headEnd len="sm" w="sm" type="none"/>
                      <a:tailEnd len="sm" w="sm" type="none"/>
                    </a:lnT>
                    <a:lnB cap="flat" cmpd="sng" w="12700">
                      <a:solidFill>
                        <a:srgbClr val="1A1916"/>
                      </a:solidFill>
                      <a:prstDash val="solid"/>
                      <a:round/>
                      <a:headEnd len="sm" w="sm" type="none"/>
                      <a:tailEnd len="sm" w="sm" type="none"/>
                    </a:lnB>
                    <a:solidFill>
                      <a:srgbClr val="1C1A17"/>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Speed spread above noise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Run distance ladders and speed-control drills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1A1916"/>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Miss named "slide"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Practise board feel; keep the throw the same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Miss named "aim"</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Move the aim point, not the arm</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r h="332575">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A stable style profile</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Leave it alone; it is how this athlete throws</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3BFB7"/>
                      </a:solidFill>
                      <a:prstDash val="solid"/>
                      <a:round/>
                      <a:headEnd len="sm" w="sm" type="none"/>
                      <a:tailEnd len="sm" w="sm" type="none"/>
                    </a:lnL>
                    <a:lnR cap="flat" cmpd="sng" w="12700">
                      <a:solidFill>
                        <a:srgbClr val="C3BFB7"/>
                      </a:solidFill>
                      <a:prstDash val="solid"/>
                      <a:round/>
                      <a:headEnd len="sm" w="sm" type="none"/>
                      <a:tailEnd len="sm" w="sm" type="none"/>
                    </a:lnR>
                    <a:lnT cap="flat" cmpd="sng" w="12700">
                      <a:solidFill>
                        <a:srgbClr val="CBCBC8"/>
                      </a:solidFill>
                      <a:prstDash val="solid"/>
                      <a:round/>
                      <a:headEnd len="sm" w="sm" type="none"/>
                      <a:tailEnd len="sm" w="sm" type="none"/>
                    </a:lnT>
                    <a:lnB cap="flat" cmpd="sng" w="12700">
                      <a:solidFill>
                        <a:srgbClr val="C3BFB7"/>
                      </a:solidFill>
                      <a:prstDash val="solid"/>
                      <a:round/>
                      <a:headEnd len="sm" w="sm" type="none"/>
                      <a:tailEnd len="sm" w="sm" type="none"/>
                    </a:lnB>
                    <a:solidFill>
                      <a:srgbClr val="F4EFE5"/>
                    </a:solidFill>
                  </a:tcPr>
                </a:tc>
              </a:tr>
              <a:tr h="545900">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"No priority yet"</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7C6C2"/>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c>
                  <a:txBody>
                    <a:bodyPr/>
                    <a:lstStyle/>
                    <a:p>
                      <a:pPr indent="0" lvl="0" marL="0" marR="0" rtl="0" algn="l">
                        <a:lnSpc>
                          <a:spcPct val="140000"/>
                        </a:lnSpc>
                        <a:spcBef>
                          <a:spcPts val="0"/>
                        </a:spcBef>
                        <a:spcAft>
                          <a:spcPts val="0"/>
                        </a:spcAft>
                        <a:buClr>
                          <a:srgbClr val="1C1A17"/>
                        </a:buClr>
                        <a:buSzPts val="1200"/>
                        <a:buFont typeface="Times New Roman"/>
                        <a:buNone/>
                      </a:pPr>
                      <a:r>
                        <a:rPr lang="en-US" sz="1200" u="none" cap="none" strike="noStrike">
                          <a:solidFill>
                            <a:srgbClr val="1C1A17"/>
                          </a:solidFill>
                          <a:latin typeface="Times New Roman"/>
                          <a:ea typeface="Times New Roman"/>
                          <a:cs typeface="Times New Roman"/>
                          <a:sym typeface="Times New Roman"/>
                        </a:rPr>
                        <a:t>Keep filming: 20–40 throws per athlete are needed</a:t>
                      </a:r>
                      <a:endParaRPr sz="1200" u="none" cap="none" strike="noStrike">
                        <a:latin typeface="Times New Roman"/>
                        <a:ea typeface="Times New Roman"/>
                        <a:cs typeface="Times New Roman"/>
                        <a:sym typeface="Times New Roman"/>
                      </a:endParaRPr>
                    </a:p>
                  </a:txBody>
                  <a:tcPr marT="53350" marB="53350" marR="53350" marL="53350">
                    <a:lnL cap="flat" cmpd="sng" w="12700">
                      <a:solidFill>
                        <a:srgbClr val="CBCBC8"/>
                      </a:solidFill>
                      <a:prstDash val="solid"/>
                      <a:round/>
                      <a:headEnd len="sm" w="sm" type="none"/>
                      <a:tailEnd len="sm" w="sm" type="none"/>
                    </a:lnL>
                    <a:lnR cap="flat" cmpd="sng" w="12700">
                      <a:solidFill>
                        <a:srgbClr val="CBCBC8"/>
                      </a:solidFill>
                      <a:prstDash val="solid"/>
                      <a:round/>
                      <a:headEnd len="sm" w="sm" type="none"/>
                      <a:tailEnd len="sm" w="sm" type="none"/>
                    </a:lnR>
                    <a:lnT cap="flat" cmpd="sng" w="12700">
                      <a:solidFill>
                        <a:srgbClr val="C3BFB7"/>
                      </a:solidFill>
                      <a:prstDash val="solid"/>
                      <a:round/>
                      <a:headEnd len="sm" w="sm" type="none"/>
                      <a:tailEnd len="sm" w="sm" type="none"/>
                    </a:lnT>
                    <a:lnB cap="flat" cmpd="sng" w="12700">
                      <a:solidFill>
                        <a:srgbClr val="CBCBC8"/>
                      </a:solidFill>
                      <a:prstDash val="solid"/>
                      <a:round/>
                      <a:headEnd len="sm" w="sm" type="none"/>
                      <a:tailEnd len="sm" w="sm" type="none"/>
                    </a:lnB>
                    <a:solidFill>
                      <a:srgbClr val="FFFEFB"/>
                    </a:solidFill>
                  </a:tcPr>
                </a:tc>
              </a:tr>
            </a:tbl>
          </a:graphicData>
        </a:graphic>
      </p:graphicFrame>
      <p:sp>
        <p:nvSpPr>
          <p:cNvPr id="449" name="Google Shape;449;p15"/>
          <p:cNvSpPr/>
          <p:nvPr/>
        </p:nvSpPr>
        <p:spPr>
          <a:xfrm>
            <a:off x="7086600" y="2577902"/>
            <a:ext cx="442137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C1A17"/>
              </a:buClr>
              <a:buSzPts val="1400"/>
              <a:buFont typeface="Times New Roman"/>
              <a:buNone/>
            </a:pPr>
            <a:r>
              <a:rPr b="1" i="0" lang="en-US" sz="1400" u="none" cap="none" strike="noStrike">
                <a:solidFill>
                  <a:srgbClr val="1C1A17"/>
                </a:solidFill>
                <a:latin typeface="Times New Roman"/>
                <a:ea typeface="Times New Roman"/>
                <a:cs typeface="Times New Roman"/>
                <a:sym typeface="Times New Roman"/>
              </a:rPr>
              <a:t>Practical for a team</a:t>
            </a:r>
            <a:endParaRPr b="0" i="0" sz="1400" u="none" cap="none" strike="noStrike">
              <a:solidFill>
                <a:schemeClr val="dk1"/>
              </a:solidFill>
              <a:latin typeface="Times New Roman"/>
              <a:ea typeface="Times New Roman"/>
              <a:cs typeface="Times New Roman"/>
              <a:sym typeface="Times New Roman"/>
            </a:endParaRPr>
          </a:p>
        </p:txBody>
      </p:sp>
      <p:sp>
        <p:nvSpPr>
          <p:cNvPr id="450" name="Google Shape;450;p15"/>
          <p:cNvSpPr/>
          <p:nvPr/>
        </p:nvSpPr>
        <p:spPr>
          <a:xfrm>
            <a:off x="7092950" y="2873772"/>
            <a:ext cx="4279900" cy="576461"/>
          </a:xfrm>
          <a:prstGeom prst="roundRect">
            <a:avLst>
              <a:gd fmla="val 9914" name="adj"/>
            </a:avLst>
          </a:prstGeom>
          <a:solidFill>
            <a:srgbClr val="FFFEFB"/>
          </a:solidFill>
          <a:ln cap="flat" cmpd="sng" w="12700">
            <a:solidFill>
              <a:srgbClr val="E3DCCF"/>
            </a:solidFill>
            <a:prstDash val="solid"/>
            <a:round/>
            <a:headEnd len="sm" w="sm" type="none"/>
            <a:tailEnd len="sm" w="sm" type="none"/>
          </a:ln>
        </p:spPr>
        <p:txBody>
          <a:bodyPr anchorCtr="0" anchor="t" bIns="40400" lIns="103900" spcFirstLastPara="1" rIns="0" wrap="square" tIns="658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Low cost:</a:t>
            </a:r>
            <a:r>
              <a:rPr b="0" i="0" lang="en-US" sz="1200" u="none" cap="none" strike="noStrike">
                <a:solidFill>
                  <a:srgbClr val="57514A"/>
                </a:solidFill>
                <a:latin typeface="Times New Roman"/>
                <a:ea typeface="Times New Roman"/>
                <a:cs typeface="Times New Roman"/>
                <a:sym typeface="Times New Roman"/>
              </a:rPr>
              <a:t> phones and a Mac the team owns; open source, no subscription</a:t>
            </a:r>
            <a:endParaRPr b="0" i="0" sz="1200" u="none" cap="none" strike="noStrike">
              <a:solidFill>
                <a:schemeClr val="dk1"/>
              </a:solidFill>
              <a:latin typeface="Times New Roman"/>
              <a:ea typeface="Times New Roman"/>
              <a:cs typeface="Times New Roman"/>
              <a:sym typeface="Times New Roman"/>
            </a:endParaRPr>
          </a:p>
        </p:txBody>
      </p:sp>
      <p:sp>
        <p:nvSpPr>
          <p:cNvPr id="451" name="Google Shape;451;p15"/>
          <p:cNvSpPr/>
          <p:nvPr/>
        </p:nvSpPr>
        <p:spPr>
          <a:xfrm>
            <a:off x="7092950" y="3539133"/>
            <a:ext cx="4279900" cy="370780"/>
          </a:xfrm>
          <a:prstGeom prst="roundRect">
            <a:avLst>
              <a:gd fmla="val 15413" name="adj"/>
            </a:avLst>
          </a:prstGeom>
          <a:solidFill>
            <a:srgbClr val="FFFEFB"/>
          </a:solidFill>
          <a:ln cap="flat" cmpd="sng" w="12700">
            <a:solidFill>
              <a:srgbClr val="E3DCCF"/>
            </a:solidFill>
            <a:prstDash val="solid"/>
            <a:round/>
            <a:headEnd len="sm" w="sm" type="none"/>
            <a:tailEnd len="sm" w="sm" type="none"/>
          </a:ln>
        </p:spPr>
        <p:txBody>
          <a:bodyPr anchorCtr="0" anchor="t" bIns="40400" lIns="103900" spcFirstLastPara="1" rIns="0" wrap="square" tIns="658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Private:</a:t>
            </a:r>
            <a:r>
              <a:rPr b="0" i="0" lang="en-US" sz="1200" u="none" cap="none" strike="noStrike">
                <a:solidFill>
                  <a:srgbClr val="57514A"/>
                </a:solidFill>
                <a:latin typeface="Times New Roman"/>
                <a:ea typeface="Times New Roman"/>
                <a:cs typeface="Times New Roman"/>
                <a:sym typeface="Times New Roman"/>
              </a:rPr>
              <a:t> all video stays on the Mac</a:t>
            </a:r>
            <a:endParaRPr b="0" i="0" sz="1200" u="none" cap="none" strike="noStrike">
              <a:solidFill>
                <a:schemeClr val="dk1"/>
              </a:solidFill>
              <a:latin typeface="Times New Roman"/>
              <a:ea typeface="Times New Roman"/>
              <a:cs typeface="Times New Roman"/>
              <a:sym typeface="Times New Roman"/>
            </a:endParaRPr>
          </a:p>
        </p:txBody>
      </p:sp>
      <p:sp>
        <p:nvSpPr>
          <p:cNvPr id="452" name="Google Shape;452;p15"/>
          <p:cNvSpPr/>
          <p:nvPr/>
        </p:nvSpPr>
        <p:spPr>
          <a:xfrm>
            <a:off x="7092950" y="3998813"/>
            <a:ext cx="4279900" cy="370780"/>
          </a:xfrm>
          <a:prstGeom prst="roundRect">
            <a:avLst>
              <a:gd fmla="val 15413" name="adj"/>
            </a:avLst>
          </a:prstGeom>
          <a:solidFill>
            <a:srgbClr val="FFFEFB"/>
          </a:solidFill>
          <a:ln cap="flat" cmpd="sng" w="12700">
            <a:solidFill>
              <a:srgbClr val="E3DCCF"/>
            </a:solidFill>
            <a:prstDash val="solid"/>
            <a:round/>
            <a:headEnd len="sm" w="sm" type="none"/>
            <a:tailEnd len="sm" w="sm" type="none"/>
          </a:ln>
        </p:spPr>
        <p:txBody>
          <a:bodyPr anchorCtr="0" anchor="t" bIns="40400" lIns="103900" spcFirstLastPara="1" rIns="0" wrap="square" tIns="658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Little coach time:</a:t>
            </a:r>
            <a:r>
              <a:rPr b="0" i="0" lang="en-US" sz="1200" u="none" cap="none" strike="noStrike">
                <a:solidFill>
                  <a:srgbClr val="57514A"/>
                </a:solidFill>
                <a:latin typeface="Times New Roman"/>
                <a:ea typeface="Times New Roman"/>
                <a:cs typeface="Times New Roman"/>
                <a:sym typeface="Times New Roman"/>
              </a:rPr>
              <a:t> answer only the unsure throws</a:t>
            </a:r>
            <a:endParaRPr b="0" i="0" sz="1200" u="none" cap="none" strike="noStrike">
              <a:solidFill>
                <a:schemeClr val="dk1"/>
              </a:solidFill>
              <a:latin typeface="Times New Roman"/>
              <a:ea typeface="Times New Roman"/>
              <a:cs typeface="Times New Roman"/>
              <a:sym typeface="Times New Roman"/>
            </a:endParaRPr>
          </a:p>
        </p:txBody>
      </p:sp>
      <p:sp>
        <p:nvSpPr>
          <p:cNvPr id="453" name="Google Shape;453;p15"/>
          <p:cNvSpPr/>
          <p:nvPr/>
        </p:nvSpPr>
        <p:spPr>
          <a:xfrm>
            <a:off x="7092950" y="4458494"/>
            <a:ext cx="4279900" cy="576461"/>
          </a:xfrm>
          <a:prstGeom prst="roundRect">
            <a:avLst>
              <a:gd fmla="val 9914" name="adj"/>
            </a:avLst>
          </a:prstGeom>
          <a:solidFill>
            <a:srgbClr val="FFFEFB"/>
          </a:solidFill>
          <a:ln cap="flat" cmpd="sng" w="12700">
            <a:solidFill>
              <a:srgbClr val="E3DCCF"/>
            </a:solidFill>
            <a:prstDash val="solid"/>
            <a:round/>
            <a:headEnd len="sm" w="sm" type="none"/>
            <a:tailEnd len="sm" w="sm" type="none"/>
          </a:ln>
        </p:spPr>
        <p:txBody>
          <a:bodyPr anchorCtr="0" anchor="t" bIns="40400" lIns="103900" spcFirstLastPara="1" rIns="0" wrap="square" tIns="65800">
            <a:normAutofit/>
          </a:bodyPr>
          <a:lstStyle/>
          <a:p>
            <a:pPr indent="0" lvl="0" marL="0" marR="0" rtl="0" algn="l">
              <a:lnSpc>
                <a:spcPct val="135000"/>
              </a:lnSpc>
              <a:spcBef>
                <a:spcPts val="0"/>
              </a:spcBef>
              <a:spcAft>
                <a:spcPts val="0"/>
              </a:spcAft>
              <a:buClr>
                <a:srgbClr val="1C1A17"/>
              </a:buClr>
              <a:buSzPts val="1200"/>
              <a:buFont typeface="Times New Roman"/>
              <a:buNone/>
            </a:pPr>
            <a:r>
              <a:rPr b="1" i="0" lang="en-US" sz="1200" u="none" cap="none" strike="noStrike">
                <a:solidFill>
                  <a:srgbClr val="1C1A17"/>
                </a:solidFill>
                <a:latin typeface="Times New Roman"/>
                <a:ea typeface="Times New Roman"/>
                <a:cs typeface="Times New Roman"/>
                <a:sym typeface="Times New Roman"/>
              </a:rPr>
              <a:t>Recruiting bonus:</a:t>
            </a:r>
            <a:r>
              <a:rPr b="0" i="0" lang="en-US" sz="1200" u="none" cap="none" strike="noStrike">
                <a:solidFill>
                  <a:srgbClr val="57514A"/>
                </a:solidFill>
                <a:latin typeface="Times New Roman"/>
                <a:ea typeface="Times New Roman"/>
                <a:cs typeface="Times New Roman"/>
                <a:sym typeface="Times New Roman"/>
              </a:rPr>
              <a:t> a 20–40 throw session gives a repeatable profile</a:t>
            </a:r>
            <a:endParaRPr b="0" i="0" sz="1200" u="none" cap="none" strike="noStrike">
              <a:solidFill>
                <a:schemeClr val="dk1"/>
              </a:solidFill>
              <a:latin typeface="Times New Roman"/>
              <a:ea typeface="Times New Roman"/>
              <a:cs typeface="Times New Roman"/>
              <a:sym typeface="Times New Roman"/>
            </a:endParaRPr>
          </a:p>
        </p:txBody>
      </p:sp>
      <p:sp>
        <p:nvSpPr>
          <p:cNvPr id="454" name="Google Shape;454;p15"/>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455" name="Google Shape;455;p15"/>
          <p:cNvSpPr/>
          <p:nvPr/>
        </p:nvSpPr>
        <p:spPr>
          <a:xfrm>
            <a:off x="9758878" y="6238280"/>
            <a:ext cx="16203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Eliam Chang · 15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A17"/>
        </a:solidFill>
      </p:bgPr>
    </p:bg>
    <p:spTree>
      <p:nvGrpSpPr>
        <p:cNvPr id="460" name="Shape 460"/>
        <p:cNvGrpSpPr/>
        <p:nvPr/>
      </p:nvGrpSpPr>
      <p:grpSpPr>
        <a:xfrm>
          <a:off x="0" y="0"/>
          <a:ext cx="0" cy="0"/>
          <a:chOff x="0" y="0"/>
          <a:chExt cx="0" cy="0"/>
        </a:xfrm>
      </p:grpSpPr>
      <p:sp>
        <p:nvSpPr>
          <p:cNvPr id="461" name="Google Shape;461;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A24E"/>
              </a:buClr>
              <a:buSzPts val="1200"/>
              <a:buFont typeface="Times New Roman"/>
              <a:buNone/>
            </a:pPr>
            <a:r>
              <a:rPr b="1" i="0" lang="en-US" spc="100" sz="1200" u="none" cap="none" strike="noStrike">
                <a:solidFill>
                  <a:srgbClr val="C9A24E"/>
                </a:solidFill>
                <a:latin typeface="Times New Roman"/>
                <a:ea typeface="Times New Roman"/>
                <a:cs typeface="Times New Roman"/>
                <a:sym typeface="Times New Roman"/>
              </a:rPr>
              <a:t>WHAT WE LEARNED</a:t>
            </a:r>
            <a:endParaRPr b="0" i="0" sz="1200" u="none" cap="none" strike="noStrike">
              <a:solidFill>
                <a:schemeClr val="dk1"/>
              </a:solidFill>
              <a:latin typeface="Times New Roman"/>
              <a:ea typeface="Times New Roman"/>
              <a:cs typeface="Times New Roman"/>
              <a:sym typeface="Times New Roman"/>
            </a:endParaRPr>
          </a:p>
        </p:txBody>
      </p:sp>
      <p:sp>
        <p:nvSpPr>
          <p:cNvPr id="462" name="Google Shape;462;p16"/>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3EEE4"/>
              </a:buClr>
              <a:buSzPts val="3000"/>
              <a:buFont typeface="Times New Roman"/>
              <a:buNone/>
            </a:pPr>
            <a:r>
              <a:rPr b="1" i="0" lang="en-US" sz="3000">
                <a:solidFill>
                  <a:srgbClr val="F3EEE4"/>
                </a:solidFill>
                <a:latin typeface="Times New Roman"/>
                <a:ea typeface="Times New Roman"/>
                <a:cs typeface="Times New Roman"/>
                <a:sym typeface="Times New Roman"/>
              </a:rPr>
              <a:t>Our honest share-out</a:t>
            </a:r>
            <a:endParaRPr sz="3000"/>
          </a:p>
        </p:txBody>
      </p:sp>
      <p:sp>
        <p:nvSpPr>
          <p:cNvPr id="463" name="Google Shape;463;p16"/>
          <p:cNvSpPr/>
          <p:nvPr/>
        </p:nvSpPr>
        <p:spPr>
          <a:xfrm>
            <a:off x="819150" y="1603970"/>
            <a:ext cx="5194300" cy="1198662"/>
          </a:xfrm>
          <a:prstGeom prst="roundRect">
            <a:avLst>
              <a:gd fmla="val 5827" name="adj"/>
            </a:avLst>
          </a:prstGeom>
          <a:solidFill>
            <a:srgbClr val="26231F"/>
          </a:solidFill>
          <a:ln cap="flat" cmpd="sng" w="12700">
            <a:solidFill>
              <a:srgbClr val="3A3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1003300" y="1762720"/>
            <a:ext cx="497078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9A24E"/>
              </a:buClr>
              <a:buSzPts val="1400"/>
              <a:buFont typeface="Times New Roman"/>
              <a:buNone/>
            </a:pPr>
            <a:r>
              <a:rPr b="1" i="0" lang="en-US" sz="1400" u="none" cap="none" strike="noStrike">
                <a:solidFill>
                  <a:srgbClr val="C9A24E"/>
                </a:solidFill>
                <a:latin typeface="Times New Roman"/>
                <a:ea typeface="Times New Roman"/>
                <a:cs typeface="Times New Roman"/>
                <a:sym typeface="Times New Roman"/>
              </a:rPr>
              <a:t>The hardest part</a:t>
            </a:r>
            <a:endParaRPr b="0" i="0" sz="1400" u="none" cap="none" strike="noStrike">
              <a:solidFill>
                <a:schemeClr val="dk1"/>
              </a:solidFill>
              <a:latin typeface="Times New Roman"/>
              <a:ea typeface="Times New Roman"/>
              <a:cs typeface="Times New Roman"/>
              <a:sym typeface="Times New Roman"/>
            </a:endParaRPr>
          </a:p>
        </p:txBody>
      </p:sp>
      <p:sp>
        <p:nvSpPr>
          <p:cNvPr id="465" name="Google Shape;465;p16"/>
          <p:cNvSpPr/>
          <p:nvPr/>
        </p:nvSpPr>
        <p:spPr>
          <a:xfrm>
            <a:off x="1003300" y="2026841"/>
            <a:ext cx="4970780" cy="642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Finding a red bag on a red board in a busy gym. One tracking error spreads into the scale and every metre-based number. Fix: colour-gated tracking with four checks.</a:t>
            </a:r>
            <a:endParaRPr b="0" i="0" sz="1200" u="none" cap="none" strike="noStrike">
              <a:solidFill>
                <a:schemeClr val="dk1"/>
              </a:solidFill>
              <a:latin typeface="Times New Roman"/>
              <a:ea typeface="Times New Roman"/>
              <a:cs typeface="Times New Roman"/>
              <a:sym typeface="Times New Roman"/>
            </a:endParaRPr>
          </a:p>
        </p:txBody>
      </p:sp>
      <p:sp>
        <p:nvSpPr>
          <p:cNvPr id="466" name="Google Shape;466;p16"/>
          <p:cNvSpPr/>
          <p:nvPr/>
        </p:nvSpPr>
        <p:spPr>
          <a:xfrm>
            <a:off x="6178550" y="1603970"/>
            <a:ext cx="5194300" cy="1198662"/>
          </a:xfrm>
          <a:prstGeom prst="roundRect">
            <a:avLst>
              <a:gd fmla="val 5827" name="adj"/>
            </a:avLst>
          </a:prstGeom>
          <a:solidFill>
            <a:srgbClr val="26231F"/>
          </a:solidFill>
          <a:ln cap="flat" cmpd="sng" w="12700">
            <a:solidFill>
              <a:srgbClr val="3A3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6362700" y="1762720"/>
            <a:ext cx="497078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9A24E"/>
              </a:buClr>
              <a:buSzPts val="1400"/>
              <a:buFont typeface="Times New Roman"/>
              <a:buNone/>
            </a:pPr>
            <a:r>
              <a:rPr b="1" i="0" lang="en-US" sz="1400" u="none" cap="none" strike="noStrike">
                <a:solidFill>
                  <a:srgbClr val="C9A24E"/>
                </a:solidFill>
                <a:latin typeface="Times New Roman"/>
                <a:ea typeface="Times New Roman"/>
                <a:cs typeface="Times New Roman"/>
                <a:sym typeface="Times New Roman"/>
              </a:rPr>
              <a:t>What surprised us</a:t>
            </a:r>
            <a:endParaRPr b="0" i="0" sz="1400" u="none" cap="none" strike="noStrike">
              <a:solidFill>
                <a:schemeClr val="dk1"/>
              </a:solidFill>
              <a:latin typeface="Times New Roman"/>
              <a:ea typeface="Times New Roman"/>
              <a:cs typeface="Times New Roman"/>
              <a:sym typeface="Times New Roman"/>
            </a:endParaRPr>
          </a:p>
        </p:txBody>
      </p:sp>
      <p:sp>
        <p:nvSpPr>
          <p:cNvPr id="468" name="Google Shape;468;p16"/>
          <p:cNvSpPr/>
          <p:nvPr/>
        </p:nvSpPr>
        <p:spPr>
          <a:xfrm>
            <a:off x="6362700" y="2026841"/>
            <a:ext cx="497078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All four athletes release at the same speed; they differ in consistency. 4K video tracked worse than 1080p (0 of 10 vs 8 of 10 flights).</a:t>
            </a:r>
            <a:endParaRPr b="0" i="0" sz="1200" u="none" cap="none" strike="noStrike">
              <a:solidFill>
                <a:schemeClr val="dk1"/>
              </a:solidFill>
              <a:latin typeface="Times New Roman"/>
              <a:ea typeface="Times New Roman"/>
              <a:cs typeface="Times New Roman"/>
              <a:sym typeface="Times New Roman"/>
            </a:endParaRPr>
          </a:p>
        </p:txBody>
      </p:sp>
      <p:sp>
        <p:nvSpPr>
          <p:cNvPr id="469" name="Google Shape;469;p16"/>
          <p:cNvSpPr/>
          <p:nvPr/>
        </p:nvSpPr>
        <p:spPr>
          <a:xfrm>
            <a:off x="819150" y="2967732"/>
            <a:ext cx="5194300" cy="992981"/>
          </a:xfrm>
          <a:prstGeom prst="roundRect">
            <a:avLst>
              <a:gd fmla="val 7034" name="adj"/>
            </a:avLst>
          </a:prstGeom>
          <a:solidFill>
            <a:srgbClr val="26231F"/>
          </a:solidFill>
          <a:ln cap="flat" cmpd="sng" w="12700">
            <a:solidFill>
              <a:srgbClr val="3A3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1003300" y="3126482"/>
            <a:ext cx="497078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9A24E"/>
              </a:buClr>
              <a:buSzPts val="1400"/>
              <a:buFont typeface="Times New Roman"/>
              <a:buNone/>
            </a:pPr>
            <a:r>
              <a:rPr b="1" i="0" lang="en-US" sz="1400" u="none" cap="none" strike="noStrike">
                <a:solidFill>
                  <a:srgbClr val="C9A24E"/>
                </a:solidFill>
                <a:latin typeface="Times New Roman"/>
                <a:ea typeface="Times New Roman"/>
                <a:cs typeface="Times New Roman"/>
                <a:sym typeface="Times New Roman"/>
              </a:rPr>
              <a:t>What we would do differently</a:t>
            </a:r>
            <a:endParaRPr b="0" i="0" sz="1400" u="none" cap="none" strike="noStrike">
              <a:solidFill>
                <a:schemeClr val="dk1"/>
              </a:solidFill>
              <a:latin typeface="Times New Roman"/>
              <a:ea typeface="Times New Roman"/>
              <a:cs typeface="Times New Roman"/>
              <a:sym typeface="Times New Roman"/>
            </a:endParaRPr>
          </a:p>
        </p:txBody>
      </p:sp>
      <p:sp>
        <p:nvSpPr>
          <p:cNvPr id="471" name="Google Shape;471;p16"/>
          <p:cNvSpPr/>
          <p:nvPr/>
        </p:nvSpPr>
        <p:spPr>
          <a:xfrm>
            <a:off x="1003300" y="3390602"/>
            <a:ext cx="497078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Contrasting bag colour, 120 fps side camera, regulation distance (we filmed at 5.3–5.9 m), 40+ throws per athlete, and a left-hander.</a:t>
            </a:r>
            <a:endParaRPr b="0" i="0" sz="1200" u="none" cap="none" strike="noStrike">
              <a:solidFill>
                <a:schemeClr val="dk1"/>
              </a:solidFill>
              <a:latin typeface="Times New Roman"/>
              <a:ea typeface="Times New Roman"/>
              <a:cs typeface="Times New Roman"/>
              <a:sym typeface="Times New Roman"/>
            </a:endParaRPr>
          </a:p>
        </p:txBody>
      </p:sp>
      <p:sp>
        <p:nvSpPr>
          <p:cNvPr id="472" name="Google Shape;472;p16"/>
          <p:cNvSpPr/>
          <p:nvPr/>
        </p:nvSpPr>
        <p:spPr>
          <a:xfrm>
            <a:off x="6178550" y="2967732"/>
            <a:ext cx="5194300" cy="992981"/>
          </a:xfrm>
          <a:prstGeom prst="roundRect">
            <a:avLst>
              <a:gd fmla="val 7034" name="adj"/>
            </a:avLst>
          </a:prstGeom>
          <a:solidFill>
            <a:srgbClr val="26231F"/>
          </a:solidFill>
          <a:ln cap="flat" cmpd="sng" w="12700">
            <a:solidFill>
              <a:srgbClr val="3A3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6362700" y="3126482"/>
            <a:ext cx="4970780"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9A24E"/>
              </a:buClr>
              <a:buSzPts val="1400"/>
              <a:buFont typeface="Times New Roman"/>
              <a:buNone/>
            </a:pPr>
            <a:r>
              <a:rPr b="1" i="0" lang="en-US" sz="1400" u="none" cap="none" strike="noStrike">
                <a:solidFill>
                  <a:srgbClr val="C9A24E"/>
                </a:solidFill>
                <a:latin typeface="Times New Roman"/>
                <a:ea typeface="Times New Roman"/>
                <a:cs typeface="Times New Roman"/>
                <a:sym typeface="Times New Roman"/>
              </a:rPr>
              <a:t>What kept us up at night</a:t>
            </a:r>
            <a:endParaRPr b="0" i="0" sz="1400" u="none" cap="none" strike="noStrike">
              <a:solidFill>
                <a:schemeClr val="dk1"/>
              </a:solidFill>
              <a:latin typeface="Times New Roman"/>
              <a:ea typeface="Times New Roman"/>
              <a:cs typeface="Times New Roman"/>
              <a:sym typeface="Times New Roman"/>
            </a:endParaRPr>
          </a:p>
        </p:txBody>
      </p:sp>
      <p:sp>
        <p:nvSpPr>
          <p:cNvPr id="474" name="Google Shape;474;p16"/>
          <p:cNvSpPr/>
          <p:nvPr/>
        </p:nvSpPr>
        <p:spPr>
          <a:xfrm>
            <a:off x="6362700" y="3390602"/>
            <a:ext cx="4970780" cy="4367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BC2B3"/>
              </a:buClr>
              <a:buSzPts val="1200"/>
              <a:buFont typeface="Times New Roman"/>
              <a:buNone/>
            </a:pPr>
            <a:r>
              <a:rPr b="0" i="0" lang="en-US" sz="1200" u="none" cap="none" strike="noStrike">
                <a:solidFill>
                  <a:srgbClr val="CBC2B3"/>
                </a:solidFill>
                <a:latin typeface="Times New Roman"/>
                <a:ea typeface="Times New Roman"/>
                <a:cs typeface="Times New Roman"/>
                <a:sym typeface="Times New Roman"/>
              </a:rPr>
              <a:t>Giving advice from noise, and no gold-standard validation yet. Our answer: the evidence gate, and a blinded 20-throw check planned in advance.</a:t>
            </a:r>
            <a:endParaRPr b="0" i="0" sz="1200" u="none" cap="none" strike="noStrike">
              <a:solidFill>
                <a:schemeClr val="dk1"/>
              </a:solidFill>
              <a:latin typeface="Times New Roman"/>
              <a:ea typeface="Times New Roman"/>
              <a:cs typeface="Times New Roman"/>
              <a:sym typeface="Times New Roman"/>
            </a:endParaRPr>
          </a:p>
        </p:txBody>
      </p:sp>
      <p:sp>
        <p:nvSpPr>
          <p:cNvPr id="475" name="Google Shape;475;p16"/>
          <p:cNvSpPr/>
          <p:nvPr/>
        </p:nvSpPr>
        <p:spPr>
          <a:xfrm>
            <a:off x="812800" y="5544840"/>
            <a:ext cx="8020883" cy="322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A24E"/>
              </a:buClr>
              <a:buSzPts val="1800"/>
              <a:buFont typeface="Times New Roman"/>
              <a:buNone/>
            </a:pPr>
            <a:r>
              <a:rPr b="0" i="1" lang="en-US" sz="1800" u="none" cap="none" strike="noStrike">
                <a:solidFill>
                  <a:srgbClr val="C9A24E"/>
                </a:solidFill>
                <a:latin typeface="Times New Roman"/>
                <a:ea typeface="Times New Roman"/>
                <a:cs typeface="Times New Roman"/>
                <a:sym typeface="Times New Roman"/>
              </a:rPr>
              <a:t>Measure the throw. Explain the miss. Coach only what the data supports.</a:t>
            </a:r>
            <a:endParaRPr b="0" i="0" sz="1800" u="none" cap="none" strike="noStrike">
              <a:solidFill>
                <a:schemeClr val="dk1"/>
              </a:solidFill>
              <a:latin typeface="Times New Roman"/>
              <a:ea typeface="Times New Roman"/>
              <a:cs typeface="Times New Roman"/>
              <a:sym typeface="Times New Roman"/>
            </a:endParaRPr>
          </a:p>
        </p:txBody>
      </p:sp>
      <p:sp>
        <p:nvSpPr>
          <p:cNvPr id="476" name="Google Shape;476;p16"/>
          <p:cNvSpPr/>
          <p:nvPr/>
        </p:nvSpPr>
        <p:spPr>
          <a:xfrm>
            <a:off x="9579670" y="5422900"/>
            <a:ext cx="1853516"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3EEE4"/>
              </a:buClr>
              <a:buSzPts val="3000"/>
              <a:buFont typeface="Times New Roman"/>
              <a:buNone/>
            </a:pPr>
            <a:r>
              <a:rPr b="1" i="0" lang="en-US" sz="3000" u="none" cap="none" strike="noStrike">
                <a:solidFill>
                  <a:srgbClr val="F3EEE4"/>
                </a:solidFill>
                <a:latin typeface="Times New Roman"/>
                <a:ea typeface="Times New Roman"/>
                <a:cs typeface="Times New Roman"/>
                <a:sym typeface="Times New Roman"/>
              </a:rPr>
              <a:t>Questions?</a:t>
            </a:r>
            <a:endParaRPr b="0" i="0" sz="3000" u="none" cap="none" strike="noStrike">
              <a:solidFill>
                <a:schemeClr val="dk1"/>
              </a:solidFill>
              <a:latin typeface="Times New Roman"/>
              <a:ea typeface="Times New Roman"/>
              <a:cs typeface="Times New Roman"/>
              <a:sym typeface="Times New Roman"/>
            </a:endParaRPr>
          </a:p>
        </p:txBody>
      </p:sp>
      <p:sp>
        <p:nvSpPr>
          <p:cNvPr id="477" name="Google Shape;477;p16"/>
          <p:cNvSpPr/>
          <p:nvPr/>
        </p:nvSpPr>
        <p:spPr>
          <a:xfrm>
            <a:off x="812800" y="6238280"/>
            <a:ext cx="30018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C9284"/>
              </a:buClr>
              <a:buSzPts val="1200"/>
              <a:buFont typeface="Times New Roman"/>
              <a:buNone/>
            </a:pPr>
            <a:r>
              <a:rPr b="0" i="0" lang="en-US" sz="1200" u="none" cap="none" strike="noStrike">
                <a:solidFill>
                  <a:srgbClr val="9C9284"/>
                </a:solidFill>
                <a:latin typeface="Times New Roman"/>
                <a:ea typeface="Times New Roman"/>
                <a:cs typeface="Times New Roman"/>
                <a:sym typeface="Times New Roman"/>
              </a:rPr>
              <a:t>github.com/Berkonas/CornHoleBiomech</a:t>
            </a:r>
            <a:endParaRPr b="0" i="0" sz="1200" u="none" cap="none" strike="noStrike">
              <a:solidFill>
                <a:schemeClr val="dk1"/>
              </a:solidFill>
              <a:latin typeface="Times New Roman"/>
              <a:ea typeface="Times New Roman"/>
              <a:cs typeface="Times New Roman"/>
              <a:sym typeface="Times New Roman"/>
            </a:endParaRPr>
          </a:p>
        </p:txBody>
      </p:sp>
      <p:sp>
        <p:nvSpPr>
          <p:cNvPr id="478" name="Google Shape;478;p16"/>
          <p:cNvSpPr/>
          <p:nvPr/>
        </p:nvSpPr>
        <p:spPr>
          <a:xfrm>
            <a:off x="9758878" y="6238280"/>
            <a:ext cx="16203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9C9284"/>
              </a:buClr>
              <a:buSzPts val="1200"/>
              <a:buFont typeface="Times New Roman"/>
              <a:buNone/>
            </a:pPr>
            <a:r>
              <a:rPr b="0" i="0" lang="en-US" sz="1200" u="none" cap="none" strike="noStrike">
                <a:solidFill>
                  <a:srgbClr val="9C9284"/>
                </a:solidFill>
                <a:latin typeface="Times New Roman"/>
                <a:ea typeface="Times New Roman"/>
                <a:cs typeface="Times New Roman"/>
                <a:sym typeface="Times New Roman"/>
              </a:rPr>
              <a:t>Eliam Chang · 17 / 17</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3"/>
        </a:solidFill>
      </p:bgPr>
    </p:bg>
    <p:spTree>
      <p:nvGrpSpPr>
        <p:cNvPr id="1" name=""/>
        <p:cNvGrpSpPr/>
        <p:nvPr/>
      </p:nvGrpSpPr>
      <p:grpSpPr/>
      <p:sp>
        <p:nvSpPr>
          <p:cNvPr id="363" name="Google Shape;363;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PART 4 · WHERE THE 92 THROWS WENT</a:t>
            </a:r>
            <a:endParaRPr b="0" i="0" sz="1200" u="none" cap="none" strike="noStrike">
              <a:solidFill>
                <a:schemeClr val="dk1"/>
              </a:solidFill>
              <a:latin typeface="Times New Roman"/>
              <a:ea typeface="Times New Roman"/>
              <a:cs typeface="Times New Roman"/>
              <a:sym typeface="Times New Roman"/>
            </a:endParaRPr>
          </a:p>
        </p:txBody>
      </p:sp>
      <p:sp>
        <p:nvSpPr>
          <p:cNvPr id="364" name="Google Shape;364;p13"/>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Same release, very different results</a:t>
            </a:r>
            <a:endParaRPr sz="3000"/>
          </a:p>
        </p:txBody>
      </p:sp>
      <p:sp>
        <p:nvSpPr>
          <p:cNvPr id="392" name="Google Shape;392;p13"/>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393" name="Google Shape;393;p13"/>
          <p:cNvSpPr/>
          <p:nvPr/>
        </p:nvSpPr>
        <p:spPr>
          <a:xfrm>
            <a:off x="9758878" y="6238280"/>
            <a:ext cx="16203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Eliam Chang · 13 / 17</a:t>
            </a:r>
            <a:endParaRPr b="0" i="0" sz="1200" u="none" cap="none" strike="noStrike">
              <a:solidFill>
                <a:schemeClr val="dk1"/>
              </a:solidFill>
              <a:latin typeface="Times New Roman"/>
              <a:ea typeface="Times New Roman"/>
              <a:cs typeface="Times New Roman"/>
              <a:sym typeface="Times New Roman"/>
            </a:endParaRPr>
          </a:p>
        </p:txBody>
      </p:sp>
      <p:sp>
        <p:nvSpPr>
          <p:cNvPr id="394" name="Rounded Rectangle 393"/>
          <p:cNvSpPr/>
          <p:nvPr/>
        </p:nvSpPr>
        <p:spPr>
          <a:xfrm>
            <a:off x="822960" y="1600200"/>
            <a:ext cx="3017520" cy="4434840"/>
          </a:xfrm>
          <a:prstGeom prst="roundRect">
            <a:avLst>
              <a:gd name="adj" fmla="val 2000"/>
            </a:avLst>
          </a:prstGeom>
          <a:solidFill>
            <a:srgbClr val="FFFEFB"/>
          </a:solidFill>
          <a:ln w="12700">
            <a:solidFill>
              <a:srgbClr val="E3DC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5" name="TextBox 394"/>
          <p:cNvSpPr txBox="1"/>
          <p:nvPr/>
        </p:nvSpPr>
        <p:spPr>
          <a:xfrm>
            <a:off x="1005840" y="1755648"/>
            <a:ext cx="2697480" cy="237744"/>
          </a:xfrm>
          <a:prstGeom prst="rect">
            <a:avLst/>
          </a:prstGeom>
          <a:noFill/>
        </p:spPr>
        <p:txBody>
          <a:bodyPr wrap="square" lIns="0" rIns="0" tIns="0" bIns="0" anchor="t">
            <a:spAutoFit/>
          </a:bodyPr>
          <a:lstStyle/>
          <a:p>
            <a:pPr algn="l">
              <a:lnSpc>
                <a:spcPct val="130000"/>
              </a:lnSpc>
            </a:pPr>
            <a:r>
              <a:rPr sz="1400" b="1" i="0">
                <a:solidFill>
                  <a:srgbClr val="1C1A17"/>
                </a:solidFill>
                <a:latin typeface="Times New Roman"/>
              </a:rPr>
              <a:t>First contact on the board</a:t>
            </a:r>
          </a:p>
        </p:txBody>
      </p:sp>
      <p:sp>
        <p:nvSpPr>
          <p:cNvPr id="396" name="TextBox 395"/>
          <p:cNvSpPr txBox="1"/>
          <p:nvPr/>
        </p:nvSpPr>
        <p:spPr>
          <a:xfrm>
            <a:off x="1005840" y="2011680"/>
            <a:ext cx="2697480" cy="365760"/>
          </a:xfrm>
          <a:prstGeom prst="rect">
            <a:avLst/>
          </a:prstGeom>
          <a:noFill/>
        </p:spPr>
        <p:txBody>
          <a:bodyPr wrap="square" lIns="0" rIns="0" tIns="0" bIns="0" anchor="t">
            <a:spAutoFit/>
          </a:bodyPr>
          <a:lstStyle/>
          <a:p>
            <a:pPr algn="l">
              <a:lnSpc>
                <a:spcPct val="130000"/>
              </a:lnSpc>
            </a:pPr>
            <a:r>
              <a:rPr sz="1100" b="0" i="0">
                <a:solidFill>
                  <a:srgbClr val="57514A"/>
                </a:solidFill>
                <a:latin typeface="Times New Roman"/>
              </a:rPr>
              <a:t>Each dot is where a bag first touched (81 located).</a:t>
            </a:r>
          </a:p>
        </p:txBody>
      </p:sp>
      <p:pic>
        <p:nvPicPr>
          <p:cNvPr id="397" name="Picture 396" descr="landing_map.png"/>
          <p:cNvPicPr>
            <a:picLocks noChangeAspect="1"/>
          </p:cNvPicPr>
          <p:nvPr/>
        </p:nvPicPr>
        <p:blipFill>
          <a:blip r:embed="rId2"/>
          <a:stretch>
            <a:fillRect/>
          </a:stretch>
        </p:blipFill>
        <p:spPr>
          <a:xfrm>
            <a:off x="1097280" y="2395728"/>
            <a:ext cx="2546646" cy="2834640"/>
          </a:xfrm>
          <a:prstGeom prst="rect">
            <a:avLst/>
          </a:prstGeom>
        </p:spPr>
      </p:pic>
      <p:sp>
        <p:nvSpPr>
          <p:cNvPr id="398" name="TextBox 397"/>
          <p:cNvSpPr txBox="1"/>
          <p:nvPr/>
        </p:nvSpPr>
        <p:spPr>
          <a:xfrm>
            <a:off x="1005840" y="5303520"/>
            <a:ext cx="2697480" cy="640080"/>
          </a:xfrm>
          <a:prstGeom prst="rect">
            <a:avLst/>
          </a:prstGeom>
          <a:noFill/>
        </p:spPr>
        <p:txBody>
          <a:bodyPr wrap="square" lIns="0" rIns="0" tIns="0" bIns="0" anchor="t">
            <a:spAutoFit/>
          </a:bodyPr>
          <a:lstStyle/>
          <a:p>
            <a:pPr algn="l">
              <a:lnSpc>
                <a:spcPct val="130000"/>
              </a:lnSpc>
            </a:pPr>
            <a:r>
              <a:rPr sz="1200" b="1" i="0">
                <a:solidFill>
                  <a:srgbClr val="2F5D8A"/>
                </a:solidFill>
                <a:latin typeface="Times New Roman"/>
              </a:rPr>
              <a:t>Hole shots land about 18 in short and slide in.</a:t>
            </a:r>
          </a:p>
        </p:txBody>
      </p:sp>
      <p:sp>
        <p:nvSpPr>
          <p:cNvPr id="399" name="Rounded Rectangle 398"/>
          <p:cNvSpPr/>
          <p:nvPr/>
        </p:nvSpPr>
        <p:spPr>
          <a:xfrm>
            <a:off x="4023360" y="1600200"/>
            <a:ext cx="7351775" cy="2148840"/>
          </a:xfrm>
          <a:prstGeom prst="roundRect">
            <a:avLst>
              <a:gd name="adj" fmla="val 2000"/>
            </a:avLst>
          </a:prstGeom>
          <a:solidFill>
            <a:srgbClr val="FFFEFB"/>
          </a:solidFill>
          <a:ln w="12700">
            <a:solidFill>
              <a:srgbClr val="E3DC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0" name="Picture 399" descr="outcomes_by_athlete.png"/>
          <p:cNvPicPr>
            <a:picLocks noChangeAspect="1"/>
          </p:cNvPicPr>
          <p:nvPr/>
        </p:nvPicPr>
        <p:blipFill>
          <a:blip r:embed="rId3"/>
          <a:stretch>
            <a:fillRect/>
          </a:stretch>
        </p:blipFill>
        <p:spPr>
          <a:xfrm>
            <a:off x="4160520" y="1719072"/>
            <a:ext cx="3920471" cy="1874519"/>
          </a:xfrm>
          <a:prstGeom prst="rect">
            <a:avLst/>
          </a:prstGeom>
        </p:spPr>
      </p:pic>
      <p:sp>
        <p:nvSpPr>
          <p:cNvPr id="401" name="TextBox 400"/>
          <p:cNvSpPr txBox="1"/>
          <p:nvPr/>
        </p:nvSpPr>
        <p:spPr>
          <a:xfrm>
            <a:off x="8458200" y="1755648"/>
            <a:ext cx="2788920" cy="237744"/>
          </a:xfrm>
          <a:prstGeom prst="rect">
            <a:avLst/>
          </a:prstGeom>
          <a:noFill/>
        </p:spPr>
        <p:txBody>
          <a:bodyPr wrap="square" lIns="0" rIns="0" tIns="0" bIns="0" anchor="t">
            <a:spAutoFit/>
          </a:bodyPr>
          <a:lstStyle/>
          <a:p>
            <a:pPr algn="l">
              <a:lnSpc>
                <a:spcPct val="130000"/>
              </a:lnSpc>
            </a:pPr>
            <a:r>
              <a:rPr sz="1400" b="1" i="0">
                <a:solidFill>
                  <a:srgbClr val="1C1A17"/>
                </a:solidFill>
                <a:latin typeface="Times New Roman"/>
              </a:rPr>
              <a:t>Outcome per athlete</a:t>
            </a:r>
          </a:p>
        </p:txBody>
      </p:sp>
      <p:sp>
        <p:nvSpPr>
          <p:cNvPr id="402" name="TextBox 401"/>
          <p:cNvSpPr txBox="1"/>
          <p:nvPr/>
        </p:nvSpPr>
        <p:spPr>
          <a:xfrm>
            <a:off x="8458200" y="2029968"/>
            <a:ext cx="2788920" cy="1097280"/>
          </a:xfrm>
          <a:prstGeom prst="rect">
            <a:avLst/>
          </a:prstGeom>
          <a:noFill/>
        </p:spPr>
        <p:txBody>
          <a:bodyPr wrap="square" lIns="0" rIns="0" tIns="0" bIns="0" anchor="t">
            <a:spAutoFit/>
          </a:bodyPr>
          <a:lstStyle/>
          <a:p>
            <a:pPr algn="l">
              <a:lnSpc>
                <a:spcPct val="130000"/>
              </a:lnSpc>
            </a:pPr>
            <a:r>
              <a:rPr sz="1200" b="0" i="0">
                <a:solidFill>
                  <a:srgbClr val="57514A"/>
                </a:solidFill>
                <a:latin typeface="Times New Roman"/>
              </a:rPr>
              <a:t>18 hole · 38 board · 36 off. All four release near 7.5 m/s, yet PPR runs from 1.4 to 6.0.</a:t>
            </a:r>
          </a:p>
        </p:txBody>
      </p:sp>
      <p:sp>
        <p:nvSpPr>
          <p:cNvPr id="403" name="TextBox 402"/>
          <p:cNvSpPr txBox="1"/>
          <p:nvPr/>
        </p:nvSpPr>
        <p:spPr>
          <a:xfrm>
            <a:off x="8458200" y="3154680"/>
            <a:ext cx="2788920" cy="457200"/>
          </a:xfrm>
          <a:prstGeom prst="rect">
            <a:avLst/>
          </a:prstGeom>
          <a:noFill/>
        </p:spPr>
        <p:txBody>
          <a:bodyPr wrap="square" lIns="0" rIns="0" tIns="0" bIns="0" anchor="t">
            <a:spAutoFit/>
          </a:bodyPr>
          <a:lstStyle/>
          <a:p>
            <a:pPr algn="l">
              <a:lnSpc>
                <a:spcPct val="130000"/>
              </a:lnSpc>
            </a:pPr>
            <a:r>
              <a:rPr sz="1200" b="1" i="0">
                <a:solidFill>
                  <a:srgbClr val="2F5D8A"/>
                </a:solidFill>
                <a:latin typeface="Times New Roman"/>
              </a:rPr>
              <a:t>→ Consistency, not power, sets the score.</a:t>
            </a:r>
          </a:p>
        </p:txBody>
      </p:sp>
      <p:sp>
        <p:nvSpPr>
          <p:cNvPr id="404" name="Rounded Rectangle 403"/>
          <p:cNvSpPr/>
          <p:nvPr/>
        </p:nvSpPr>
        <p:spPr>
          <a:xfrm>
            <a:off x="4023360" y="3886200"/>
            <a:ext cx="7351775" cy="2148840"/>
          </a:xfrm>
          <a:prstGeom prst="roundRect">
            <a:avLst>
              <a:gd name="adj" fmla="val 2000"/>
            </a:avLst>
          </a:prstGeom>
          <a:solidFill>
            <a:srgbClr val="FFFEFB"/>
          </a:solidFill>
          <a:ln w="12700">
            <a:solidFill>
              <a:srgbClr val="E3DC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5" name="Picture 404" descr="miss_causes.png"/>
          <p:cNvPicPr>
            <a:picLocks noChangeAspect="1"/>
          </p:cNvPicPr>
          <p:nvPr/>
        </p:nvPicPr>
        <p:blipFill>
          <a:blip r:embed="rId4"/>
          <a:stretch>
            <a:fillRect/>
          </a:stretch>
        </p:blipFill>
        <p:spPr>
          <a:xfrm>
            <a:off x="4160520" y="3995928"/>
            <a:ext cx="3763244" cy="1920240"/>
          </a:xfrm>
          <a:prstGeom prst="rect">
            <a:avLst/>
          </a:prstGeom>
        </p:spPr>
      </p:pic>
      <p:sp>
        <p:nvSpPr>
          <p:cNvPr id="406" name="TextBox 405"/>
          <p:cNvSpPr txBox="1"/>
          <p:nvPr/>
        </p:nvSpPr>
        <p:spPr>
          <a:xfrm>
            <a:off x="8458200" y="4041648"/>
            <a:ext cx="2788920" cy="237744"/>
          </a:xfrm>
          <a:prstGeom prst="rect">
            <a:avLst/>
          </a:prstGeom>
          <a:noFill/>
        </p:spPr>
        <p:txBody>
          <a:bodyPr wrap="square" lIns="0" rIns="0" tIns="0" bIns="0" anchor="t">
            <a:spAutoFit/>
          </a:bodyPr>
          <a:lstStyle/>
          <a:p>
            <a:pPr algn="l">
              <a:lnSpc>
                <a:spcPct val="130000"/>
              </a:lnSpc>
            </a:pPr>
            <a:r>
              <a:rPr sz="1400" b="1" i="0">
                <a:solidFill>
                  <a:srgbClr val="1C1A17"/>
                </a:solidFill>
                <a:latin typeface="Times New Roman"/>
              </a:rPr>
              <a:t>What each miss came from</a:t>
            </a:r>
          </a:p>
        </p:txBody>
      </p:sp>
      <p:sp>
        <p:nvSpPr>
          <p:cNvPr id="407" name="TextBox 406"/>
          <p:cNvSpPr txBox="1"/>
          <p:nvPr/>
        </p:nvSpPr>
        <p:spPr>
          <a:xfrm>
            <a:off x="8458200" y="4315968"/>
            <a:ext cx="2788920" cy="1097280"/>
          </a:xfrm>
          <a:prstGeom prst="rect">
            <a:avLst/>
          </a:prstGeom>
          <a:noFill/>
        </p:spPr>
        <p:txBody>
          <a:bodyPr wrap="square" lIns="0" rIns="0" tIns="0" bIns="0" anchor="t">
            <a:spAutoFit/>
          </a:bodyPr>
          <a:lstStyle/>
          <a:p>
            <a:pPr algn="l">
              <a:lnSpc>
                <a:spcPct val="130000"/>
              </a:lnSpc>
            </a:pPr>
            <a:r>
              <a:rPr sz="1200" b="0" i="0">
                <a:solidFill>
                  <a:srgbClr val="57514A"/>
                </a:solidFill>
                <a:latin typeface="Times New Roman"/>
              </a:rPr>
              <a:t>Parts the app named above noise in 44 misses. The flight (39) and the slide on the board (31) are close.</a:t>
            </a:r>
          </a:p>
        </p:txBody>
      </p:sp>
      <p:sp>
        <p:nvSpPr>
          <p:cNvPr id="408" name="TextBox 407"/>
          <p:cNvSpPr txBox="1"/>
          <p:nvPr/>
        </p:nvSpPr>
        <p:spPr>
          <a:xfrm>
            <a:off x="8458200" y="5440680"/>
            <a:ext cx="2788920" cy="457200"/>
          </a:xfrm>
          <a:prstGeom prst="rect">
            <a:avLst/>
          </a:prstGeom>
          <a:noFill/>
        </p:spPr>
        <p:txBody>
          <a:bodyPr wrap="square" lIns="0" rIns="0" tIns="0" bIns="0" anchor="t">
            <a:spAutoFit/>
          </a:bodyPr>
          <a:lstStyle/>
          <a:p>
            <a:pPr algn="l">
              <a:lnSpc>
                <a:spcPct val="130000"/>
              </a:lnSpc>
            </a:pPr>
            <a:r>
              <a:rPr sz="1200" b="1" i="0">
                <a:solidFill>
                  <a:srgbClr val="A8432A"/>
                </a:solidFill>
                <a:latin typeface="Times New Roman"/>
              </a:rPr>
              <a:t>→ Train board feel, not only the arm.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3"/>
        </a:solidFill>
      </p:bgPr>
    </p:bg>
    <p:spTree>
      <p:nvGrpSpPr>
        <p:cNvPr id="1" name=""/>
        <p:cNvGrpSpPr/>
        <p:nvPr/>
      </p:nvGrpSpPr>
      <p:grpSpPr/>
      <p:sp>
        <p:nvSpPr>
          <p:cNvPr id="426" name="Google Shape;426;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6A2B"/>
              </a:buClr>
              <a:buSzPts val="1200"/>
              <a:buFont typeface="Times New Roman"/>
              <a:buNone/>
            </a:pPr>
            <a:r>
              <a:rPr b="1" i="0" lang="en-US" spc="100" sz="1200" u="none" cap="none" strike="noStrike">
                <a:solidFill>
                  <a:srgbClr val="8A6A2B"/>
                </a:solidFill>
                <a:latin typeface="Times New Roman"/>
                <a:ea typeface="Times New Roman"/>
                <a:cs typeface="Times New Roman"/>
                <a:sym typeface="Times New Roman"/>
              </a:rPr>
              <a:t>CONCLUSION</a:t>
            </a:r>
            <a:endParaRPr b="0" i="0" sz="1200" u="none" cap="none" strike="noStrike">
              <a:solidFill>
                <a:schemeClr val="dk1"/>
              </a:solidFill>
              <a:latin typeface="Times New Roman"/>
              <a:ea typeface="Times New Roman"/>
              <a:cs typeface="Times New Roman"/>
              <a:sym typeface="Times New Roman"/>
            </a:endParaRPr>
          </a:p>
        </p:txBody>
      </p:sp>
      <p:sp>
        <p:nvSpPr>
          <p:cNvPr id="427" name="Google Shape;427;p15"/>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7"/>
              </a:buClr>
              <a:buSzPts val="3000"/>
              <a:buFont typeface="Times New Roman"/>
              <a:buNone/>
            </a:pPr>
            <a:r>
              <a:rPr b="1" i="0" lang="en-US" sz="3000">
                <a:solidFill>
                  <a:srgbClr val="1C1A17"/>
                </a:solidFill>
                <a:latin typeface="Times New Roman"/>
                <a:ea typeface="Times New Roman"/>
                <a:cs typeface="Times New Roman"/>
                <a:sym typeface="Times New Roman"/>
              </a:rPr>
              <a:t>What we built, what we found, what comes next</a:t>
            </a:r>
            <a:endParaRPr sz="3000"/>
          </a:p>
        </p:txBody>
      </p:sp>
      <p:sp>
        <p:nvSpPr>
          <p:cNvPr id="454" name="Google Shape;454;p15"/>
          <p:cNvSpPr/>
          <p:nvPr/>
        </p:nvSpPr>
        <p:spPr>
          <a:xfrm>
            <a:off x="812800" y="6238280"/>
            <a:ext cx="20924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Cornhole Biomechanics Lab</a:t>
            </a:r>
            <a:endParaRPr b="0" i="0" sz="1200" u="none" cap="none" strike="noStrike">
              <a:solidFill>
                <a:schemeClr val="dk1"/>
              </a:solidFill>
              <a:latin typeface="Times New Roman"/>
              <a:ea typeface="Times New Roman"/>
              <a:cs typeface="Times New Roman"/>
              <a:sym typeface="Times New Roman"/>
            </a:endParaRPr>
          </a:p>
        </p:txBody>
      </p:sp>
      <p:sp>
        <p:nvSpPr>
          <p:cNvPr id="455" name="Google Shape;455;p15"/>
          <p:cNvSpPr/>
          <p:nvPr/>
        </p:nvSpPr>
        <p:spPr>
          <a:xfrm>
            <a:off x="9758878" y="6238280"/>
            <a:ext cx="16203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E665C"/>
              </a:buClr>
              <a:buSzPts val="1200"/>
              <a:buFont typeface="Times New Roman"/>
              <a:buNone/>
            </a:pPr>
            <a:r>
              <a:rPr b="0" i="0" lang="en-US" sz="1200" u="none" cap="none" strike="noStrike">
                <a:solidFill>
                  <a:srgbClr val="6E665C"/>
                </a:solidFill>
                <a:latin typeface="Times New Roman"/>
                <a:ea typeface="Times New Roman"/>
                <a:cs typeface="Times New Roman"/>
                <a:sym typeface="Times New Roman"/>
              </a:rPr>
              <a:t>Eliam Chang · 16 / 17</a:t>
            </a:r>
            <a:endParaRPr b="0" i="0" sz="1200" u="none" cap="none" strike="noStrike">
              <a:solidFill>
                <a:schemeClr val="dk1"/>
              </a:solidFill>
              <a:latin typeface="Times New Roman"/>
              <a:ea typeface="Times New Roman"/>
              <a:cs typeface="Times New Roman"/>
              <a:sym typeface="Times New Roman"/>
            </a:endParaRPr>
          </a:p>
        </p:txBody>
      </p:sp>
      <p:sp>
        <p:nvSpPr>
          <p:cNvPr id="456" name="Rounded Rectangle 455"/>
          <p:cNvSpPr/>
          <p:nvPr/>
        </p:nvSpPr>
        <p:spPr>
          <a:xfrm>
            <a:off x="822960" y="1691640"/>
            <a:ext cx="3383280" cy="2971800"/>
          </a:xfrm>
          <a:prstGeom prst="roundRect">
            <a:avLst>
              <a:gd name="adj" fmla="val 2000"/>
            </a:avLst>
          </a:prstGeom>
          <a:solidFill>
            <a:srgbClr val="FFFEFB"/>
          </a:solidFill>
          <a:ln w="12700">
            <a:solidFill>
              <a:srgbClr val="E3DC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7" name="TextBox 456"/>
          <p:cNvSpPr txBox="1"/>
          <p:nvPr/>
        </p:nvSpPr>
        <p:spPr>
          <a:xfrm>
            <a:off x="1024128" y="1874519"/>
            <a:ext cx="3017520" cy="237744"/>
          </a:xfrm>
          <a:prstGeom prst="rect">
            <a:avLst/>
          </a:prstGeom>
          <a:noFill/>
        </p:spPr>
        <p:txBody>
          <a:bodyPr wrap="square" lIns="0" rIns="0" tIns="0" bIns="0" anchor="t">
            <a:spAutoFit/>
          </a:bodyPr>
          <a:lstStyle/>
          <a:p>
            <a:pPr algn="l">
              <a:lnSpc>
                <a:spcPct val="130000"/>
              </a:lnSpc>
            </a:pPr>
            <a:r>
              <a:rPr sz="1200" b="1" i="0">
                <a:solidFill>
                  <a:srgbClr val="2F5D8A"/>
                </a:solidFill>
                <a:latin typeface="Times New Roman"/>
              </a:rPr>
              <a:t>WE BUILT</a:t>
            </a:r>
          </a:p>
        </p:txBody>
      </p:sp>
      <p:sp>
        <p:nvSpPr>
          <p:cNvPr id="458" name="TextBox 457"/>
          <p:cNvSpPr txBox="1"/>
          <p:nvPr/>
        </p:nvSpPr>
        <p:spPr>
          <a:xfrm>
            <a:off x="1024128" y="2148840"/>
            <a:ext cx="3017520" cy="640080"/>
          </a:xfrm>
          <a:prstGeom prst="rect">
            <a:avLst/>
          </a:prstGeom>
          <a:noFill/>
        </p:spPr>
        <p:txBody>
          <a:bodyPr wrap="square" lIns="0" rIns="0" tIns="0" bIns="0" anchor="t">
            <a:spAutoFit/>
          </a:bodyPr>
          <a:lstStyle/>
          <a:p>
            <a:pPr algn="l">
              <a:lnSpc>
                <a:spcPct val="100000"/>
              </a:lnSpc>
            </a:pPr>
            <a:r>
              <a:rPr sz="3600" b="1" i="0">
                <a:solidFill>
                  <a:srgbClr val="2F5D8A"/>
                </a:solidFill>
                <a:latin typeface="Times New Roman"/>
              </a:rPr>
              <a:t>2 phones</a:t>
            </a:r>
          </a:p>
        </p:txBody>
      </p:sp>
      <p:sp>
        <p:nvSpPr>
          <p:cNvPr id="459" name="TextBox 458"/>
          <p:cNvSpPr txBox="1"/>
          <p:nvPr/>
        </p:nvSpPr>
        <p:spPr>
          <a:xfrm>
            <a:off x="1024128" y="2816352"/>
            <a:ext cx="3017520" cy="274320"/>
          </a:xfrm>
          <a:prstGeom prst="rect">
            <a:avLst/>
          </a:prstGeom>
          <a:noFill/>
        </p:spPr>
        <p:txBody>
          <a:bodyPr wrap="square" lIns="0" rIns="0" tIns="0" bIns="0" anchor="t">
            <a:spAutoFit/>
          </a:bodyPr>
          <a:lstStyle/>
          <a:p>
            <a:pPr algn="l">
              <a:lnSpc>
                <a:spcPct val="130000"/>
              </a:lnSpc>
            </a:pPr>
            <a:r>
              <a:rPr sz="1200" b="0" i="1">
                <a:solidFill>
                  <a:srgbClr val="1C1A17"/>
                </a:solidFill>
                <a:latin typeface="Times New Roman"/>
              </a:rPr>
              <a:t>and a Mac, no sensors</a:t>
            </a:r>
          </a:p>
        </p:txBody>
      </p:sp>
      <p:sp>
        <p:nvSpPr>
          <p:cNvPr id="460" name="TextBox 459"/>
          <p:cNvSpPr txBox="1"/>
          <p:nvPr/>
        </p:nvSpPr>
        <p:spPr>
          <a:xfrm>
            <a:off x="1024128" y="3246120"/>
            <a:ext cx="3017520" cy="1463040"/>
          </a:xfrm>
          <a:prstGeom prst="rect">
            <a:avLst/>
          </a:prstGeom>
          <a:noFill/>
        </p:spPr>
        <p:txBody>
          <a:bodyPr wrap="square" lIns="0" rIns="0" tIns="0" bIns="0" anchor="t">
            <a:spAutoFit/>
          </a:bodyPr>
          <a:lstStyle/>
          <a:p>
            <a:pPr algn="l">
              <a:lnSpc>
                <a:spcPct val="130000"/>
              </a:lnSpc>
            </a:pPr>
            <a:r>
              <a:rPr sz="1200" b="0" i="0">
                <a:solidFill>
                  <a:srgbClr val="57514A"/>
                </a:solidFill>
                <a:latin typeface="Times New Roman"/>
              </a:rPr>
              <a:t>A system that links the body to the release, the landing and the score, synced by sound and checked against gravity, then gives one sentence per throw.</a:t>
            </a:r>
          </a:p>
        </p:txBody>
      </p:sp>
      <p:sp>
        <p:nvSpPr>
          <p:cNvPr id="461" name="Rounded Rectangle 460"/>
          <p:cNvSpPr/>
          <p:nvPr/>
        </p:nvSpPr>
        <p:spPr>
          <a:xfrm>
            <a:off x="4407408" y="1691640"/>
            <a:ext cx="3383280" cy="2971800"/>
          </a:xfrm>
          <a:prstGeom prst="roundRect">
            <a:avLst>
              <a:gd name="adj" fmla="val 2000"/>
            </a:avLst>
          </a:prstGeom>
          <a:solidFill>
            <a:srgbClr val="FFFEFB"/>
          </a:solidFill>
          <a:ln w="12700">
            <a:solidFill>
              <a:srgbClr val="E3DC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2" name="TextBox 461"/>
          <p:cNvSpPr txBox="1"/>
          <p:nvPr/>
        </p:nvSpPr>
        <p:spPr>
          <a:xfrm>
            <a:off x="4608576" y="1874519"/>
            <a:ext cx="3017520" cy="237744"/>
          </a:xfrm>
          <a:prstGeom prst="rect">
            <a:avLst/>
          </a:prstGeom>
          <a:noFill/>
        </p:spPr>
        <p:txBody>
          <a:bodyPr wrap="square" lIns="0" rIns="0" tIns="0" bIns="0" anchor="t">
            <a:spAutoFit/>
          </a:bodyPr>
          <a:lstStyle/>
          <a:p>
            <a:pPr algn="l">
              <a:lnSpc>
                <a:spcPct val="130000"/>
              </a:lnSpc>
            </a:pPr>
            <a:r>
              <a:rPr sz="1200" b="1" i="0">
                <a:solidFill>
                  <a:srgbClr val="8A6A2B"/>
                </a:solidFill>
                <a:latin typeface="Times New Roman"/>
              </a:rPr>
              <a:t>WE FOUND</a:t>
            </a:r>
          </a:p>
        </p:txBody>
      </p:sp>
      <p:sp>
        <p:nvSpPr>
          <p:cNvPr id="463" name="TextBox 462"/>
          <p:cNvSpPr txBox="1"/>
          <p:nvPr/>
        </p:nvSpPr>
        <p:spPr>
          <a:xfrm>
            <a:off x="4608576" y="2148840"/>
            <a:ext cx="3017520" cy="640080"/>
          </a:xfrm>
          <a:prstGeom prst="rect">
            <a:avLst/>
          </a:prstGeom>
          <a:noFill/>
        </p:spPr>
        <p:txBody>
          <a:bodyPr wrap="square" lIns="0" rIns="0" tIns="0" bIns="0" anchor="t">
            <a:spAutoFit/>
          </a:bodyPr>
          <a:lstStyle/>
          <a:p>
            <a:pPr algn="l">
              <a:lnSpc>
                <a:spcPct val="100000"/>
              </a:lnSpc>
            </a:pPr>
            <a:r>
              <a:rPr sz="3600" b="1" i="0">
                <a:solidFill>
                  <a:srgbClr val="8A6A2B"/>
                </a:solidFill>
                <a:latin typeface="Times New Roman"/>
              </a:rPr>
              <a:t>13 cm</a:t>
            </a:r>
          </a:p>
        </p:txBody>
      </p:sp>
      <p:sp>
        <p:nvSpPr>
          <p:cNvPr id="464" name="TextBox 463"/>
          <p:cNvSpPr txBox="1"/>
          <p:nvPr/>
        </p:nvSpPr>
        <p:spPr>
          <a:xfrm>
            <a:off x="4608576" y="2816352"/>
            <a:ext cx="3017520" cy="274320"/>
          </a:xfrm>
          <a:prstGeom prst="rect">
            <a:avLst/>
          </a:prstGeom>
          <a:noFill/>
        </p:spPr>
        <p:txBody>
          <a:bodyPr wrap="square" lIns="0" rIns="0" tIns="0" bIns="0" anchor="t">
            <a:spAutoFit/>
          </a:bodyPr>
          <a:lstStyle/>
          <a:p>
            <a:pPr algn="l">
              <a:lnSpc>
                <a:spcPct val="130000"/>
              </a:lnSpc>
            </a:pPr>
            <a:r>
              <a:rPr sz="1200" b="0" i="1">
                <a:solidFill>
                  <a:srgbClr val="1C1A17"/>
                </a:solidFill>
                <a:latin typeface="Times New Roman"/>
              </a:rPr>
              <a:t>per 0.1 m/s of release speed</a:t>
            </a:r>
          </a:p>
        </p:txBody>
      </p:sp>
      <p:sp>
        <p:nvSpPr>
          <p:cNvPr id="465" name="TextBox 464"/>
          <p:cNvSpPr txBox="1"/>
          <p:nvPr/>
        </p:nvSpPr>
        <p:spPr>
          <a:xfrm>
            <a:off x="4608576" y="3246120"/>
            <a:ext cx="3017520" cy="1463040"/>
          </a:xfrm>
          <a:prstGeom prst="rect">
            <a:avLst/>
          </a:prstGeom>
          <a:noFill/>
        </p:spPr>
        <p:txBody>
          <a:bodyPr wrap="square" lIns="0" rIns="0" tIns="0" bIns="0" anchor="t">
            <a:spAutoFit/>
          </a:bodyPr>
          <a:lstStyle/>
          <a:p>
            <a:pPr algn="l">
              <a:lnSpc>
                <a:spcPct val="130000"/>
              </a:lnSpc>
            </a:pPr>
            <a:r>
              <a:rPr sz="1200" b="0" i="0">
                <a:solidFill>
                  <a:srgbClr val="57514A"/>
                </a:solidFill>
                <a:latin typeface="Times New Roman"/>
              </a:rPr>
              <a:t>Speed consistency, not angle or power, drives short and long misses; and the slide on the board matters almost as much as the flight.</a:t>
            </a:r>
          </a:p>
        </p:txBody>
      </p:sp>
      <p:sp>
        <p:nvSpPr>
          <p:cNvPr id="466" name="Rounded Rectangle 465"/>
          <p:cNvSpPr/>
          <p:nvPr/>
        </p:nvSpPr>
        <p:spPr>
          <a:xfrm>
            <a:off x="7991856" y="1691640"/>
            <a:ext cx="3383280" cy="2971800"/>
          </a:xfrm>
          <a:prstGeom prst="roundRect">
            <a:avLst>
              <a:gd name="adj" fmla="val 2000"/>
            </a:avLst>
          </a:prstGeom>
          <a:solidFill>
            <a:srgbClr val="FFFEFB"/>
          </a:solidFill>
          <a:ln w="12700">
            <a:solidFill>
              <a:srgbClr val="E3DC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7" name="TextBox 466"/>
          <p:cNvSpPr txBox="1"/>
          <p:nvPr/>
        </p:nvSpPr>
        <p:spPr>
          <a:xfrm>
            <a:off x="8193024" y="1874519"/>
            <a:ext cx="3017520" cy="237744"/>
          </a:xfrm>
          <a:prstGeom prst="rect">
            <a:avLst/>
          </a:prstGeom>
          <a:noFill/>
        </p:spPr>
        <p:txBody>
          <a:bodyPr wrap="square" lIns="0" rIns="0" tIns="0" bIns="0" anchor="t">
            <a:spAutoFit/>
          </a:bodyPr>
          <a:lstStyle/>
          <a:p>
            <a:pPr algn="l">
              <a:lnSpc>
                <a:spcPct val="130000"/>
              </a:lnSpc>
            </a:pPr>
            <a:r>
              <a:rPr sz="1200" b="1" i="0">
                <a:solidFill>
                  <a:srgbClr val="A8432A"/>
                </a:solidFill>
                <a:latin typeface="Times New Roman"/>
              </a:rPr>
              <a:t>WHAT COMES NEXT</a:t>
            </a:r>
          </a:p>
        </p:txBody>
      </p:sp>
      <p:sp>
        <p:nvSpPr>
          <p:cNvPr id="468" name="TextBox 467"/>
          <p:cNvSpPr txBox="1"/>
          <p:nvPr/>
        </p:nvSpPr>
        <p:spPr>
          <a:xfrm>
            <a:off x="8193024" y="2148840"/>
            <a:ext cx="3017520" cy="640080"/>
          </a:xfrm>
          <a:prstGeom prst="rect">
            <a:avLst/>
          </a:prstGeom>
          <a:noFill/>
        </p:spPr>
        <p:txBody>
          <a:bodyPr wrap="square" lIns="0" rIns="0" tIns="0" bIns="0" anchor="t">
            <a:spAutoFit/>
          </a:bodyPr>
          <a:lstStyle/>
          <a:p>
            <a:pPr algn="l">
              <a:lnSpc>
                <a:spcPct val="100000"/>
              </a:lnSpc>
            </a:pPr>
            <a:r>
              <a:rPr sz="3600" b="1" i="0">
                <a:solidFill>
                  <a:srgbClr val="A8432A"/>
                </a:solidFill>
                <a:latin typeface="Times New Roman"/>
              </a:rPr>
              <a:t>4–6 weeks</a:t>
            </a:r>
          </a:p>
        </p:txBody>
      </p:sp>
      <p:sp>
        <p:nvSpPr>
          <p:cNvPr id="469" name="TextBox 468"/>
          <p:cNvSpPr txBox="1"/>
          <p:nvPr/>
        </p:nvSpPr>
        <p:spPr>
          <a:xfrm>
            <a:off x="8193024" y="2816352"/>
            <a:ext cx="3017520" cy="274320"/>
          </a:xfrm>
          <a:prstGeom prst="rect">
            <a:avLst/>
          </a:prstGeom>
          <a:noFill/>
        </p:spPr>
        <p:txBody>
          <a:bodyPr wrap="square" lIns="0" rIns="0" tIns="0" bIns="0" anchor="t">
            <a:spAutoFit/>
          </a:bodyPr>
          <a:lstStyle/>
          <a:p>
            <a:pPr algn="l">
              <a:lnSpc>
                <a:spcPct val="130000"/>
              </a:lnSpc>
            </a:pPr>
            <a:r>
              <a:rPr sz="1200" b="0" i="1">
                <a:solidFill>
                  <a:srgbClr val="1C1A17"/>
                </a:solidFill>
                <a:latin typeface="Times New Roman"/>
              </a:rPr>
              <a:t>to prove it raises PPR</a:t>
            </a:r>
          </a:p>
        </p:txBody>
      </p:sp>
      <p:sp>
        <p:nvSpPr>
          <p:cNvPr id="470" name="TextBox 469"/>
          <p:cNvSpPr txBox="1"/>
          <p:nvPr/>
        </p:nvSpPr>
        <p:spPr>
          <a:xfrm>
            <a:off x="8193024" y="3246120"/>
            <a:ext cx="3017520" cy="1463040"/>
          </a:xfrm>
          <a:prstGeom prst="rect">
            <a:avLst/>
          </a:prstGeom>
          <a:noFill/>
        </p:spPr>
        <p:txBody>
          <a:bodyPr wrap="square" lIns="0" rIns="0" tIns="0" bIns="0" anchor="t">
            <a:spAutoFit/>
          </a:bodyPr>
          <a:lstStyle/>
          <a:p>
            <a:pPr algn="l">
              <a:lnSpc>
                <a:spcPct val="130000"/>
              </a:lnSpc>
            </a:pPr>
            <a:r>
              <a:rPr sz="1200" b="0" i="0">
                <a:solidFill>
                  <a:srgbClr val="57514A"/>
                </a:solidFill>
                <a:latin typeface="Times New Roman"/>
              </a:rPr>
              <a:t>Alternate weeks with and without app feedback, 40 throws per athlete per week, plus a blinded 20-throw validation check.</a:t>
            </a:r>
          </a:p>
        </p:txBody>
      </p:sp>
      <p:sp>
        <p:nvSpPr>
          <p:cNvPr id="471" name="Rounded Rectangle 470"/>
          <p:cNvSpPr/>
          <p:nvPr/>
        </p:nvSpPr>
        <p:spPr>
          <a:xfrm>
            <a:off x="822960" y="4983480"/>
            <a:ext cx="10552176" cy="868680"/>
          </a:xfrm>
          <a:prstGeom prst="roundRect">
            <a:avLst>
              <a:gd name="adj" fmla="val 2000"/>
            </a:avLst>
          </a:prstGeom>
          <a:solidFill>
            <a:srgbClr val="1C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2" name="TextBox 471"/>
          <p:cNvSpPr txBox="1"/>
          <p:nvPr/>
        </p:nvSpPr>
        <p:spPr>
          <a:xfrm>
            <a:off x="1051560" y="4983480"/>
            <a:ext cx="1828800" cy="868680"/>
          </a:xfrm>
          <a:prstGeom prst="rect">
            <a:avLst/>
          </a:prstGeom>
          <a:noFill/>
        </p:spPr>
        <p:txBody>
          <a:bodyPr wrap="square" lIns="0" rIns="0" tIns="0" bIns="0" anchor="ctr">
            <a:spAutoFit/>
          </a:bodyPr>
          <a:lstStyle/>
          <a:p>
            <a:pPr algn="l">
              <a:lnSpc>
                <a:spcPct val="130000"/>
              </a:lnSpc>
            </a:pPr>
            <a:r>
              <a:rPr sz="1200" b="1" i="0">
                <a:solidFill>
                  <a:srgbClr val="C9A45C"/>
                </a:solidFill>
                <a:latin typeface="Times New Roman"/>
              </a:rPr>
              <a:t>TAKE-HOME</a:t>
            </a:r>
          </a:p>
        </p:txBody>
      </p:sp>
      <p:sp>
        <p:nvSpPr>
          <p:cNvPr id="473" name="TextBox 472"/>
          <p:cNvSpPr txBox="1"/>
          <p:nvPr/>
        </p:nvSpPr>
        <p:spPr>
          <a:xfrm>
            <a:off x="2743200" y="4983480"/>
            <a:ext cx="8503920" cy="868680"/>
          </a:xfrm>
          <a:prstGeom prst="rect">
            <a:avLst/>
          </a:prstGeom>
          <a:noFill/>
        </p:spPr>
        <p:txBody>
          <a:bodyPr wrap="square" lIns="0" rIns="0" tIns="0" bIns="0" anchor="ctr">
            <a:spAutoFit/>
          </a:bodyPr>
          <a:lstStyle/>
          <a:p>
            <a:pPr algn="l">
              <a:lnSpc>
                <a:spcPct val="130000"/>
              </a:lnSpc>
            </a:pPr>
            <a:r>
              <a:rPr sz="1800" b="0" i="1">
                <a:solidFill>
                  <a:srgbClr val="FFFFFF"/>
                </a:solidFill>
                <a:latin typeface="Times New Roman"/>
              </a:rPr>
              <a:t>Measure the throw. Explain the miss. Coach only what the data supports.</a:t>
            </a:r>
          </a:p>
        </p:txBody>
      </p:sp>
    </p:spTree>
  </p:cSld>
  <p:clrMapOvr>
    <a:masterClrMapping/>
  </p:clrMapOvr>
</p:sld>
</file>

<file path=ppt/theme/theme1.xml><?xml version="1.0" encoding="utf-8"?>
<a:theme xmlns:a="http://schemas.openxmlformats.org/drawingml/2006/main" xmlns:r="http://schemas.openxmlformats.org/officeDocument/2006/relationships" name="Cornhole Biomechanics Lab">
  <a:themeElements>
    <a:clrScheme name="Cornhole Biomechanics Lab">
      <a:dk1>
        <a:srgbClr val="1C1A17"/>
      </a:dk1>
      <a:lt1>
        <a:srgbClr val="FAF8F3"/>
      </a:lt1>
      <a:dk2>
        <a:srgbClr val="54524E"/>
      </a:dk2>
      <a:lt2>
        <a:srgbClr val="E4E2DD"/>
      </a:lt2>
      <a:accent1>
        <a:srgbClr val="2F5D8A"/>
      </a:accent1>
      <a:accent2>
        <a:srgbClr val="8A6A2B"/>
      </a:accent2>
      <a:accent3>
        <a:srgbClr val="C9A24E"/>
      </a:accent3>
      <a:accent4>
        <a:srgbClr val="A8432A"/>
      </a:accent4>
      <a:accent5>
        <a:srgbClr val="57514A"/>
      </a:accent5>
      <a:accent6>
        <a:srgbClr val="6E665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nhole Biomechanics Lab">
  <a:themeElements>
    <a:clrScheme name="Cornhole Biomechanics Lab">
      <a:dk1>
        <a:srgbClr val="1C1A17"/>
      </a:dk1>
      <a:lt1>
        <a:srgbClr val="FAF8F3"/>
      </a:lt1>
      <a:dk2>
        <a:srgbClr val="54524E"/>
      </a:dk2>
      <a:lt2>
        <a:srgbClr val="E4E2DD"/>
      </a:lt2>
      <a:accent1>
        <a:srgbClr val="2F5D8A"/>
      </a:accent1>
      <a:accent2>
        <a:srgbClr val="8A6A2B"/>
      </a:accent2>
      <a:accent3>
        <a:srgbClr val="C9A24E"/>
      </a:accent3>
      <a:accent4>
        <a:srgbClr val="A8432A"/>
      </a:accent4>
      <a:accent5>
        <a:srgbClr val="57514A"/>
      </a:accent5>
      <a:accent6>
        <a:srgbClr val="6E665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2026-10-12T16:06:48Z</dcterms:created>
</cp:coreProperties>
</file>